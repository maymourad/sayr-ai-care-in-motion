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SAYR in one sentence: a precision-engineered healthcare operations interface. The picture is the Flow Canvas, captured from the running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story in four numbers, from one seeded synthetic day of 60 patients under scenario 2, staff unavailability. Every figure is computed by the simulator.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element on the canvas is generated from simulation state. The legend is the visual grammar: lanes, blocks, queues, limits, delays, and a movable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Forecasting, constraint optimization and explanation sit on one deterministic simulation. Every screen reads the same state, so no two pages can disagree. None of the layers is a trained clinical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Calculated from the event log. The same day is replayed without the outage on the same patients and durations; each delayed appointment is linked to the lane or earlier stage that held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defining moment. The same screen at three positions of the Before to After control. Blocks move because the optimizer assigned them new positions; the ghost outlines are where they were.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search is a constraint-aware local search with seeded perturbation, run three times with different objectives. Progress shown in the app is real: counts, objective values and rule checks, not timed placeholders.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Drag-and-drop uses the same decoder and checker as the optimizer. In this capture a consultation appointment was dragged onto a registration desk and refused with the reason. Other drops are refused by journey order, protected priority, outages or the 15-minute harm 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primary results slide. The waterfall bars are real replays: the plan applied one operational change at a time, so they sum exactly to the measured difference. No claim of clinical benefit is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Computed from three full replays of the same day under three live scheduling policies. The aged shortest-task-first policy has the lowest total but the most priority inversions.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 Desk: proposals with feasibility evidence and approval controls. My Journey: the same simulation for one anonymous patient, with ranges rather than false precision.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limits, stated on the Ledger and the About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SAYR is deliberately different from the separate diagnostic project: no 3D, no anatomy, no evidence-inspection motifs. All ten design references were used for principles only; nothing was reused. Details are in DESIGN_REFERENCES.md.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interface mirrors in Arabic. Navigation, metric labels, scenarios, actions, approval states and the responsible-AI text are translated; the timeline and charts keep their left-to-right time axis; numbers stay readable. Long explanatory paragraphs remain in English and are listed as a limitation.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YR_DARK">
    <p:bg>
      <p:bgPr>
        <a:solidFill>
          <a:srgbClr val="15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YR_CONTENT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SAYR  ·  ADNOC School – Madinat Zayed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75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75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BC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DHAFRA HEALTH FORUM  ·  DEVELOPING HEALTHCARE SERVICES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spc="1400" kern="0" dirty="0">
                <a:solidFill>
                  <a:srgbClr val="F6F2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SAYR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5074920" y="914400"/>
            <a:ext cx="777240" cy="457200"/>
          </a:xfrm>
          <a:prstGeom prst="roundRect">
            <a:avLst>
              <a:gd name="adj" fmla="val 10000"/>
            </a:avLst>
          </a:prstGeom>
          <a:solidFill>
            <a:srgbClr val="15233B"/>
          </a:solidFill>
          <a:ln w="19050">
            <a:solidFill>
              <a:srgbClr val="CF82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74920" y="9144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CF8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i="1" dirty="0">
                <a:solidFill>
                  <a:srgbClr val="8FCB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 in Motion.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74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2DF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day overloads, the schedule reorganises.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5262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C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simulation-driven healthcare operations prototype. Synthetic data, human approval, no clinical claims.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57784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Lujain Ahmed Mourad 8D · Yosr Amgad 8D · Precious Fuentes 8D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Maryam Ammara Jelita 8D · Eleen Amr 8D · Shaden Ahmed Mourad 6D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ADNOC School – Madinat Zayed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685800"/>
            <a:ext cx="5212080" cy="5440680"/>
          </a:xfrm>
          <a:prstGeom prst="roundRect">
            <a:avLst>
              <a:gd name="adj" fmla="val 1754"/>
            </a:avLst>
          </a:prstGeom>
          <a:solidFill>
            <a:srgbClr val="FBF9F4"/>
          </a:solidFill>
          <a:ln w="9525">
            <a:solidFill>
              <a:srgbClr val="CBC2AB"/>
            </a:solidFill>
            <a:prstDash val="solid"/>
          </a:ln>
        </p:spPr>
      </p:sp>
      <p:pic>
        <p:nvPicPr>
          <p:cNvPr id="11" name="Image 0" descr="C:/Users/aaa/AppData/Local/Claude-Data/claude_pzs8sxrjxfjjc/scratch-workspaces/e54784a8-37a4-4cc2-9d86-5fb6e5584d2c/35552a5f-98f9-4e0e-b06f-d1a96e9ca10a/scratch-2026-10-27-0ab3b6/sayr/docs/screenshots/c-mo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777240"/>
            <a:ext cx="502920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Disruption → Ripple → Reflow → Measured outcome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60020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BF9F4"/>
          </a:solidFill>
          <a:ln w="9525">
            <a:solidFill>
              <a:srgbClr val="DDD5C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6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DISRUPTION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28600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1B2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0690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B is unavailable from 10:30 to 13:30, so one consultation station is lost.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60020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BF9F4"/>
          </a:solidFill>
          <a:ln w="9525">
            <a:solidFill>
              <a:srgbClr val="DDD5C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1188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6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RIPPLE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611880" y="228600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B46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890</a:t>
            </a:r>
            <a:endParaRPr lang="en-US" sz="72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40690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extra waiting across 37 patients, 26 hops downstream, traced from the event log.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60020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BF9F4"/>
          </a:solidFill>
          <a:ln w="9525">
            <a:solidFill>
              <a:srgbClr val="DDD5C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4652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6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REFLOW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228600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1F7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72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40690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re-planned at 10:50. Nine constraints re-checked. Planned saving 80 min.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60020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BF9F4"/>
          </a:solidFill>
          <a:ln w="9525">
            <a:solidFill>
              <a:srgbClr val="DDD5C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28116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6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MEASURED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281160" y="228600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1B2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−48</a:t>
            </a:r>
            <a:endParaRPr lang="en-US" sz="72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40690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minutes when the approved plan is replayed on realised durations (−2.5%).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and measured values are reported separately: the planner knows booked lengths, the day uses real ones.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75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Flow Canvas: a day drawn from its own state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7772400" cy="4846320"/>
          </a:xfrm>
          <a:prstGeom prst="roundRect">
            <a:avLst>
              <a:gd name="adj" fmla="val 1509"/>
            </a:avLst>
          </a:prstGeom>
          <a:solidFill>
            <a:srgbClr val="FBF9F4"/>
          </a:solidFill>
          <a:ln w="9525">
            <a:solidFill>
              <a:srgbClr val="DDD5C3"/>
            </a:solidFill>
            <a:prstDash val="solid"/>
          </a:ln>
        </p:spPr>
      </p:sp>
      <p:pic>
        <p:nvPicPr>
          <p:cNvPr id="5" name="Image 0" descr="C:/Users/aaa/AppData/Local/Claude-Data/claude_pzs8sxrjxfjjc/scratch-workspaces/e54784a8-37a4-4cc2-9d86-5fb6e5584d2c/35552a5f-98f9-4e0e-b06f-d1a96e9ca10a/scratch-2026-10-27-0ab3b6/sayr/docs/screenshots/c-contro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63040"/>
            <a:ext cx="7589520" cy="46634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68680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46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8686800" y="1691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anonymous journey line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686800" y="20939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46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686800" y="23682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labelled lane with live status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686800" y="2770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46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Appointment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686800" y="30449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 block, urgent ones notched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686800" y="34472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46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8686800" y="37216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stacked at the clock, longest first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686800" y="41239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46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8686800" y="43982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shift-end line and hatched overtime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0" y="4800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46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8686800" y="5074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copper line when a wait is long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8686800" y="54772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46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Clock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8686800" y="575157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movable indicator you can drag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75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 of intelligence, one shared state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B2D4D"/>
          </a:solidFill>
          <a:ln w="12700">
            <a:solidFill>
              <a:srgbClr val="1B2D4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600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data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148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population: 48 scheduled, 12 walk-in, 3 stations, lab, checkout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154680" y="20116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46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383280" y="14630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B2D4D"/>
          </a:solidFill>
          <a:ln w="12700">
            <a:solidFill>
              <a:srgbClr val="1B2D4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66160" y="1600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simulator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2148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queue, resources, outages, audit of every timestamp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20116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46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217920" y="14630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F7B78"/>
          </a:solidFill>
          <a:ln w="12700">
            <a:solidFill>
              <a:srgbClr val="1F7B7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0" y="1600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Reflow optimizer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2148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Constraint-aware local search, nine checks, three objectives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823960" y="20116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46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9052560" y="14630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B4642F"/>
          </a:solidFill>
          <a:ln w="12700">
            <a:solidFill>
              <a:srgbClr val="B4642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235440" y="1600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approval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9235440" y="2148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reject, compare, restore baseline. Audit trail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61188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FBF9F4"/>
          </a:solidFill>
          <a:ln w="9525">
            <a:solidFill>
              <a:srgbClr val="DDD5C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37947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46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1 · Demand forecasting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457200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evaluated baselines on simulated history, scored on held-out days by mean absolute error. Not machine learning.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343400" y="361188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FBF9F4"/>
          </a:solidFill>
          <a:ln w="9525">
            <a:solidFill>
              <a:srgbClr val="DDD5C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0" y="37947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46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2 · Constraint optimization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0" y="457200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computational core: a heuristic search, with its limits stated, never presented as machine learning.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138160" y="361188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FBF9F4"/>
          </a:solidFill>
          <a:ln w="9525">
            <a:solidFill>
              <a:srgbClr val="DDD5C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366760" y="37947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46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3 · Operational explanation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8366760" y="457200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sentences generated from real events and plan changes. No language model, no paid API.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75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Ripple Trace: from one absence to 37 delayed patients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8229600" cy="4937760"/>
          </a:xfrm>
          <a:prstGeom prst="roundRect">
            <a:avLst>
              <a:gd name="adj" fmla="val 1481"/>
            </a:avLst>
          </a:prstGeom>
          <a:solidFill>
            <a:srgbClr val="FBF9F4"/>
          </a:solidFill>
          <a:ln w="9525">
            <a:solidFill>
              <a:srgbClr val="DDD5C3"/>
            </a:solidFill>
            <a:prstDash val="solid"/>
          </a:ln>
        </p:spPr>
      </p:sp>
      <p:pic>
        <p:nvPicPr>
          <p:cNvPr id="5" name="Image 0" descr="C:/Users/aaa/AppData/Local/Claude-Data/claude_pzs8sxrjxfjjc/scratch-workspaces/e54784a8-37a4-4cc2-9d86-5fb6e5584d2c/35552a5f-98f9-4e0e-b06f-d1a96e9ca10a/scratch-2026-10-27-0ab3b6/sayr/docs/screenshots/c-ripp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17320"/>
            <a:ext cx="8046720" cy="47548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144000" y="13716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1B2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6400" dirty="0"/>
          </a:p>
        </p:txBody>
      </p:sp>
      <p:sp>
        <p:nvSpPr>
          <p:cNvPr id="7" name="Text 3"/>
          <p:cNvSpPr txBox="1"/>
          <p:nvPr/>
        </p:nvSpPr>
        <p:spPr>
          <a:xfrm>
            <a:off x="9144000" y="2377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delayed 3 min or more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9144000" y="30175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B46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890</a:t>
            </a:r>
            <a:endParaRPr lang="en-US" sz="6400" dirty="0"/>
          </a:p>
        </p:txBody>
      </p:sp>
      <p:sp>
        <p:nvSpPr>
          <p:cNvPr id="9" name="Text 5"/>
          <p:cNvSpPr txBox="1"/>
          <p:nvPr/>
        </p:nvSpPr>
        <p:spPr>
          <a:xfrm>
            <a:off x="9144000" y="4023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minutes caused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9144000" y="46634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1B2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6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0" y="5669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 to the last delay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75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Reflow: the overloaded plan reorganises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5440680" cy="3886200"/>
          </a:xfrm>
          <a:prstGeom prst="roundRect">
            <a:avLst>
              <a:gd name="adj" fmla="val 1882"/>
            </a:avLst>
          </a:prstGeom>
          <a:solidFill>
            <a:srgbClr val="FBF9F4"/>
          </a:solidFill>
          <a:ln w="9525">
            <a:solidFill>
              <a:srgbClr val="DDD5C3"/>
            </a:solidFill>
            <a:prstDash val="solid"/>
          </a:ln>
        </p:spPr>
      </p:sp>
      <p:pic>
        <p:nvPicPr>
          <p:cNvPr id="5" name="Image 0" descr="C:/Users/aaa/AppData/Local/Claude-Data/claude_pzs8sxrjxfjjc/scratch-workspaces/e54784a8-37a4-4cc2-9d86-5fb6e5584d2c/35552a5f-98f9-4e0e-b06f-d1a96e9ca10a/scratch-2026-10-27-0ab3b6/sayr/docs/screenshots/c-reflow-before-zoo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261872"/>
            <a:ext cx="5294376" cy="373989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193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6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4406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1,698 planned waiting min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96188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today’s policy projects at 10:50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172200" y="1188720"/>
            <a:ext cx="5440680" cy="3886200"/>
          </a:xfrm>
          <a:prstGeom prst="roundRect">
            <a:avLst>
              <a:gd name="adj" fmla="val 1882"/>
            </a:avLst>
          </a:prstGeom>
          <a:solidFill>
            <a:srgbClr val="FBF9F4"/>
          </a:solidFill>
          <a:ln w="9525">
            <a:solidFill>
              <a:srgbClr val="DDD5C3"/>
            </a:solidFill>
            <a:prstDash val="solid"/>
          </a:ln>
        </p:spPr>
      </p:sp>
      <p:pic>
        <p:nvPicPr>
          <p:cNvPr id="10" name="Image 1" descr="C:/Users/aaa/AppData/Local/Claude-Data/claude_pzs8sxrjxfjjc/scratch-workspaces/e54784a8-37a4-4cc2-9d86-5fb6e5584d2c/35552a5f-98f9-4e0e-b06f-d1a96e9ca10a/scratch-2026-10-27-0ab3b6/sayr/docs/screenshots/c-reflow-after-zoo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45352" y="1261872"/>
            <a:ext cx="5294376" cy="3739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172200" y="5193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6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6172200" y="54406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F7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1,619 planned waiting min</a:t>
            </a:r>
            <a:endParaRPr lang="en-US" sz="2600" dirty="0"/>
          </a:p>
        </p:txBody>
      </p:sp>
      <p:sp>
        <p:nvSpPr>
          <p:cNvPr id="13" name="Text 8"/>
          <p:cNvSpPr txBox="1"/>
          <p:nvPr/>
        </p:nvSpPr>
        <p:spPr>
          <a:xfrm>
            <a:off x="6172200" y="596188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Feasible, nine constraints re-checked. Waits shown per moved appointment.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75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Reflow earns the right to move your schedule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BF9F4"/>
          </a:solidFill>
          <a:ln w="9525">
            <a:solidFill>
              <a:srgbClr val="DDD5C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63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B46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572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402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unstarted appointments, resources in use and outage end times at the clock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83280" y="13716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BF9F4"/>
          </a:solidFill>
          <a:ln w="9525">
            <a:solidFill>
              <a:srgbClr val="DDD5C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66160" y="1463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B46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160520" y="1572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22402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Relocate and resequence appointments; keep only moves that stay feasible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17920" y="13716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BF9F4"/>
          </a:solidFill>
          <a:ln w="9525">
            <a:solidFill>
              <a:srgbClr val="DDD5C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0" y="1463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B46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6995160" y="1572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22402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checker re-tests all nine rules on every candidate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052560" y="13716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D9EBE8"/>
          </a:solidFill>
          <a:ln w="9525">
            <a:solidFill>
              <a:srgbClr val="DDD5C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235440" y="1463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B46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8" name="Text 15"/>
          <p:cNvSpPr txBox="1"/>
          <p:nvPr/>
        </p:nvSpPr>
        <p:spPr>
          <a:xfrm>
            <a:off x="9829800" y="1572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9235440" y="22402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alternatives, one recommended, with every change listed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657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 preserved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548640" y="4197096"/>
            <a:ext cx="256032" cy="256032"/>
          </a:xfrm>
          <a:prstGeom prst="ellipse">
            <a:avLst/>
          </a:prstGeom>
          <a:solidFill>
            <a:srgbClr val="1F7B78"/>
          </a:solidFill>
          <a:ln w="12700">
            <a:solidFill>
              <a:srgbClr val="1F7B7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4197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41605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exclusivity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48640" y="4617720"/>
            <a:ext cx="256032" cy="256032"/>
          </a:xfrm>
          <a:prstGeom prst="ellipse">
            <a:avLst/>
          </a:prstGeom>
          <a:solidFill>
            <a:srgbClr val="1F7B78"/>
          </a:solidFill>
          <a:ln w="12700">
            <a:solidFill>
              <a:srgbClr val="1F7B7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914400" y="45811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order and transfers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48640" y="5038344"/>
            <a:ext cx="256032" cy="256032"/>
          </a:xfrm>
          <a:prstGeom prst="ellipse">
            <a:avLst/>
          </a:prstGeom>
          <a:solidFill>
            <a:srgbClr val="1F7B78"/>
          </a:solidFill>
          <a:ln w="12700">
            <a:solidFill>
              <a:srgbClr val="1F7B7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8640" y="5038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914400" y="50017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compatibility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548640" y="5458968"/>
            <a:ext cx="256032" cy="256032"/>
          </a:xfrm>
          <a:prstGeom prst="ellipse">
            <a:avLst/>
          </a:prstGeom>
          <a:solidFill>
            <a:srgbClr val="1F7B78"/>
          </a:solidFill>
          <a:ln w="12700">
            <a:solidFill>
              <a:srgbClr val="1F7B7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8640" y="5458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914400" y="54223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before ready or now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548640" y="5879592"/>
            <a:ext cx="256032" cy="256032"/>
          </a:xfrm>
          <a:prstGeom prst="ellipse">
            <a:avLst/>
          </a:prstGeom>
          <a:solidFill>
            <a:srgbClr val="1F7B78"/>
          </a:solidFill>
          <a:ln w="12700">
            <a:solidFill>
              <a:srgbClr val="1F7B7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48640" y="5879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914400" y="58430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Outages respected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4572000" y="4197096"/>
            <a:ext cx="256032" cy="256032"/>
          </a:xfrm>
          <a:prstGeom prst="ellipse">
            <a:avLst/>
          </a:prstGeom>
          <a:solidFill>
            <a:srgbClr val="1F7B78"/>
          </a:solidFill>
          <a:ln w="12700">
            <a:solidFill>
              <a:srgbClr val="1F7B7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572000" y="4197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4937760" y="41605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slots kept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4572000" y="4617720"/>
            <a:ext cx="256032" cy="256032"/>
          </a:xfrm>
          <a:prstGeom prst="ellipse">
            <a:avLst/>
          </a:prstGeom>
          <a:solidFill>
            <a:srgbClr val="1F7B78"/>
          </a:solidFill>
          <a:ln w="12700">
            <a:solidFill>
              <a:srgbClr val="1F7B7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57200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4937760" y="45811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individual harm (≤ 30 min)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4572000" y="5038344"/>
            <a:ext cx="256032" cy="256032"/>
          </a:xfrm>
          <a:prstGeom prst="ellipse">
            <a:avLst/>
          </a:prstGeom>
          <a:solidFill>
            <a:srgbClr val="1F7B78"/>
          </a:solidFill>
          <a:ln w="12700">
            <a:solidFill>
              <a:srgbClr val="1F7B78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572000" y="5038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937760" y="50017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not increased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4572000" y="5458968"/>
            <a:ext cx="256032" cy="256032"/>
          </a:xfrm>
          <a:prstGeom prst="ellipse">
            <a:avLst/>
          </a:prstGeom>
          <a:solidFill>
            <a:srgbClr val="1F7B78"/>
          </a:solidFill>
          <a:ln w="12700">
            <a:solidFill>
              <a:srgbClr val="1F7B78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572000" y="5458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4937760" y="54223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starts kept</a:t>
            </a:r>
            <a:endParaRPr lang="en-US" sz="1500" dirty="0"/>
          </a:p>
        </p:txBody>
      </p:sp>
      <p:sp>
        <p:nvSpPr>
          <p:cNvPr id="48" name="Shape 45"/>
          <p:cNvSpPr/>
          <p:nvPr/>
        </p:nvSpPr>
        <p:spPr>
          <a:xfrm>
            <a:off x="8778240" y="3657600"/>
            <a:ext cx="2880360" cy="2011680"/>
          </a:xfrm>
          <a:prstGeom prst="roundRect">
            <a:avLst>
              <a:gd name="adj" fmla="val 3636"/>
            </a:avLst>
          </a:prstGeom>
          <a:solidFill>
            <a:srgbClr val="F2DFD0"/>
          </a:solidFill>
          <a:ln w="9525">
            <a:solidFill>
              <a:srgbClr val="E3C3A9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961120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Refusal is a feature</a:t>
            </a:r>
            <a:endParaRPr lang="en-US" sz="1800" dirty="0"/>
          </a:p>
        </p:txBody>
      </p:sp>
      <p:sp>
        <p:nvSpPr>
          <p:cNvPr id="50" name="Text 47"/>
          <p:cNvSpPr txBox="1"/>
          <p:nvPr/>
        </p:nvSpPr>
        <p:spPr>
          <a:xfrm>
            <a:off x="8961120" y="425196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and Reject sit beside the evidence. A proposal that breaks a rule cannot be accepted.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75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Board: drag it, and the rules answer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8046720" cy="4937760"/>
          </a:xfrm>
          <a:prstGeom prst="roundRect">
            <a:avLst>
              <a:gd name="adj" fmla="val 1481"/>
            </a:avLst>
          </a:prstGeom>
          <a:solidFill>
            <a:srgbClr val="FBF9F4"/>
          </a:solidFill>
          <a:ln w="9525">
            <a:solidFill>
              <a:srgbClr val="DDD5C3"/>
            </a:solidFill>
            <a:prstDash val="solid"/>
          </a:ln>
        </p:spPr>
      </p:sp>
      <p:pic>
        <p:nvPicPr>
          <p:cNvPr id="5" name="Image 0" descr="C:/Users/aaa/AppData/Local/Claude-Data/claude_pzs8sxrjxfjjc/scratch-workspaces/e54784a8-37a4-4cc2-9d86-5fb6e5584d2c/35552a5f-98f9-4e0e-b06f-d1a96e9ca10a/scratch-2026-10-27-0ab3b6/sayr/docs/screenshots/c-board-dra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17320"/>
            <a:ext cx="7863840" cy="47548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961120" y="1417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6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Refused, with the reason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8961120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Incompatible lanes are hatched while you drag. Compatible lanes show the effect on waiting before you drop.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961120" y="37947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order, protected slots, outages and the 30-minute harm limit refuse drops the same way.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961120" y="5074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keyboard form offers the same check without a pointer.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75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 Ledger: an accountable balance of time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7498080" cy="4937760"/>
          </a:xfrm>
          <a:prstGeom prst="roundRect">
            <a:avLst>
              <a:gd name="adj" fmla="val 1481"/>
            </a:avLst>
          </a:prstGeom>
          <a:solidFill>
            <a:srgbClr val="FBF9F4"/>
          </a:solidFill>
          <a:ln w="9525">
            <a:solidFill>
              <a:srgbClr val="DDD5C3"/>
            </a:solidFill>
            <a:prstDash val="solid"/>
          </a:ln>
        </p:spPr>
      </p:sp>
      <p:pic>
        <p:nvPicPr>
          <p:cNvPr id="5" name="Image 0" descr="C:/Users/aaa/AppData/Local/Claude-Data/claude_pzs8sxrjxfjjc/scratch-workspaces/e54784a8-37a4-4cc2-9d86-5fb6e5584d2c/35552a5f-98f9-4e0e-b06f-d1a96e9ca10a/scratch-2026-10-27-0ab3b6/sayr/docs/screenshots/c-ledger-waterfa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17320"/>
            <a:ext cx="7315200" cy="47548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321040" y="12801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1F7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−48</a:t>
            </a:r>
            <a:endParaRPr lang="en-US" sz="8000" dirty="0"/>
          </a:p>
        </p:txBody>
      </p:sp>
      <p:sp>
        <p:nvSpPr>
          <p:cNvPr id="7" name="Text 3"/>
          <p:cNvSpPr txBox="1"/>
          <p:nvPr/>
        </p:nvSpPr>
        <p:spPr>
          <a:xfrm>
            <a:off x="8321040" y="2514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minutes, simulated (1,946 → 1,898, −2.5%). Normal day: 1,056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321040" y="3291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 → 71</a:t>
            </a:r>
            <a:endParaRPr lang="en-US" sz="3200" dirty="0"/>
          </a:p>
        </p:txBody>
      </p:sp>
      <p:sp>
        <p:nvSpPr>
          <p:cNvPr id="9" name="Text 5"/>
          <p:cNvSpPr txBox="1"/>
          <p:nvPr/>
        </p:nvSpPr>
        <p:spPr>
          <a:xfrm>
            <a:off x="8321040" y="3822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 wait, min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321040" y="4251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→ 29</a:t>
            </a:r>
            <a:endParaRPr lang="en-US" sz="320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4782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wait, min: slightly worse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321040" y="5212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→ 22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8321040" y="5742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overtime, min · 0 rule violations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75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Fewest minutes is not the same as fairest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828800"/>
                <a:gridCol w="1828800"/>
                <a:gridCol w="2011680"/>
                <a:gridCol w="18288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policy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wait (min)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p90 wait (min)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Protected-slot median (min)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inversions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5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come, first served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5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1,946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5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5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5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5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with aging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46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1,973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5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7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7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5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 task first (aged)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7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7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5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46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41148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BF9F4"/>
          </a:solidFill>
          <a:ln w="9525">
            <a:solidFill>
              <a:srgbClr val="DDD5C3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7724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table shows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47091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Shortest-first needs the fewest minutes, yet starts a less urgent patient ahead of a more urgent one 45 times. Priority-with-aging has the fewest inversions and the best protected-slot median, at the highest total.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217920" y="41148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2DFD0"/>
          </a:solidFill>
          <a:ln w="9525">
            <a:solidFill>
              <a:srgbClr val="E3C3A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4652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Reflow is constrained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6446520" y="47091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Reflow may not worsen any protected-slot patient or lengthen anyone’s wait by more than 30 minutes, so it saves fewer minutes than an unconstrained rule. That is a choice, and the Ledger shows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75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on evidence, and see it from the patient’s side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5486400" cy="3886200"/>
          </a:xfrm>
          <a:prstGeom prst="roundRect">
            <a:avLst>
              <a:gd name="adj" fmla="val 1882"/>
            </a:avLst>
          </a:prstGeom>
          <a:solidFill>
            <a:srgbClr val="FBF9F4"/>
          </a:solidFill>
          <a:ln w="9525">
            <a:solidFill>
              <a:srgbClr val="DDD5C3"/>
            </a:solidFill>
            <a:prstDash val="solid"/>
          </a:ln>
        </p:spPr>
      </p:sp>
      <p:pic>
        <p:nvPicPr>
          <p:cNvPr id="5" name="Image 0" descr="C:/Users/aaa/AppData/Local/Claude-Data/claude_pzs8sxrjxfjjc/scratch-workspaces/e54784a8-37a4-4cc2-9d86-5fb6e5584d2c/35552a5f-98f9-4e0e-b06f-d1a96e9ca10a/scratch-2026-10-27-0ab3b6/sayr/docs/screenshots/c-des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399032"/>
            <a:ext cx="5340096" cy="373989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172200" y="1325880"/>
            <a:ext cx="5486400" cy="3886200"/>
          </a:xfrm>
          <a:prstGeom prst="roundRect">
            <a:avLst>
              <a:gd name="adj" fmla="val 1882"/>
            </a:avLst>
          </a:prstGeom>
          <a:solidFill>
            <a:srgbClr val="FBF9F4"/>
          </a:solidFill>
          <a:ln w="9525">
            <a:solidFill>
              <a:srgbClr val="DDD5C3"/>
            </a:solidFill>
            <a:prstDash val="solid"/>
          </a:ln>
        </p:spPr>
      </p:sp>
      <p:pic>
        <p:nvPicPr>
          <p:cNvPr id="7" name="Image 1" descr="C:/Users/aaa/AppData/Local/Claude-Data/claude_pzs8sxrjxfjjc/scratch-workspaces/e54784a8-37a4-4cc2-9d86-5fb6e5584d2c/35552a5f-98f9-4e0e-b06f-d1a96e9ca10a/scratch-2026-10-27-0ab3b6/sayr/docs/screenshots/c-my-journe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45352" y="1399032"/>
            <a:ext cx="5340096" cy="373989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5349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Desk</a:t>
            </a:r>
            <a:endParaRPr lang="en-US" sz="22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proposals, nine constraint checks, approve or reject, and a decision log.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6172200" y="5349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Journey</a:t>
            </a:r>
            <a:endParaRPr lang="en-US" sz="2200" dirty="0"/>
          </a:p>
        </p:txBody>
      </p:sp>
      <p:sp>
        <p:nvSpPr>
          <p:cNvPr id="11" name="Text 6"/>
          <p:cNvSpPr txBox="1"/>
          <p:nvPr/>
        </p:nvSpPr>
        <p:spPr>
          <a:xfrm>
            <a:off x="6172200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anonymous code, plain-language steps and ranges from many plausible futures.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75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 and does not show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BF9F4"/>
          </a:solidFill>
          <a:ln w="9525">
            <a:solidFill>
              <a:srgbClr val="DDD5C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1F7B78"/>
          </a:solidFill>
          <a:ln w="12700">
            <a:solidFill>
              <a:srgbClr val="1F7B7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is not measured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6616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Reflow plans with booked appointment lengths. The Ledger replays with realised ones. Here the plan projected −80 min and measured −48 min. Across other seeds the result varies, and some days Reflow finds nothing.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43400" y="146304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BF9F4"/>
          </a:solidFill>
          <a:ln w="9525">
            <a:solidFill>
              <a:srgbClr val="DDD5C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1737360"/>
            <a:ext cx="640080" cy="640080"/>
          </a:xfrm>
          <a:prstGeom prst="ellipse">
            <a:avLst/>
          </a:prstGeom>
          <a:solidFill>
            <a:srgbClr val="B4642F"/>
          </a:solidFill>
          <a:ln w="12700">
            <a:solidFill>
              <a:srgbClr val="B4642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177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4617720" y="26517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Plan-following has a cost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617720" y="356616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 a fixed plan instead of dispatching live is itself a bar in the waterfall (−27 min here). It is shown, not hidden.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38160" y="146304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BF9F4"/>
          </a:solidFill>
          <a:ln w="9525">
            <a:solidFill>
              <a:srgbClr val="DDD5C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12480" y="1737360"/>
            <a:ext cx="640080" cy="640080"/>
          </a:xfrm>
          <a:prstGeom prst="ellipse">
            <a:avLst/>
          </a:prstGeom>
          <a:solidFill>
            <a:srgbClr val="1B2D4D"/>
          </a:solidFill>
          <a:ln w="12700">
            <a:solidFill>
              <a:srgbClr val="1B2D4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124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26517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 are not outcomes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8412480" y="356616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waiting minutes is an operational measure. It is not evidence of a clinical benefit, and all patients here are synthetic.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75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identity built for dispatch, not diagnosis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F6F2E9"/>
          </a:solidFill>
          <a:ln w="9525">
            <a:solidFill>
              <a:srgbClr val="DDD5C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23957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paper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965960" y="141732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1B2D4D"/>
          </a:solidFill>
          <a:ln w="9525">
            <a:solidFill>
              <a:srgbClr val="DDD5C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965960" y="23957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ink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141732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1F7B78"/>
          </a:solidFill>
          <a:ln w="9525">
            <a:solidFill>
              <a:srgbClr val="DDD5C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83280" y="23957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Teal: flow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00600" y="141732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B4642F"/>
          </a:solidFill>
          <a:ln w="9525">
            <a:solidFill>
              <a:srgbClr val="DDD5C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00600" y="23957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Copper: deviation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06324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 1,477</a:t>
            </a:r>
            <a:endParaRPr lang="en-US" sz="6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2976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Serif numerals, tabular figures and hairline grids carry the hierarchy. The only motion is state made visible.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3035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third-party design service is needed at runtime. No Spline or Hana embed is shipped: none was exported, and none was invented.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92240" y="1371600"/>
            <a:ext cx="5166360" cy="4206240"/>
          </a:xfrm>
          <a:prstGeom prst="roundRect">
            <a:avLst>
              <a:gd name="adj" fmla="val 1739"/>
            </a:avLst>
          </a:prstGeom>
          <a:solidFill>
            <a:srgbClr val="FBF9F4"/>
          </a:solidFill>
          <a:ln w="9525">
            <a:solidFill>
              <a:srgbClr val="DDD5C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1508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Studied for principles, not reused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196596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Spline Hana · interactive vector states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with hover animation · @marinach (CC BY 4.0)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· @vladkolokolnikov (CC BY 4.0)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Layout 3D List · Spline UI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Icons · Spline UI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Thumbnail Grid Transition · C. Bernadou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Tips · M. Filipiuk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Gesture Studies · Juliette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Krea loading state · A. Larionov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Icon Set · J. McDonald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75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 and Arabic, left-to-right and right-to-left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7680960" cy="4846320"/>
          </a:xfrm>
          <a:prstGeom prst="roundRect">
            <a:avLst>
              <a:gd name="adj" fmla="val 1509"/>
            </a:avLst>
          </a:prstGeom>
          <a:solidFill>
            <a:srgbClr val="FBF9F4"/>
          </a:solidFill>
          <a:ln w="9525">
            <a:solidFill>
              <a:srgbClr val="DDD5C3"/>
            </a:solidFill>
            <a:prstDash val="solid"/>
          </a:ln>
        </p:spPr>
      </p:sp>
      <p:pic>
        <p:nvPicPr>
          <p:cNvPr id="5" name="Image 0" descr="C:/Users/aaa/AppData/Local/Claude-Data/claude_pzs8sxrjxfjjc/scratch-workspaces/e54784a8-37a4-4cc2-9d86-5fb6e5584d2c/35552a5f-98f9-4e0e-b06f-d1a96e9ca10a/scratch-2026-10-27-0ab3b6/sayr/docs/screenshots/12-ledger-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71600"/>
            <a:ext cx="7498080" cy="46634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0" y="13716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46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state, two languages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8595360" y="22402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Minutes Ledger in Arabic: the same computed figures, the layout mirrored, the waterfall axis unchanged.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595360" y="38404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Translated: navigation, metric labels, scenario descriptions, actions, approval states, responsible-AI disclosures.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75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spc="1000" kern="0" dirty="0">
                <a:solidFill>
                  <a:srgbClr val="F6F2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SAYR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2DF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defining moment is the instant an overloaded schedule visibly reorganises into a feasible, explainable plan.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1097280"/>
            <a:ext cx="4389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Lujain Ahmed Mourad  ·  8D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Yosr Amgad  ·  8D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Precious Fuentes  ·  8D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Maryam Ammara Jelita  ·  8D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Eleen Amr  ·  8D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Shaden Ahmed Mourad  ·  6D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4480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C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ADNOC School – Madinat Zayed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YR">
  <a:themeElements>
    <a:clrScheme name="SAYR">
      <a:dk1>
        <a:srgbClr val="15233B"/>
      </a:dk1>
      <a:lt1>
        <a:srgbClr val="FFFFFF"/>
      </a:lt1>
      <a:dk2>
        <a:srgbClr val="1B2D4D"/>
      </a:dk2>
      <a:lt2>
        <a:srgbClr val="F6F2E9"/>
      </a:lt2>
      <a:accent1>
        <a:srgbClr val="B4642F"/>
      </a:accent1>
      <a:accent2>
        <a:srgbClr val="1F7B78"/>
      </a:accent2>
      <a:accent3>
        <a:srgbClr val="2A4068"/>
      </a:accent3>
      <a:accent4>
        <a:srgbClr val="CF8250"/>
      </a:accent4>
      <a:accent5>
        <a:srgbClr val="7B7566"/>
      </a:accent5>
      <a:accent6>
        <a:srgbClr val="DDD5C3"/>
      </a:accent6>
      <a:hlink>
        <a:srgbClr val="1F7B78"/>
      </a:hlink>
      <a:folHlink>
        <a:srgbClr val="7B7566"/>
      </a:folHlink>
    </a:clrScheme>
    <a:fontScheme name="SAY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SAYR: when the day overloads, the schedule reorganises</dc:title>
  <dc:subject>PptxGenJS Presentation</dc:subject>
  <dc:creator>SAYR team, ADNOC School – Madinat Zayed</dc:creator>
  <cp:lastModifiedBy>SAYR team, ADNOC School – Madinat Zayed</cp:lastModifiedBy>
  <cp:revision>1</cp:revision>
  <dcterms:created xsi:type="dcterms:W3CDTF">2026-10-27T10:16:23Z</dcterms:created>
  <dcterms:modified xsi:type="dcterms:W3CDTF">2026-10-27T10:16:23Z</dcterms:modified>
</cp:coreProperties>
</file>