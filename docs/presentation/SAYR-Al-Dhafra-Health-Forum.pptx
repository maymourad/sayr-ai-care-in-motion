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3.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Normal</c:v>
                </c:pt>
              </c:strCache>
            </c:strRef>
          </c:tx>
          <c:spPr>
            <a:solidFill>
              <a:srgbClr val="A39C88"/>
            </a:solidFill>
            <a:effectLst/>
          </c:spPr>
          <c:invertIfNegative val="0"/>
          <c:dLbls>
            <c:numFmt formatCode="#,##0" sourceLinked="0"/>
            <c:spPr>
              <a:noFill/>
              <a:ln>
                <a:noFill/>
              </a:ln>
              <a:effectLst/>
            </c:spPr>
            <c:txPr>
              <a:bodyPr/>
              <a:lstStyle/>
              <a:p>
                <a:pPr>
                  <a:defRPr sz="900" b="0" i="0" u="none" strike="noStrike">
                    <a:solidFill>
                      <a:srgbClr val="15233B"/>
                    </a:solidFill>
                    <a:latin typeface="Consola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Scheduled (48)</c:v>
                </c:pt>
                <c:pt idx="1">
                  <c:v>Walk-in (12)</c:v>
                </c:pt>
                <c:pt idx="2">
                  <c:v>Morning (40)</c:v>
                </c:pt>
                <c:pt idx="3">
                  <c:v>Afternoon (20)</c:v>
                </c:pt>
              </c:strCache>
            </c:strRef>
          </c:cat>
          <c:val>
            <c:numRef>
              <c:f>Sheet1!$B$2:$B$5</c:f>
              <c:numCache>
                <c:formatCode>General</c:formatCode>
                <c:ptCount val="4"/>
                <c:pt idx="0">
                  <c:v>41</c:v>
                </c:pt>
                <c:pt idx="1">
                  <c:v>51</c:v>
                </c:pt>
                <c:pt idx="2">
                  <c:v>41</c:v>
                </c:pt>
                <c:pt idx="3">
                  <c:v>45</c:v>
                </c:pt>
              </c:numCache>
            </c:numRef>
          </c:val>
          <c:extLst>
            <c:ext xmlns:c16="http://schemas.microsoft.com/office/drawing/2014/chart" uri="{C3380CC4-5D6E-409C-BE32-E72D297353CC}">
              <c16:uniqueId val="{00000000-79C3-4E89-B199-78C102BE1159}"/>
            </c:ext>
          </c:extLst>
        </c:ser>
        <c:ser>
          <c:idx val="1"/>
          <c:order val="1"/>
          <c:tx>
            <c:strRef>
              <c:f>Sheet1!$C$1</c:f>
              <c:strCache>
                <c:ptCount val="1"/>
                <c:pt idx="0">
                  <c:v>Disrupted</c:v>
                </c:pt>
              </c:strCache>
            </c:strRef>
          </c:tx>
          <c:spPr>
            <a:solidFill>
              <a:srgbClr val="B4642F"/>
            </a:solidFill>
            <a:effectLst/>
          </c:spPr>
          <c:invertIfNegative val="0"/>
          <c:dLbls>
            <c:numFmt formatCode="#,##0" sourceLinked="0"/>
            <c:spPr>
              <a:noFill/>
              <a:ln>
                <a:noFill/>
              </a:ln>
              <a:effectLst/>
            </c:spPr>
            <c:txPr>
              <a:bodyPr/>
              <a:lstStyle/>
              <a:p>
                <a:pPr>
                  <a:defRPr sz="900" b="0" i="0" u="none" strike="noStrike">
                    <a:solidFill>
                      <a:srgbClr val="15233B"/>
                    </a:solidFill>
                    <a:latin typeface="Consola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Scheduled (48)</c:v>
                </c:pt>
                <c:pt idx="1">
                  <c:v>Walk-in (12)</c:v>
                </c:pt>
                <c:pt idx="2">
                  <c:v>Morning (40)</c:v>
                </c:pt>
                <c:pt idx="3">
                  <c:v>Afternoon (20)</c:v>
                </c:pt>
              </c:strCache>
            </c:strRef>
          </c:cat>
          <c:val>
            <c:numRef>
              <c:f>Sheet1!$C$2:$C$5</c:f>
              <c:numCache>
                <c:formatCode>General</c:formatCode>
                <c:ptCount val="4"/>
                <c:pt idx="0">
                  <c:v>74</c:v>
                </c:pt>
                <c:pt idx="1">
                  <c:v>73</c:v>
                </c:pt>
                <c:pt idx="2">
                  <c:v>76</c:v>
                </c:pt>
                <c:pt idx="3">
                  <c:v>58</c:v>
                </c:pt>
              </c:numCache>
            </c:numRef>
          </c:val>
          <c:extLst>
            <c:ext xmlns:c16="http://schemas.microsoft.com/office/drawing/2014/chart" uri="{C3380CC4-5D6E-409C-BE32-E72D297353CC}">
              <c16:uniqueId val="{00000001-79C3-4E89-B199-78C102BE1159}"/>
            </c:ext>
          </c:extLst>
        </c:ser>
        <c:ser>
          <c:idx val="2"/>
          <c:order val="2"/>
          <c:tx>
            <c:strRef>
              <c:f>Sheet1!$D$1</c:f>
              <c:strCache>
                <c:ptCount val="1"/>
                <c:pt idx="0">
                  <c:v>Optimized</c:v>
                </c:pt>
              </c:strCache>
            </c:strRef>
          </c:tx>
          <c:spPr>
            <a:solidFill>
              <a:srgbClr val="1F7B78"/>
            </a:solidFill>
            <a:effectLst/>
          </c:spPr>
          <c:invertIfNegative val="0"/>
          <c:dLbls>
            <c:numFmt formatCode="#,##0" sourceLinked="0"/>
            <c:spPr>
              <a:noFill/>
              <a:ln>
                <a:noFill/>
              </a:ln>
              <a:effectLst/>
            </c:spPr>
            <c:txPr>
              <a:bodyPr/>
              <a:lstStyle/>
              <a:p>
                <a:pPr>
                  <a:defRPr sz="900" b="0" i="0" u="none" strike="noStrike">
                    <a:solidFill>
                      <a:srgbClr val="15233B"/>
                    </a:solidFill>
                    <a:latin typeface="Consola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Scheduled (48)</c:v>
                </c:pt>
                <c:pt idx="1">
                  <c:v>Walk-in (12)</c:v>
                </c:pt>
                <c:pt idx="2">
                  <c:v>Morning (40)</c:v>
                </c:pt>
                <c:pt idx="3">
                  <c:v>Afternoon (20)</c:v>
                </c:pt>
              </c:strCache>
            </c:strRef>
          </c:cat>
          <c:val>
            <c:numRef>
              <c:f>Sheet1!$D$2:$D$5</c:f>
              <c:numCache>
                <c:formatCode>General</c:formatCode>
                <c:ptCount val="4"/>
                <c:pt idx="0">
                  <c:v>62</c:v>
                </c:pt>
                <c:pt idx="1">
                  <c:v>77</c:v>
                </c:pt>
                <c:pt idx="2">
                  <c:v>80</c:v>
                </c:pt>
                <c:pt idx="3">
                  <c:v>57</c:v>
                </c:pt>
              </c:numCache>
            </c:numRef>
          </c:val>
          <c:extLst>
            <c:ext xmlns:c16="http://schemas.microsoft.com/office/drawing/2014/chart" uri="{C3380CC4-5D6E-409C-BE32-E72D297353CC}">
              <c16:uniqueId val="{00000002-79C3-4E89-B199-78C102BE1159}"/>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A4A66"/>
                </a:solidFill>
                <a:latin typeface="Segoe UI"/>
              </a:defRPr>
            </a:pPr>
            <a:endParaRPr lang="en-US"/>
          </a:p>
        </c:txPr>
        <c:crossAx val="2094734552"/>
        <c:crosses val="autoZero"/>
        <c:auto val="1"/>
        <c:lblAlgn val="ctr"/>
        <c:lblOffset val="100"/>
        <c:noMultiLvlLbl val="1"/>
      </c:catAx>
      <c:valAx>
        <c:axId val="2094734552"/>
        <c:scaling>
          <c:orientation val="minMax"/>
          <c:max val="9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950">
              <a:solidFill>
                <a:srgbClr val="3A4A66"/>
              </a:solidFill>
              <a:latin typeface="Segoe UI"/>
              <a:cs typeface="Segoe U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Minutes saved</c:v>
                </c:pt>
              </c:strCache>
            </c:strRef>
          </c:tx>
          <c:spPr>
            <a:solidFill>
              <a:srgbClr val="1F7B78"/>
            </a:solidFill>
            <a:effectLst/>
          </c:spPr>
          <c:invertIfNegative val="0"/>
          <c:dPt>
            <c:idx val="0"/>
            <c:invertIfNegative val="0"/>
            <c:bubble3D val="0"/>
            <c:extLst>
              <c:ext xmlns:c16="http://schemas.microsoft.com/office/drawing/2014/chart" uri="{C3380CC4-5D6E-409C-BE32-E72D297353CC}">
                <c16:uniqueId val="{00000001-1185-460A-A63A-3AC14E8A50CE}"/>
              </c:ext>
            </c:extLst>
          </c:dPt>
          <c:dPt>
            <c:idx val="1"/>
            <c:invertIfNegative val="0"/>
            <c:bubble3D val="0"/>
            <c:extLst>
              <c:ext xmlns:c16="http://schemas.microsoft.com/office/drawing/2014/chart" uri="{C3380CC4-5D6E-409C-BE32-E72D297353CC}">
                <c16:uniqueId val="{00000003-1185-460A-A63A-3AC14E8A50CE}"/>
              </c:ext>
            </c:extLst>
          </c:dPt>
          <c:dPt>
            <c:idx val="2"/>
            <c:invertIfNegative val="0"/>
            <c:bubble3D val="0"/>
            <c:extLst>
              <c:ext xmlns:c16="http://schemas.microsoft.com/office/drawing/2014/chart" uri="{C3380CC4-5D6E-409C-BE32-E72D297353CC}">
                <c16:uniqueId val="{00000005-1185-460A-A63A-3AC14E8A50CE}"/>
              </c:ext>
            </c:extLst>
          </c:dPt>
          <c:dPt>
            <c:idx val="3"/>
            <c:invertIfNegative val="0"/>
            <c:bubble3D val="0"/>
            <c:extLst>
              <c:ext xmlns:c16="http://schemas.microsoft.com/office/drawing/2014/chart" uri="{C3380CC4-5D6E-409C-BE32-E72D297353CC}">
                <c16:uniqueId val="{00000007-1185-460A-A63A-3AC14E8A50CE}"/>
              </c:ext>
            </c:extLst>
          </c:dPt>
          <c:dPt>
            <c:idx val="4"/>
            <c:invertIfNegative val="0"/>
            <c:bubble3D val="0"/>
            <c:extLst>
              <c:ext xmlns:c16="http://schemas.microsoft.com/office/drawing/2014/chart" uri="{C3380CC4-5D6E-409C-BE32-E72D297353CC}">
                <c16:uniqueId val="{00000009-1185-460A-A63A-3AC14E8A50CE}"/>
              </c:ext>
            </c:extLst>
          </c:dPt>
          <c:dPt>
            <c:idx val="5"/>
            <c:invertIfNegative val="0"/>
            <c:bubble3D val="0"/>
            <c:extLst>
              <c:ext xmlns:c16="http://schemas.microsoft.com/office/drawing/2014/chart" uri="{C3380CC4-5D6E-409C-BE32-E72D297353CC}">
                <c16:uniqueId val="{0000000B-1185-460A-A63A-3AC14E8A50CE}"/>
              </c:ext>
            </c:extLst>
          </c:dPt>
          <c:dPt>
            <c:idx val="6"/>
            <c:invertIfNegative val="0"/>
            <c:bubble3D val="0"/>
            <c:spPr>
              <a:solidFill>
                <a:srgbClr val="B4642F"/>
              </a:solidFill>
              <a:effectLst/>
            </c:spPr>
            <c:extLst>
              <c:ext xmlns:c16="http://schemas.microsoft.com/office/drawing/2014/chart" uri="{C3380CC4-5D6E-409C-BE32-E72D297353CC}">
                <c16:uniqueId val="{0000000D-1185-460A-A63A-3AC14E8A50CE}"/>
              </c:ext>
            </c:extLst>
          </c:dPt>
          <c:dPt>
            <c:idx val="7"/>
            <c:invertIfNegative val="0"/>
            <c:bubble3D val="0"/>
            <c:extLst>
              <c:ext xmlns:c16="http://schemas.microsoft.com/office/drawing/2014/chart" uri="{C3380CC4-5D6E-409C-BE32-E72D297353CC}">
                <c16:uniqueId val="{0000000F-1185-460A-A63A-3AC14E8A50CE}"/>
              </c:ext>
            </c:extLst>
          </c:dPt>
          <c:dLbls>
            <c:numFmt formatCode="#,##0" sourceLinked="0"/>
            <c:spPr>
              <a:noFill/>
              <a:ln>
                <a:noFill/>
              </a:ln>
              <a:effectLst/>
            </c:spPr>
            <c:txPr>
              <a:bodyPr/>
              <a:lstStyle/>
              <a:p>
                <a:pPr>
                  <a:defRPr sz="900" b="0" i="0" u="none" strike="noStrike">
                    <a:solidFill>
                      <a:srgbClr val="15233B"/>
                    </a:solidFill>
                    <a:latin typeface="Consola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7</c:v>
                </c:pt>
                <c:pt idx="1">
                  <c:v>11</c:v>
                </c:pt>
                <c:pt idx="2">
                  <c:v>23</c:v>
                </c:pt>
                <c:pt idx="3">
                  <c:v>31</c:v>
                </c:pt>
                <c:pt idx="4">
                  <c:v>42</c:v>
                </c:pt>
                <c:pt idx="5">
                  <c:v>57</c:v>
                </c:pt>
                <c:pt idx="6">
                  <c:v>64</c:v>
                </c:pt>
                <c:pt idx="7">
                  <c:v>88</c:v>
                </c:pt>
              </c:strCache>
            </c:strRef>
          </c:cat>
          <c:val>
            <c:numRef>
              <c:f>Sheet1!$B$2:$B$9</c:f>
              <c:numCache>
                <c:formatCode>General</c:formatCode>
                <c:ptCount val="8"/>
                <c:pt idx="0">
                  <c:v>78</c:v>
                </c:pt>
                <c:pt idx="1">
                  <c:v>77</c:v>
                </c:pt>
                <c:pt idx="2">
                  <c:v>25</c:v>
                </c:pt>
                <c:pt idx="3">
                  <c:v>116</c:v>
                </c:pt>
                <c:pt idx="4">
                  <c:v>151</c:v>
                </c:pt>
                <c:pt idx="5">
                  <c:v>12</c:v>
                </c:pt>
                <c:pt idx="6">
                  <c:v>-5</c:v>
                </c:pt>
                <c:pt idx="7">
                  <c:v>27</c:v>
                </c:pt>
              </c:numCache>
            </c:numRef>
          </c:val>
          <c:extLst>
            <c:ext xmlns:c16="http://schemas.microsoft.com/office/drawing/2014/chart" uri="{C3380CC4-5D6E-409C-BE32-E72D297353CC}">
              <c16:uniqueId val="{00000010-1185-460A-A63A-3AC14E8A50CE}"/>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title>
          <c:tx>
            <c:rich>
              <a:bodyPr/>
              <a:lstStyle/>
              <a:p>
                <a:pPr>
                  <a:defRPr sz="800" b="0" i="0" u="none" strike="noStrike">
                    <a:solidFill>
                      <a:srgbClr val="7B7566"/>
                    </a:solidFill>
                    <a:latin typeface="Arial"/>
                  </a:defRPr>
                </a:pPr>
                <a:r>
                  <a:rPr sz="800" b="0" i="0" u="none" strike="noStrike">
                    <a:solidFill>
                      <a:srgbClr val="7B7566"/>
                    </a:solidFill>
                    <a:latin typeface="Arial"/>
                  </a:rPr>
                  <a:t>random seed</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7B7566"/>
                </a:solidFill>
                <a:latin typeface="Consolas"/>
              </a:defRPr>
            </a:pPr>
            <a:endParaRPr lang="en-US"/>
          </a:p>
        </c:txPr>
        <c:crossAx val="2094734552"/>
        <c:crosses val="autoZero"/>
        <c:auto val="1"/>
        <c:lblAlgn val="ctr"/>
        <c:lblOffset val="100"/>
        <c:noMultiLvlLbl val="1"/>
      </c:catAx>
      <c:valAx>
        <c:axId val="2094734552"/>
        <c:scaling>
          <c:orientation val="minMax"/>
          <c:max val="175"/>
          <c:min val="-25"/>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MAE</c:v>
                </c:pt>
              </c:strCache>
            </c:strRef>
          </c:tx>
          <c:spPr>
            <a:solidFill>
              <a:srgbClr val="A39C88"/>
            </a:solidFill>
            <a:effectLst/>
          </c:spPr>
          <c:invertIfNegative val="0"/>
          <c:dPt>
            <c:idx val="0"/>
            <c:invertIfNegative val="0"/>
            <c:bubble3D val="0"/>
            <c:extLst>
              <c:ext xmlns:c16="http://schemas.microsoft.com/office/drawing/2014/chart" uri="{C3380CC4-5D6E-409C-BE32-E72D297353CC}">
                <c16:uniqueId val="{00000001-4DA1-4870-B2BE-4FD467582222}"/>
              </c:ext>
            </c:extLst>
          </c:dPt>
          <c:dPt>
            <c:idx val="1"/>
            <c:invertIfNegative val="0"/>
            <c:bubble3D val="0"/>
            <c:extLst>
              <c:ext xmlns:c16="http://schemas.microsoft.com/office/drawing/2014/chart" uri="{C3380CC4-5D6E-409C-BE32-E72D297353CC}">
                <c16:uniqueId val="{00000003-4DA1-4870-B2BE-4FD467582222}"/>
              </c:ext>
            </c:extLst>
          </c:dPt>
          <c:dPt>
            <c:idx val="2"/>
            <c:invertIfNegative val="0"/>
            <c:bubble3D val="0"/>
            <c:spPr>
              <a:solidFill>
                <a:srgbClr val="1F7B78"/>
              </a:solidFill>
              <a:effectLst/>
            </c:spPr>
            <c:extLst>
              <c:ext xmlns:c16="http://schemas.microsoft.com/office/drawing/2014/chart" uri="{C3380CC4-5D6E-409C-BE32-E72D297353CC}">
                <c16:uniqueId val="{00000005-4DA1-4870-B2BE-4FD467582222}"/>
              </c:ext>
            </c:extLst>
          </c:dPt>
          <c:dLbls>
            <c:numFmt formatCode="0.00" sourceLinked="0"/>
            <c:spPr>
              <a:noFill/>
              <a:ln>
                <a:noFill/>
              </a:ln>
              <a:effectLst/>
            </c:spPr>
            <c:txPr>
              <a:bodyPr/>
              <a:lstStyle/>
              <a:p>
                <a:pPr>
                  <a:defRPr sz="950" b="0" i="0" u="none" strike="noStrike">
                    <a:solidFill>
                      <a:srgbClr val="15233B"/>
                    </a:solidFill>
                    <a:latin typeface="Consola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Same hour, previous day</c:v>
                </c:pt>
                <c:pt idx="1">
                  <c:v>7-day moving average</c:v>
                </c:pt>
                <c:pt idx="2">
                  <c:v>Seasonal hourly profile</c:v>
                </c:pt>
              </c:strCache>
            </c:strRef>
          </c:cat>
          <c:val>
            <c:numRef>
              <c:f>Sheet1!$B$2:$B$4</c:f>
              <c:numCache>
                <c:formatCode>General</c:formatCode>
                <c:ptCount val="3"/>
                <c:pt idx="0">
                  <c:v>3</c:v>
                </c:pt>
                <c:pt idx="1">
                  <c:v>2.36</c:v>
                </c:pt>
                <c:pt idx="2">
                  <c:v>2.16</c:v>
                </c:pt>
              </c:numCache>
            </c:numRef>
          </c:val>
          <c:extLst>
            <c:ext xmlns:c16="http://schemas.microsoft.com/office/drawing/2014/chart" uri="{C3380CC4-5D6E-409C-BE32-E72D297353CC}">
              <c16:uniqueId val="{00000006-4DA1-4870-B2BE-4FD467582222}"/>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3A4A66"/>
                </a:solidFill>
                <a:latin typeface="Segoe UI"/>
              </a:defRPr>
            </a:pPr>
            <a:endParaRPr lang="en-US"/>
          </a:p>
        </c:txPr>
        <c:crossAx val="2094734552"/>
        <c:crosses val="autoZero"/>
        <c:auto val="1"/>
        <c:lblAlgn val="ctr"/>
        <c:lblOffset val="100"/>
        <c:noMultiLvlLbl val="1"/>
      </c:catAx>
      <c:valAx>
        <c:axId val="2094734552"/>
        <c:scaling>
          <c:orientation val="minMax"/>
          <c:max val="3.6"/>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7662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Lujain
Every minute matters. Every decision moves the system. We are the SAYR AI team from ADNOC School in Madinat Zayed, and this is Care in Motion, our entry for Developing Healthcare Services. "Sayr" is an Arabic word for movement and progression. We looked at a clinic in a different way: not one patient at a time, but the whole clinic moving together as one connected system.
VOCABULARY: Decision-support: a tool that helps a person decide. It does not decide for them.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Lujain
Picture a clinic visit: register, vital signs, see the clinician, maybe a lab test, then check out. Now one clinician becomes unavailable. It sounds small. But everyone waiting for that clinician waits longer, and the lab and checkout feel it later. In our simulated clinic, one clinician missing for three hours added 890 waiting minutes across 37 patients. That is a simulation of a fictional clinic, not data from any real hospital. The lesson is simple: healthcare delays are rarely isolated.
VOCABULARY: Simulation: a computer model that plays out a day many times, so we can test ideas without touching real patients.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Yosr
So we asked: what if we could test operational decisions before they affect real patients? SAYR is a simulation-driven decision-support prototype. The workflow has seven steps: model a clinic, simulate its day, introduce a disruption, trace the consequences, optimize a plan, let a person review and approve it, and measure the result. We want to be clear about the methods. It uses a simulation, a simple forecasting baseline and a search-based optimizer. It does not use a trained machine-learning model.
VOCABULARY: Optimizer: a program that searches for a better plan under rules. Here it is a heuristic search, not a guarantee of the best plan.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Yosr
This is our Control Room. It is a digital twin of a fictional clinic: sixty synthetic patients, forty-eight with appointments and twelve walk-ins, nine resources, and a day from eight to four. The engine is a discrete-event simulation. In plain words, it jumps from event to event: someone arrives, waits, starts, finishes, moves on. It records every event in a log. Because we fix a random seed, the same seed always creates the same day, so any difference we see is caused by what we changed.
VOCABULARY: Seed: a starting number for the random generator. Same seed, same synthetic day.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Precious
In Stress Controls we bend the day. There are four scenarios: a clinician becomes unavailable, a walk-in surge, a slow laboratory, or a closed consultation room. Our main experiment is staff unavailability: one clinician is out from 10:30 for three hours. The simulator recalculates the whole day for the same patients and the same seed. Total waiting rises from 1,056 minutes to 1,946, and the 90th-percentile wait rises from 42 to 75 minutes. We can study pressure on the system without experimenting on a single real patient.
VOCABULARY: 90th percentile: the wait that nine out of ten patients stay under. It describes the worst-off tenth.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Precious
Ripple Trace explains how a delay spreads. We replay the same day twice, with and without the outage, and compare. Each box is an appointment that started later, and each line is a link the event log records: either the resource it waited for, or the stage before it. Here it traced 37 delayed patients over 26 hops, costing 890 extra minutes. For example, a patient waiting for station three at 10:59 delays the next one at 11:07, then 11:12, then 11:24. We are not only saying where a delay is. We show how it spreads.
VOCABULARY: Hop: one step along a chain of "this waited for that".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Maryam
This is the heart of the project. Reflow looks at the plan at 10:50, finds the appointments that have not started, and searches for a better arrangement that respects nine constraints, such as no overlaps, nobody placed on an unavailable clinician, and nobody waiting more than thirty extra minutes. It uses a constraint-aware local search, so we do not claim a perfect answer. On the left is the current plan, on the right the proposal. Forty-two appointments change, six move to a different station, and the plan projects eighty fewer waiting minutes. Nothing is applied yet.
VOCABULARY: Constraint: a rule a plan must never break. Local search: try small changes, keep the ones that help and stay legal.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Maryam
Every proposal waits in the Action Desk. A person sees the changes, the nine constraint checks, and the trade-offs: here fifteen patients would wait less, sixteen would wait longer, and nobody by more than thirty minutes. They can approve or reject, and the decision is written to an audit trail. SAYR never decides clinical priorities. Protected slots are assigned from outside the system and are never inferred from medical information. Intelligent recommendations should support accountability, not replace it.
VOCABULARY: Audit trail: a permanent record of what was proposed and who decided what.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Eleen
After approval, the Minutes Ledger measures what really happened when the plan is replayed on the realised durations. Under seed 7, the staff scenario, and first-come-first-served as the baseline, the planner projected eighty fewer minutes, but the measured change is forty-eight: 1,946 down to 1,898, about two and a half percent. The 90th-percentile wait fell by 3.6 minutes, the median rose by 1.3, and no constraint was violated. This is an operational measure only, not evidence of better care.
VOCABULARY: Realised duration: how long a visit actually took in the simulated day, which can differ from the booked length.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Eleen
A better average does not mean a fairer system. In the same run, ten patients wait at least five minutes longer, seven wait less, and forty-three stay about the same. Walk-in patients got slightly worse: their 90th-percentile wait went from 73 to 77 minutes. Policies also trade off: shortest-first needs fewer total minutes but starts less urgent patients first more often. Across eight synthetic days, Reflow helped on seven and made one day slightly worse. Fairness on synthetic data does not establish fairness in a real clinic.
VOCABULARY: Priority inversion: a less urgent patient is started before a more urgent one.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Shaden
Where do we go next? Phase one is today: synthetic journeys, simulation, optimization and evaluation. Phase two is working with healthcare operations professionals to check our assumptions. Phase three is investigating authorized real data, with privacy and data quality first. Phase four is external validation against observed service patterns. Phase five is supervised testing with security review and approvals before any real use. Al Dhafra is a wide region, so coordinating services across places is an interesting question, but we have not used any regional performance data. The next step is validation, not deployment by assumption.
VOCABULARY: Validation: checking, with real evidence, that a model's results match reality.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Shaden, then all
Healthcare does not operate one appointment at a time. It operates as an interconnected system, and every minute matters. Ripple Trace explains the problem. Reflow investigates the solution. Minutes Ledger measures the consequences. And a person stays in control. Behind every healthcare schedule is a patient waiting for care. Thank you. You can scan the code to try SAYR yourself. [All together:] SAYR AI. Care in Motion.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Appendix
Use only if asked. The simulation keeps a queue of future events ordered by time. It takes the next event, updates the state of patients and resources, writes it to the log, and schedules what follows. Waiting is measured from "ready" to "start of service"; transfers and service time are excluded. The seed makes it reproducible: we ran the whole demonstration path twice and got identical figures.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Appendix
Use only if asked. Reflow captures every appointment not yet started, then does a local search over which resource and in which order. Candidates are checked by an independent validator against nine rules. It runs three times with different objectives and shows up to three alternatives. It can find no improvement, and in one of our eight test days it did worse than doing nothing.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Appendix
Use only if asked. Waiting minutes, mean, median and 90th percentile are computed from the event log. Utilisation is busy time divided by available time within the shift. The forecast is a seasonal hourly baseline chosen from three simple methods using six held-out synthetic days; it is not machine learning, and because the history is synthetic it says little about real demand. Everything here is simulated under stated assumptions.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AYR_LIGHT">
    <p:bg>
      <p:bgPr>
        <a:solidFill>
          <a:srgbClr val="F6F2E9"/>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685800"/>
          </a:xfrm>
          <a:prstGeom prst="rect">
            <a:avLst/>
          </a:prstGeom>
          <a:noFill/>
          <a:ln/>
        </p:spPr>
        <p:txBody>
          <a:bodyPr wrap="square" rtlCol="0"/>
          <a:lstStyle>
            <a:lvl1pPr marL="0" indent="0" algn="l">
              <a:buNone/>
              <a:defRPr lang="en-US" sz="3000" dirty="0">
                <a:solidFill>
                  <a:srgbClr val="15233B"/>
                </a:solidFill>
                <a:latin typeface="Palatino Linotype" pitchFamily="34" charset="0"/>
                <a:ea typeface="Palatino Linotype" pitchFamily="34" charset="-122"/>
                <a:cs typeface="Palatino Linotype" pitchFamily="34" charset="-120"/>
              </a:defRPr>
            </a:lvl1pPr>
          </a:lstStyle>
          <a:p>
            <a:pPr marL="0" indent="0" algn="l">
              <a:buNone/>
            </a:pPr>
            <a:endParaRPr lang="en-US" sz="3000" dirty="0"/>
          </a:p>
        </p:txBody>
      </p:sp>
      <p:sp>
        <p:nvSpPr>
          <p:cNvPr id="3" name="Text 0"/>
          <p:cNvSpPr/>
          <p:nvPr/>
        </p:nvSpPr>
        <p:spPr>
          <a:xfrm>
            <a:off x="548640" y="6492240"/>
            <a:ext cx="8229600" cy="228600"/>
          </a:xfrm>
          <a:prstGeom prst="rect">
            <a:avLst/>
          </a:prstGeom>
          <a:noFill/>
          <a:ln/>
        </p:spPr>
        <p:txBody>
          <a:bodyPr wrap="square" lIns="0" tIns="0" rIns="0" bIns="0" rtlCol="0" anchor="ctr"/>
          <a:lstStyle/>
          <a:p>
            <a:pPr marL="0" indent="0">
              <a:buNone/>
            </a:pPr>
            <a:r>
              <a:rPr lang="en-US" sz="800" dirty="0">
                <a:solidFill>
                  <a:srgbClr val="7B7566"/>
                </a:solidFill>
                <a:latin typeface="Consolas" pitchFamily="34" charset="0"/>
                <a:ea typeface="Consolas" pitchFamily="34" charset="-122"/>
                <a:cs typeface="Consolas" pitchFamily="34" charset="-120"/>
              </a:rPr>
              <a:t>SAYR AI  ·  Care in Motion  ·  Al Dhafra Health Forum  ·  ADNOC Schools, Madinat Zayed</a:t>
            </a:r>
            <a:endParaRPr lang="en-US" sz="800" dirty="0"/>
          </a:p>
        </p:txBody>
      </p:sp>
      <p:sp>
        <p:nvSpPr>
          <p:cNvPr id="25" name="Slide Number Placeholder 0"/>
          <p:cNvSpPr>
            <a:spLocks noGrp="1"/>
          </p:cNvSpPr>
          <p:nvPr>
            <p:ph type="sldNum" sz="quarter" idx="4294967295"/>
          </p:nvPr>
        </p:nvSpPr>
        <p:spPr>
          <a:xfrm>
            <a:off x="11064240" y="6492240"/>
            <a:ext cx="576072"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B7566"/>
                </a:solidFill>
                <a:latin typeface="Consolas"/>
                <a:ea typeface="Consolas"/>
                <a:cs typeface="Consolas"/>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AYR_DARK">
    <p:bg>
      <p:bgPr>
        <a:solidFill>
          <a:srgbClr val="15233B"/>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92240"/>
            <a:ext cx="576072"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B7566"/>
                </a:solidFill>
                <a:latin typeface="Consolas"/>
                <a:ea typeface="Consolas"/>
                <a:cs typeface="Consola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maymourad.github.io/SAYR-AI-Care-In-Motion/"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640080" y="457200"/>
            <a:ext cx="6583680" cy="274320"/>
          </a:xfrm>
          <a:prstGeom prst="rect">
            <a:avLst/>
          </a:prstGeom>
          <a:noFill/>
          <a:ln/>
        </p:spPr>
        <p:txBody>
          <a:bodyPr wrap="square" lIns="0" tIns="0" rIns="0" bIns="0" rtlCol="0" anchor="t"/>
          <a:lstStyle/>
          <a:p>
            <a:pPr marL="0" indent="0">
              <a:buNone/>
            </a:pPr>
            <a:r>
              <a:rPr lang="en-US" sz="1000" kern="0" spc="200" dirty="0">
                <a:solidFill>
                  <a:srgbClr val="CBC2AB"/>
                </a:solidFill>
                <a:latin typeface="Consolas" pitchFamily="34" charset="0"/>
                <a:ea typeface="Consolas" pitchFamily="34" charset="-122"/>
                <a:cs typeface="Consolas" pitchFamily="34" charset="-120"/>
              </a:rPr>
              <a:t>AL DHAFRA HEALTH FORUM  ·  DEVELOPING HEALTHCARE SERVICES</a:t>
            </a:r>
            <a:endParaRPr lang="en-US" sz="1000" dirty="0"/>
          </a:p>
        </p:txBody>
      </p:sp>
      <p:sp>
        <p:nvSpPr>
          <p:cNvPr id="4" name="Text 1"/>
          <p:cNvSpPr txBox="1"/>
          <p:nvPr/>
        </p:nvSpPr>
        <p:spPr>
          <a:xfrm>
            <a:off x="594360" y="914400"/>
            <a:ext cx="4206240" cy="1417320"/>
          </a:xfrm>
          <a:prstGeom prst="rect">
            <a:avLst/>
          </a:prstGeom>
          <a:noFill/>
          <a:ln/>
        </p:spPr>
        <p:txBody>
          <a:bodyPr wrap="square" lIns="0" tIns="0" rIns="0" bIns="0" rtlCol="0" anchor="ctr"/>
          <a:lstStyle/>
          <a:p>
            <a:pPr marL="0" indent="0">
              <a:buNone/>
            </a:pPr>
            <a:r>
              <a:rPr lang="en-US" sz="9600" b="1" kern="0" spc="1000" dirty="0">
                <a:solidFill>
                  <a:srgbClr val="F6F2E9"/>
                </a:solidFill>
                <a:latin typeface="Palatino Linotype" pitchFamily="34" charset="0"/>
                <a:ea typeface="Palatino Linotype" pitchFamily="34" charset="-122"/>
                <a:cs typeface="Palatino Linotype" pitchFamily="34" charset="-120"/>
              </a:rPr>
              <a:t>SAYR</a:t>
            </a:r>
            <a:endParaRPr lang="en-US" sz="9600" dirty="0"/>
          </a:p>
        </p:txBody>
      </p:sp>
      <p:sp>
        <p:nvSpPr>
          <p:cNvPr id="5" name="Shape 2"/>
          <p:cNvSpPr/>
          <p:nvPr/>
        </p:nvSpPr>
        <p:spPr>
          <a:xfrm>
            <a:off x="4526280" y="1243584"/>
            <a:ext cx="713232" cy="420624"/>
          </a:xfrm>
          <a:prstGeom prst="roundRect">
            <a:avLst>
              <a:gd name="adj" fmla="val 10870"/>
            </a:avLst>
          </a:prstGeom>
          <a:ln w="19050">
            <a:solidFill>
              <a:srgbClr val="CF8250"/>
            </a:solidFill>
            <a:prstDash val="solid"/>
          </a:ln>
        </p:spPr>
      </p:sp>
      <p:sp>
        <p:nvSpPr>
          <p:cNvPr id="6" name="Text 3"/>
          <p:cNvSpPr txBox="1"/>
          <p:nvPr/>
        </p:nvSpPr>
        <p:spPr>
          <a:xfrm>
            <a:off x="4526280" y="1243584"/>
            <a:ext cx="713232" cy="420624"/>
          </a:xfrm>
          <a:prstGeom prst="rect">
            <a:avLst/>
          </a:prstGeom>
          <a:noFill/>
          <a:ln/>
        </p:spPr>
        <p:txBody>
          <a:bodyPr wrap="square" lIns="0" tIns="0" rIns="0" bIns="0" rtlCol="0" anchor="ctr"/>
          <a:lstStyle/>
          <a:p>
            <a:pPr marL="0" indent="0" algn="ctr">
              <a:buNone/>
            </a:pPr>
            <a:r>
              <a:rPr lang="en-US" sz="1800" b="1" kern="0" spc="300" dirty="0">
                <a:solidFill>
                  <a:srgbClr val="CF8250"/>
                </a:solidFill>
                <a:latin typeface="Consolas" pitchFamily="34" charset="0"/>
                <a:ea typeface="Consolas" pitchFamily="34" charset="-122"/>
                <a:cs typeface="Consolas" pitchFamily="34" charset="-120"/>
              </a:rPr>
              <a:t>AI</a:t>
            </a:r>
            <a:endParaRPr lang="en-US" sz="1800" dirty="0"/>
          </a:p>
        </p:txBody>
      </p:sp>
      <p:sp>
        <p:nvSpPr>
          <p:cNvPr id="7" name="Text 4"/>
          <p:cNvSpPr txBox="1"/>
          <p:nvPr/>
        </p:nvSpPr>
        <p:spPr>
          <a:xfrm>
            <a:off x="640080" y="2377440"/>
            <a:ext cx="5852160" cy="640080"/>
          </a:xfrm>
          <a:prstGeom prst="rect">
            <a:avLst/>
          </a:prstGeom>
          <a:noFill/>
          <a:ln/>
        </p:spPr>
        <p:txBody>
          <a:bodyPr wrap="square" lIns="0" tIns="0" rIns="0" bIns="0" rtlCol="0" anchor="t"/>
          <a:lstStyle/>
          <a:p>
            <a:pPr marL="0" indent="0">
              <a:buNone/>
            </a:pPr>
            <a:r>
              <a:rPr lang="en-US" sz="3400" i="1" dirty="0">
                <a:solidFill>
                  <a:srgbClr val="8FCBC7"/>
                </a:solidFill>
                <a:latin typeface="Palatino Linotype" pitchFamily="34" charset="0"/>
                <a:ea typeface="Palatino Linotype" pitchFamily="34" charset="-122"/>
                <a:cs typeface="Palatino Linotype" pitchFamily="34" charset="-120"/>
              </a:rPr>
              <a:t>Care in Motion.</a:t>
            </a:r>
            <a:endParaRPr lang="en-US" sz="3400" dirty="0"/>
          </a:p>
        </p:txBody>
      </p:sp>
      <p:sp>
        <p:nvSpPr>
          <p:cNvPr id="8" name="Text 5"/>
          <p:cNvSpPr txBox="1"/>
          <p:nvPr/>
        </p:nvSpPr>
        <p:spPr>
          <a:xfrm>
            <a:off x="640080" y="3154680"/>
            <a:ext cx="5852160" cy="914400"/>
          </a:xfrm>
          <a:prstGeom prst="rect">
            <a:avLst/>
          </a:prstGeom>
          <a:noFill/>
          <a:ln/>
        </p:spPr>
        <p:txBody>
          <a:bodyPr wrap="square" lIns="0" tIns="0" rIns="0" bIns="0" rtlCol="0" anchor="t"/>
          <a:lstStyle/>
          <a:p>
            <a:pPr marL="0" indent="0">
              <a:spcAft>
                <a:spcPts val="200"/>
              </a:spcAft>
              <a:buNone/>
            </a:pPr>
            <a:r>
              <a:rPr lang="en-US" sz="2200" dirty="0">
                <a:solidFill>
                  <a:srgbClr val="F2DFD0"/>
                </a:solidFill>
                <a:latin typeface="Palatino Linotype" pitchFamily="34" charset="0"/>
                <a:ea typeface="Palatino Linotype" pitchFamily="34" charset="-122"/>
                <a:cs typeface="Palatino Linotype" pitchFamily="34" charset="-120"/>
              </a:rPr>
              <a:t>Every minute matters.</a:t>
            </a:r>
            <a:endParaRPr lang="en-US" sz="2200" dirty="0"/>
          </a:p>
          <a:p>
            <a:pPr marL="0" indent="0">
              <a:spcAft>
                <a:spcPts val="200"/>
              </a:spcAft>
              <a:buNone/>
            </a:pPr>
            <a:r>
              <a:rPr lang="en-US" sz="2200" dirty="0">
                <a:solidFill>
                  <a:srgbClr val="F2DFD0"/>
                </a:solidFill>
                <a:latin typeface="Palatino Linotype" pitchFamily="34" charset="0"/>
                <a:ea typeface="Palatino Linotype" pitchFamily="34" charset="-122"/>
                <a:cs typeface="Palatino Linotype" pitchFamily="34" charset="-120"/>
              </a:rPr>
              <a:t>Every decision moves the system.</a:t>
            </a:r>
            <a:endParaRPr lang="en-US" sz="2200" dirty="0"/>
          </a:p>
        </p:txBody>
      </p:sp>
      <p:sp>
        <p:nvSpPr>
          <p:cNvPr id="9" name="Text 6"/>
          <p:cNvSpPr txBox="1"/>
          <p:nvPr/>
        </p:nvSpPr>
        <p:spPr>
          <a:xfrm>
            <a:off x="640080" y="4160520"/>
            <a:ext cx="5394960" cy="548640"/>
          </a:xfrm>
          <a:prstGeom prst="rect">
            <a:avLst/>
          </a:prstGeom>
          <a:noFill/>
          <a:ln/>
        </p:spPr>
        <p:txBody>
          <a:bodyPr wrap="square" lIns="0" tIns="0" rIns="0" bIns="0" rtlCol="0" anchor="t"/>
          <a:lstStyle/>
          <a:p>
            <a:pPr marL="0" indent="0">
              <a:buNone/>
            </a:pPr>
            <a:r>
              <a:rPr lang="en-US" sz="1300" dirty="0">
                <a:solidFill>
                  <a:srgbClr val="CBC2AB"/>
                </a:solidFill>
                <a:latin typeface="Segoe UI" pitchFamily="34" charset="0"/>
                <a:ea typeface="Segoe UI" pitchFamily="34" charset="-122"/>
                <a:cs typeface="Segoe UI" pitchFamily="34" charset="-120"/>
              </a:rPr>
              <a:t>A simulation-driven healthcare operations decision-support prototype. Synthetic data only.</a:t>
            </a:r>
            <a:endParaRPr lang="en-US" sz="1300" dirty="0"/>
          </a:p>
        </p:txBody>
      </p:sp>
      <p:sp>
        <p:nvSpPr>
          <p:cNvPr id="10" name="Text 7"/>
          <p:cNvSpPr txBox="1"/>
          <p:nvPr/>
        </p:nvSpPr>
        <p:spPr>
          <a:xfrm>
            <a:off x="640080" y="4983480"/>
            <a:ext cx="2926080" cy="256032"/>
          </a:xfrm>
          <a:prstGeom prst="rect">
            <a:avLst/>
          </a:prstGeom>
          <a:noFill/>
          <a:ln/>
        </p:spPr>
        <p:txBody>
          <a:bodyPr wrap="square" lIns="0" tIns="0" rIns="0" bIns="0" rtlCol="0" anchor="t"/>
          <a:lstStyle/>
          <a:p>
            <a:pPr marL="0" indent="0">
              <a:buNone/>
            </a:pPr>
            <a:r>
              <a:rPr lang="en-US" sz="1250" dirty="0">
                <a:solidFill>
                  <a:srgbClr val="F6F2E9"/>
                </a:solidFill>
                <a:latin typeface="Segoe UI" pitchFamily="34" charset="0"/>
                <a:ea typeface="Segoe UI" pitchFamily="34" charset="-122"/>
                <a:cs typeface="Segoe UI" pitchFamily="34" charset="-120"/>
              </a:rPr>
              <a:t>Lujain Ahmed Mourad</a:t>
            </a:r>
            <a:r>
              <a:rPr lang="en-US" sz="1100" dirty="0">
                <a:solidFill>
                  <a:srgbClr val="CF8250"/>
                </a:solidFill>
                <a:latin typeface="Consolas" pitchFamily="34" charset="0"/>
                <a:ea typeface="Consolas" pitchFamily="34" charset="-122"/>
                <a:cs typeface="Consolas" pitchFamily="34" charset="-120"/>
              </a:rPr>
              <a:t>  8D</a:t>
            </a:r>
            <a:endParaRPr lang="en-US" sz="1250" dirty="0"/>
          </a:p>
        </p:txBody>
      </p:sp>
      <p:sp>
        <p:nvSpPr>
          <p:cNvPr id="11" name="Text 8"/>
          <p:cNvSpPr txBox="1"/>
          <p:nvPr/>
        </p:nvSpPr>
        <p:spPr>
          <a:xfrm>
            <a:off x="3611880" y="4983480"/>
            <a:ext cx="2926080" cy="256032"/>
          </a:xfrm>
          <a:prstGeom prst="rect">
            <a:avLst/>
          </a:prstGeom>
          <a:noFill/>
          <a:ln/>
        </p:spPr>
        <p:txBody>
          <a:bodyPr wrap="square" lIns="0" tIns="0" rIns="0" bIns="0" rtlCol="0" anchor="t"/>
          <a:lstStyle/>
          <a:p>
            <a:pPr marL="0" indent="0">
              <a:buNone/>
            </a:pPr>
            <a:r>
              <a:rPr lang="en-US" sz="1250" dirty="0">
                <a:solidFill>
                  <a:srgbClr val="F6F2E9"/>
                </a:solidFill>
                <a:latin typeface="Segoe UI" pitchFamily="34" charset="0"/>
                <a:ea typeface="Segoe UI" pitchFamily="34" charset="-122"/>
                <a:cs typeface="Segoe UI" pitchFamily="34" charset="-120"/>
              </a:rPr>
              <a:t>Yosr Amgad</a:t>
            </a:r>
            <a:r>
              <a:rPr lang="en-US" sz="1100" dirty="0">
                <a:solidFill>
                  <a:srgbClr val="CF8250"/>
                </a:solidFill>
                <a:latin typeface="Consolas" pitchFamily="34" charset="0"/>
                <a:ea typeface="Consolas" pitchFamily="34" charset="-122"/>
                <a:cs typeface="Consolas" pitchFamily="34" charset="-120"/>
              </a:rPr>
              <a:t>  8D</a:t>
            </a:r>
            <a:endParaRPr lang="en-US" sz="1250" dirty="0"/>
          </a:p>
        </p:txBody>
      </p:sp>
      <p:sp>
        <p:nvSpPr>
          <p:cNvPr id="12" name="Text 9"/>
          <p:cNvSpPr txBox="1"/>
          <p:nvPr/>
        </p:nvSpPr>
        <p:spPr>
          <a:xfrm>
            <a:off x="640080" y="5257800"/>
            <a:ext cx="2926080" cy="256032"/>
          </a:xfrm>
          <a:prstGeom prst="rect">
            <a:avLst/>
          </a:prstGeom>
          <a:noFill/>
          <a:ln/>
        </p:spPr>
        <p:txBody>
          <a:bodyPr wrap="square" lIns="0" tIns="0" rIns="0" bIns="0" rtlCol="0" anchor="t"/>
          <a:lstStyle/>
          <a:p>
            <a:pPr marL="0" indent="0">
              <a:buNone/>
            </a:pPr>
            <a:r>
              <a:rPr lang="en-US" sz="1250" dirty="0">
                <a:solidFill>
                  <a:srgbClr val="F6F2E9"/>
                </a:solidFill>
                <a:latin typeface="Segoe UI" pitchFamily="34" charset="0"/>
                <a:ea typeface="Segoe UI" pitchFamily="34" charset="-122"/>
                <a:cs typeface="Segoe UI" pitchFamily="34" charset="-120"/>
              </a:rPr>
              <a:t>Precious Fuentes</a:t>
            </a:r>
            <a:r>
              <a:rPr lang="en-US" sz="1100" dirty="0">
                <a:solidFill>
                  <a:srgbClr val="CF8250"/>
                </a:solidFill>
                <a:latin typeface="Consolas" pitchFamily="34" charset="0"/>
                <a:ea typeface="Consolas" pitchFamily="34" charset="-122"/>
                <a:cs typeface="Consolas" pitchFamily="34" charset="-120"/>
              </a:rPr>
              <a:t>  8D</a:t>
            </a:r>
            <a:endParaRPr lang="en-US" sz="1250" dirty="0"/>
          </a:p>
        </p:txBody>
      </p:sp>
      <p:sp>
        <p:nvSpPr>
          <p:cNvPr id="13" name="Text 10"/>
          <p:cNvSpPr txBox="1"/>
          <p:nvPr/>
        </p:nvSpPr>
        <p:spPr>
          <a:xfrm>
            <a:off x="3611880" y="5257800"/>
            <a:ext cx="2926080" cy="256032"/>
          </a:xfrm>
          <a:prstGeom prst="rect">
            <a:avLst/>
          </a:prstGeom>
          <a:noFill/>
          <a:ln/>
        </p:spPr>
        <p:txBody>
          <a:bodyPr wrap="square" lIns="0" tIns="0" rIns="0" bIns="0" rtlCol="0" anchor="t"/>
          <a:lstStyle/>
          <a:p>
            <a:pPr marL="0" indent="0">
              <a:buNone/>
            </a:pPr>
            <a:r>
              <a:rPr lang="en-US" sz="1250" dirty="0">
                <a:solidFill>
                  <a:srgbClr val="F6F2E9"/>
                </a:solidFill>
                <a:latin typeface="Segoe UI" pitchFamily="34" charset="0"/>
                <a:ea typeface="Segoe UI" pitchFamily="34" charset="-122"/>
                <a:cs typeface="Segoe UI" pitchFamily="34" charset="-120"/>
              </a:rPr>
              <a:t>Maryam Ammara Jelita</a:t>
            </a:r>
            <a:r>
              <a:rPr lang="en-US" sz="1100" dirty="0">
                <a:solidFill>
                  <a:srgbClr val="CF8250"/>
                </a:solidFill>
                <a:latin typeface="Consolas" pitchFamily="34" charset="0"/>
                <a:ea typeface="Consolas" pitchFamily="34" charset="-122"/>
                <a:cs typeface="Consolas" pitchFamily="34" charset="-120"/>
              </a:rPr>
              <a:t>  8D</a:t>
            </a:r>
            <a:endParaRPr lang="en-US" sz="1250" dirty="0"/>
          </a:p>
        </p:txBody>
      </p:sp>
      <p:sp>
        <p:nvSpPr>
          <p:cNvPr id="14" name="Text 11"/>
          <p:cNvSpPr txBox="1"/>
          <p:nvPr/>
        </p:nvSpPr>
        <p:spPr>
          <a:xfrm>
            <a:off x="640080" y="5532120"/>
            <a:ext cx="2926080" cy="256032"/>
          </a:xfrm>
          <a:prstGeom prst="rect">
            <a:avLst/>
          </a:prstGeom>
          <a:noFill/>
          <a:ln/>
        </p:spPr>
        <p:txBody>
          <a:bodyPr wrap="square" lIns="0" tIns="0" rIns="0" bIns="0" rtlCol="0" anchor="t"/>
          <a:lstStyle/>
          <a:p>
            <a:pPr marL="0" indent="0">
              <a:buNone/>
            </a:pPr>
            <a:r>
              <a:rPr lang="en-US" sz="1250" dirty="0">
                <a:solidFill>
                  <a:srgbClr val="F6F2E9"/>
                </a:solidFill>
                <a:latin typeface="Segoe UI" pitchFamily="34" charset="0"/>
                <a:ea typeface="Segoe UI" pitchFamily="34" charset="-122"/>
                <a:cs typeface="Segoe UI" pitchFamily="34" charset="-120"/>
              </a:rPr>
              <a:t>Eleen Amr</a:t>
            </a:r>
            <a:r>
              <a:rPr lang="en-US" sz="1100" dirty="0">
                <a:solidFill>
                  <a:srgbClr val="CF8250"/>
                </a:solidFill>
                <a:latin typeface="Consolas" pitchFamily="34" charset="0"/>
                <a:ea typeface="Consolas" pitchFamily="34" charset="-122"/>
                <a:cs typeface="Consolas" pitchFamily="34" charset="-120"/>
              </a:rPr>
              <a:t>  8D</a:t>
            </a:r>
            <a:endParaRPr lang="en-US" sz="1250" dirty="0"/>
          </a:p>
        </p:txBody>
      </p:sp>
      <p:sp>
        <p:nvSpPr>
          <p:cNvPr id="15" name="Text 12"/>
          <p:cNvSpPr txBox="1"/>
          <p:nvPr/>
        </p:nvSpPr>
        <p:spPr>
          <a:xfrm>
            <a:off x="3611880" y="5532120"/>
            <a:ext cx="2926080" cy="256032"/>
          </a:xfrm>
          <a:prstGeom prst="rect">
            <a:avLst/>
          </a:prstGeom>
          <a:noFill/>
          <a:ln/>
        </p:spPr>
        <p:txBody>
          <a:bodyPr wrap="square" lIns="0" tIns="0" rIns="0" bIns="0" rtlCol="0" anchor="t"/>
          <a:lstStyle/>
          <a:p>
            <a:pPr marL="0" indent="0">
              <a:buNone/>
            </a:pPr>
            <a:r>
              <a:rPr lang="en-US" sz="1250" dirty="0">
                <a:solidFill>
                  <a:srgbClr val="F6F2E9"/>
                </a:solidFill>
                <a:latin typeface="Segoe UI" pitchFamily="34" charset="0"/>
                <a:ea typeface="Segoe UI" pitchFamily="34" charset="-122"/>
                <a:cs typeface="Segoe UI" pitchFamily="34" charset="-120"/>
              </a:rPr>
              <a:t>Shaden Ahmed Mourad</a:t>
            </a:r>
            <a:r>
              <a:rPr lang="en-US" sz="1100" dirty="0">
                <a:solidFill>
                  <a:srgbClr val="CF8250"/>
                </a:solidFill>
                <a:latin typeface="Consolas" pitchFamily="34" charset="0"/>
                <a:ea typeface="Consolas" pitchFamily="34" charset="-122"/>
                <a:cs typeface="Consolas" pitchFamily="34" charset="-120"/>
              </a:rPr>
              <a:t>  6D</a:t>
            </a:r>
            <a:endParaRPr lang="en-US" sz="1250" dirty="0"/>
          </a:p>
        </p:txBody>
      </p:sp>
      <p:sp>
        <p:nvSpPr>
          <p:cNvPr id="16" name="Text 13"/>
          <p:cNvSpPr txBox="1"/>
          <p:nvPr/>
        </p:nvSpPr>
        <p:spPr>
          <a:xfrm>
            <a:off x="640080" y="5943600"/>
            <a:ext cx="4572000" cy="274320"/>
          </a:xfrm>
          <a:prstGeom prst="rect">
            <a:avLst/>
          </a:prstGeom>
          <a:noFill/>
          <a:ln/>
        </p:spPr>
        <p:txBody>
          <a:bodyPr wrap="square" lIns="0" tIns="0" rIns="0" bIns="0" rtlCol="0" anchor="t"/>
          <a:lstStyle/>
          <a:p>
            <a:pPr marL="0" indent="0">
              <a:buNone/>
            </a:pPr>
            <a:r>
              <a:rPr lang="en-US" sz="1050" kern="0" spc="100" dirty="0">
                <a:solidFill>
                  <a:srgbClr val="CBC2AB"/>
                </a:solidFill>
                <a:latin typeface="Consolas" pitchFamily="34" charset="0"/>
                <a:ea typeface="Consolas" pitchFamily="34" charset="-122"/>
                <a:cs typeface="Consolas" pitchFamily="34" charset="-120"/>
              </a:rPr>
              <a:t>ADNOC Schools, Madinat Zayed</a:t>
            </a:r>
            <a:endParaRPr lang="en-US" sz="1050" dirty="0"/>
          </a:p>
        </p:txBody>
      </p:sp>
      <p:sp>
        <p:nvSpPr>
          <p:cNvPr id="17" name="S1_panel"/>
          <p:cNvSpPr/>
          <p:nvPr/>
        </p:nvSpPr>
        <p:spPr>
          <a:xfrm>
            <a:off x="6720840" y="731520"/>
            <a:ext cx="5074920" cy="5440680"/>
          </a:xfrm>
          <a:prstGeom prst="roundRect">
            <a:avLst>
              <a:gd name="adj" fmla="val 1441"/>
            </a:avLst>
          </a:prstGeom>
          <a:solidFill>
            <a:srgbClr val="1B2D4D"/>
          </a:solidFill>
          <a:ln w="9525">
            <a:solidFill>
              <a:srgbClr val="3A4A66"/>
            </a:solidFill>
            <a:prstDash val="solid"/>
          </a:ln>
        </p:spPr>
      </p:sp>
      <p:sp>
        <p:nvSpPr>
          <p:cNvPr id="18" name="Text 15"/>
          <p:cNvSpPr txBox="1"/>
          <p:nvPr/>
        </p:nvSpPr>
        <p:spPr>
          <a:xfrm>
            <a:off x="6903720" y="5989320"/>
            <a:ext cx="4754880" cy="146304"/>
          </a:xfrm>
          <a:prstGeom prst="rect">
            <a:avLst/>
          </a:prstGeom>
          <a:noFill/>
          <a:ln/>
        </p:spPr>
        <p:txBody>
          <a:bodyPr wrap="square" lIns="0" tIns="0" rIns="0" bIns="0" rtlCol="0" anchor="t"/>
          <a:lstStyle/>
          <a:p>
            <a:pPr marL="0" indent="0">
              <a:buNone/>
            </a:pPr>
            <a:r>
              <a:rPr lang="en-US" sz="700" kern="0" spc="100" dirty="0">
                <a:solidFill>
                  <a:srgbClr val="A39C88"/>
                </a:solidFill>
                <a:latin typeface="Consolas" pitchFamily="34" charset="0"/>
                <a:ea typeface="Consolas" pitchFamily="34" charset="-122"/>
                <a:cs typeface="Consolas" pitchFamily="34" charset="-120"/>
              </a:rPr>
              <a:t>FLOW CANVAS · ILLUSTRATION OF THE IDEA, NOT DATA</a:t>
            </a:r>
            <a:endParaRPr lang="en-US" sz="700" dirty="0"/>
          </a:p>
        </p:txBody>
      </p:sp>
      <p:sp>
        <p:nvSpPr>
          <p:cNvPr id="19" name="Shape 16"/>
          <p:cNvSpPr/>
          <p:nvPr/>
        </p:nvSpPr>
        <p:spPr>
          <a:xfrm>
            <a:off x="7818120" y="1143000"/>
            <a:ext cx="0" cy="4517136"/>
          </a:xfrm>
          <a:prstGeom prst="line">
            <a:avLst/>
          </a:prstGeom>
          <a:noFill/>
          <a:ln w="6350">
            <a:solidFill>
              <a:srgbClr val="3A4A66"/>
            </a:solidFill>
            <a:prstDash val="solid"/>
          </a:ln>
        </p:spPr>
      </p:sp>
      <p:sp>
        <p:nvSpPr>
          <p:cNvPr id="20" name="Text 17"/>
          <p:cNvSpPr txBox="1"/>
          <p:nvPr/>
        </p:nvSpPr>
        <p:spPr>
          <a:xfrm>
            <a:off x="7543800" y="1005840"/>
            <a:ext cx="548640" cy="128016"/>
          </a:xfrm>
          <a:prstGeom prst="rect">
            <a:avLst/>
          </a:prstGeom>
          <a:noFill/>
          <a:ln/>
        </p:spPr>
        <p:txBody>
          <a:bodyPr wrap="square" lIns="0" tIns="0" rIns="0" bIns="0" rtlCol="0" anchor="t"/>
          <a:lstStyle/>
          <a:p>
            <a:pPr marL="0" indent="0" algn="ctr">
              <a:buNone/>
            </a:pPr>
            <a:r>
              <a:rPr lang="en-US" sz="650" dirty="0">
                <a:solidFill>
                  <a:srgbClr val="A39C88"/>
                </a:solidFill>
                <a:latin typeface="Consolas" pitchFamily="34" charset="0"/>
                <a:ea typeface="Consolas" pitchFamily="34" charset="-122"/>
                <a:cs typeface="Consolas" pitchFamily="34" charset="-120"/>
              </a:rPr>
              <a:t>08:00</a:t>
            </a:r>
            <a:endParaRPr lang="en-US" sz="650" dirty="0"/>
          </a:p>
        </p:txBody>
      </p:sp>
      <p:sp>
        <p:nvSpPr>
          <p:cNvPr id="21" name="Shape 18"/>
          <p:cNvSpPr/>
          <p:nvPr/>
        </p:nvSpPr>
        <p:spPr>
          <a:xfrm>
            <a:off x="8766810" y="1143000"/>
            <a:ext cx="0" cy="4517136"/>
          </a:xfrm>
          <a:prstGeom prst="line">
            <a:avLst/>
          </a:prstGeom>
          <a:noFill/>
          <a:ln w="6350">
            <a:solidFill>
              <a:srgbClr val="3A4A66"/>
            </a:solidFill>
            <a:prstDash val="solid"/>
          </a:ln>
        </p:spPr>
      </p:sp>
      <p:sp>
        <p:nvSpPr>
          <p:cNvPr id="22" name="Text 19"/>
          <p:cNvSpPr txBox="1"/>
          <p:nvPr/>
        </p:nvSpPr>
        <p:spPr>
          <a:xfrm>
            <a:off x="8492490" y="1005840"/>
            <a:ext cx="548640" cy="128016"/>
          </a:xfrm>
          <a:prstGeom prst="rect">
            <a:avLst/>
          </a:prstGeom>
          <a:noFill/>
          <a:ln/>
        </p:spPr>
        <p:txBody>
          <a:bodyPr wrap="square" lIns="0" tIns="0" rIns="0" bIns="0" rtlCol="0" anchor="t"/>
          <a:lstStyle/>
          <a:p>
            <a:pPr marL="0" indent="0" algn="ctr">
              <a:buNone/>
            </a:pPr>
            <a:r>
              <a:rPr lang="en-US" sz="650" dirty="0">
                <a:solidFill>
                  <a:srgbClr val="A39C88"/>
                </a:solidFill>
                <a:latin typeface="Consolas" pitchFamily="34" charset="0"/>
                <a:ea typeface="Consolas" pitchFamily="34" charset="-122"/>
                <a:cs typeface="Consolas" pitchFamily="34" charset="-120"/>
              </a:rPr>
              <a:t>10:00</a:t>
            </a:r>
            <a:endParaRPr lang="en-US" sz="650" dirty="0"/>
          </a:p>
        </p:txBody>
      </p:sp>
      <p:sp>
        <p:nvSpPr>
          <p:cNvPr id="23" name="Shape 20"/>
          <p:cNvSpPr/>
          <p:nvPr/>
        </p:nvSpPr>
        <p:spPr>
          <a:xfrm>
            <a:off x="9715500" y="1143000"/>
            <a:ext cx="0" cy="4517136"/>
          </a:xfrm>
          <a:prstGeom prst="line">
            <a:avLst/>
          </a:prstGeom>
          <a:noFill/>
          <a:ln w="6350">
            <a:solidFill>
              <a:srgbClr val="3A4A66"/>
            </a:solidFill>
            <a:prstDash val="solid"/>
          </a:ln>
        </p:spPr>
      </p:sp>
      <p:sp>
        <p:nvSpPr>
          <p:cNvPr id="24" name="Text 21"/>
          <p:cNvSpPr txBox="1"/>
          <p:nvPr/>
        </p:nvSpPr>
        <p:spPr>
          <a:xfrm>
            <a:off x="9441180" y="1005840"/>
            <a:ext cx="548640" cy="128016"/>
          </a:xfrm>
          <a:prstGeom prst="rect">
            <a:avLst/>
          </a:prstGeom>
          <a:noFill/>
          <a:ln/>
        </p:spPr>
        <p:txBody>
          <a:bodyPr wrap="square" lIns="0" tIns="0" rIns="0" bIns="0" rtlCol="0" anchor="t"/>
          <a:lstStyle/>
          <a:p>
            <a:pPr marL="0" indent="0" algn="ctr">
              <a:buNone/>
            </a:pPr>
            <a:r>
              <a:rPr lang="en-US" sz="650" dirty="0">
                <a:solidFill>
                  <a:srgbClr val="A39C88"/>
                </a:solidFill>
                <a:latin typeface="Consolas" pitchFamily="34" charset="0"/>
                <a:ea typeface="Consolas" pitchFamily="34" charset="-122"/>
                <a:cs typeface="Consolas" pitchFamily="34" charset="-120"/>
              </a:rPr>
              <a:t>12:00</a:t>
            </a:r>
            <a:endParaRPr lang="en-US" sz="650" dirty="0"/>
          </a:p>
        </p:txBody>
      </p:sp>
      <p:sp>
        <p:nvSpPr>
          <p:cNvPr id="25" name="Shape 22"/>
          <p:cNvSpPr/>
          <p:nvPr/>
        </p:nvSpPr>
        <p:spPr>
          <a:xfrm>
            <a:off x="10664190" y="1143000"/>
            <a:ext cx="0" cy="4517136"/>
          </a:xfrm>
          <a:prstGeom prst="line">
            <a:avLst/>
          </a:prstGeom>
          <a:noFill/>
          <a:ln w="6350">
            <a:solidFill>
              <a:srgbClr val="3A4A66"/>
            </a:solidFill>
            <a:prstDash val="solid"/>
          </a:ln>
        </p:spPr>
      </p:sp>
      <p:sp>
        <p:nvSpPr>
          <p:cNvPr id="26" name="Text 23"/>
          <p:cNvSpPr txBox="1"/>
          <p:nvPr/>
        </p:nvSpPr>
        <p:spPr>
          <a:xfrm>
            <a:off x="10389870" y="1005840"/>
            <a:ext cx="548640" cy="128016"/>
          </a:xfrm>
          <a:prstGeom prst="rect">
            <a:avLst/>
          </a:prstGeom>
          <a:noFill/>
          <a:ln/>
        </p:spPr>
        <p:txBody>
          <a:bodyPr wrap="square" lIns="0" tIns="0" rIns="0" bIns="0" rtlCol="0" anchor="t"/>
          <a:lstStyle/>
          <a:p>
            <a:pPr marL="0" indent="0" algn="ctr">
              <a:buNone/>
            </a:pPr>
            <a:r>
              <a:rPr lang="en-US" sz="650" dirty="0">
                <a:solidFill>
                  <a:srgbClr val="A39C88"/>
                </a:solidFill>
                <a:latin typeface="Consolas" pitchFamily="34" charset="0"/>
                <a:ea typeface="Consolas" pitchFamily="34" charset="-122"/>
                <a:cs typeface="Consolas" pitchFamily="34" charset="-120"/>
              </a:rPr>
              <a:t>14:00</a:t>
            </a:r>
            <a:endParaRPr lang="en-US" sz="650" dirty="0"/>
          </a:p>
        </p:txBody>
      </p:sp>
      <p:sp>
        <p:nvSpPr>
          <p:cNvPr id="27" name="Shape 24"/>
          <p:cNvSpPr/>
          <p:nvPr/>
        </p:nvSpPr>
        <p:spPr>
          <a:xfrm>
            <a:off x="11612880" y="1143000"/>
            <a:ext cx="0" cy="4517136"/>
          </a:xfrm>
          <a:prstGeom prst="line">
            <a:avLst/>
          </a:prstGeom>
          <a:noFill/>
          <a:ln w="6350">
            <a:solidFill>
              <a:srgbClr val="3A4A66"/>
            </a:solidFill>
            <a:prstDash val="solid"/>
          </a:ln>
        </p:spPr>
      </p:sp>
      <p:sp>
        <p:nvSpPr>
          <p:cNvPr id="28" name="Text 25"/>
          <p:cNvSpPr txBox="1"/>
          <p:nvPr/>
        </p:nvSpPr>
        <p:spPr>
          <a:xfrm>
            <a:off x="11338560" y="1005840"/>
            <a:ext cx="548640" cy="128016"/>
          </a:xfrm>
          <a:prstGeom prst="rect">
            <a:avLst/>
          </a:prstGeom>
          <a:noFill/>
          <a:ln/>
        </p:spPr>
        <p:txBody>
          <a:bodyPr wrap="square" lIns="0" tIns="0" rIns="0" bIns="0" rtlCol="0" anchor="t"/>
          <a:lstStyle/>
          <a:p>
            <a:pPr marL="0" indent="0" algn="ctr">
              <a:buNone/>
            </a:pPr>
            <a:r>
              <a:rPr lang="en-US" sz="650" dirty="0">
                <a:solidFill>
                  <a:srgbClr val="A39C88"/>
                </a:solidFill>
                <a:latin typeface="Consolas" pitchFamily="34" charset="0"/>
                <a:ea typeface="Consolas" pitchFamily="34" charset="-122"/>
                <a:cs typeface="Consolas" pitchFamily="34" charset="-120"/>
              </a:rPr>
              <a:t>16:00</a:t>
            </a:r>
            <a:endParaRPr lang="en-US" sz="650" dirty="0"/>
          </a:p>
        </p:txBody>
      </p:sp>
      <p:sp>
        <p:nvSpPr>
          <p:cNvPr id="29" name="Text 26"/>
          <p:cNvSpPr txBox="1"/>
          <p:nvPr/>
        </p:nvSpPr>
        <p:spPr>
          <a:xfrm>
            <a:off x="6903720" y="1280160"/>
            <a:ext cx="685800" cy="228600"/>
          </a:xfrm>
          <a:prstGeom prst="rect">
            <a:avLst/>
          </a:prstGeom>
          <a:noFill/>
          <a:ln/>
        </p:spPr>
        <p:txBody>
          <a:bodyPr wrap="square" lIns="0" tIns="0" rIns="0" bIns="0" rtlCol="0" anchor="t"/>
          <a:lstStyle/>
          <a:p>
            <a:pPr marL="0" indent="0">
              <a:buNone/>
            </a:pPr>
            <a:r>
              <a:rPr lang="en-US" sz="800" b="1" dirty="0">
                <a:solidFill>
                  <a:srgbClr val="CBC2AB"/>
                </a:solidFill>
                <a:latin typeface="Consolas" pitchFamily="34" charset="0"/>
                <a:ea typeface="Consolas" pitchFamily="34" charset="-122"/>
                <a:cs typeface="Consolas" pitchFamily="34" charset="-120"/>
              </a:rPr>
              <a:t>REG-1</a:t>
            </a:r>
            <a:endParaRPr lang="en-US" sz="800" dirty="0"/>
          </a:p>
        </p:txBody>
      </p:sp>
      <p:sp>
        <p:nvSpPr>
          <p:cNvPr id="30" name="Shape 27"/>
          <p:cNvSpPr/>
          <p:nvPr/>
        </p:nvSpPr>
        <p:spPr>
          <a:xfrm>
            <a:off x="7889272" y="1261872"/>
            <a:ext cx="131921" cy="246888"/>
          </a:xfrm>
          <a:prstGeom prst="roundRect">
            <a:avLst>
              <a:gd name="adj" fmla="val 20794"/>
            </a:avLst>
          </a:prstGeom>
          <a:solidFill>
            <a:srgbClr val="3A5078"/>
          </a:solidFill>
          <a:ln/>
        </p:spPr>
      </p:sp>
      <p:sp>
        <p:nvSpPr>
          <p:cNvPr id="31" name="Shape 28"/>
          <p:cNvSpPr/>
          <p:nvPr/>
        </p:nvSpPr>
        <p:spPr>
          <a:xfrm>
            <a:off x="8142256" y="1261872"/>
            <a:ext cx="131921" cy="246888"/>
          </a:xfrm>
          <a:prstGeom prst="roundRect">
            <a:avLst>
              <a:gd name="adj" fmla="val 20794"/>
            </a:avLst>
          </a:prstGeom>
          <a:solidFill>
            <a:srgbClr val="3A5078"/>
          </a:solidFill>
          <a:ln/>
        </p:spPr>
      </p:sp>
      <p:sp>
        <p:nvSpPr>
          <p:cNvPr id="32" name="Shape 29"/>
          <p:cNvSpPr/>
          <p:nvPr/>
        </p:nvSpPr>
        <p:spPr>
          <a:xfrm>
            <a:off x="8324088" y="1261872"/>
            <a:ext cx="131921" cy="246888"/>
          </a:xfrm>
          <a:prstGeom prst="roundRect">
            <a:avLst>
              <a:gd name="adj" fmla="val 20794"/>
            </a:avLst>
          </a:prstGeom>
          <a:solidFill>
            <a:srgbClr val="3A5078"/>
          </a:solidFill>
          <a:ln/>
        </p:spPr>
      </p:sp>
      <p:sp>
        <p:nvSpPr>
          <p:cNvPr id="33" name="Shape 30"/>
          <p:cNvSpPr/>
          <p:nvPr/>
        </p:nvSpPr>
        <p:spPr>
          <a:xfrm>
            <a:off x="8545449" y="1261872"/>
            <a:ext cx="92393" cy="246888"/>
          </a:xfrm>
          <a:prstGeom prst="roundRect">
            <a:avLst>
              <a:gd name="adj" fmla="val 29691"/>
            </a:avLst>
          </a:prstGeom>
          <a:solidFill>
            <a:srgbClr val="3A5078"/>
          </a:solidFill>
          <a:ln/>
        </p:spPr>
      </p:sp>
      <p:sp>
        <p:nvSpPr>
          <p:cNvPr id="34" name="Shape 31"/>
          <p:cNvSpPr/>
          <p:nvPr/>
        </p:nvSpPr>
        <p:spPr>
          <a:xfrm>
            <a:off x="8695658" y="1261872"/>
            <a:ext cx="131921" cy="246888"/>
          </a:xfrm>
          <a:prstGeom prst="roundRect">
            <a:avLst>
              <a:gd name="adj" fmla="val 20794"/>
            </a:avLst>
          </a:prstGeom>
          <a:solidFill>
            <a:srgbClr val="3A5078"/>
          </a:solidFill>
          <a:ln/>
        </p:spPr>
      </p:sp>
      <p:sp>
        <p:nvSpPr>
          <p:cNvPr id="35" name="Shape 32"/>
          <p:cNvSpPr/>
          <p:nvPr/>
        </p:nvSpPr>
        <p:spPr>
          <a:xfrm>
            <a:off x="8996077" y="1261872"/>
            <a:ext cx="116110" cy="246888"/>
          </a:xfrm>
          <a:prstGeom prst="roundRect">
            <a:avLst>
              <a:gd name="adj" fmla="val 23626"/>
            </a:avLst>
          </a:prstGeom>
          <a:solidFill>
            <a:srgbClr val="3A5078"/>
          </a:solidFill>
          <a:ln/>
        </p:spPr>
      </p:sp>
      <p:sp>
        <p:nvSpPr>
          <p:cNvPr id="36" name="Shape 33"/>
          <p:cNvSpPr/>
          <p:nvPr/>
        </p:nvSpPr>
        <p:spPr>
          <a:xfrm>
            <a:off x="9217438" y="1261872"/>
            <a:ext cx="116110" cy="246888"/>
          </a:xfrm>
          <a:prstGeom prst="roundRect">
            <a:avLst>
              <a:gd name="adj" fmla="val 23626"/>
            </a:avLst>
          </a:prstGeom>
          <a:ln w="7620">
            <a:solidFill>
              <a:srgbClr val="CBC2AB"/>
            </a:solidFill>
            <a:prstDash val="dash"/>
          </a:ln>
        </p:spPr>
      </p:sp>
      <p:sp>
        <p:nvSpPr>
          <p:cNvPr id="37" name="Shape 34"/>
          <p:cNvSpPr/>
          <p:nvPr/>
        </p:nvSpPr>
        <p:spPr>
          <a:xfrm>
            <a:off x="9454610" y="1261872"/>
            <a:ext cx="124016" cy="246888"/>
          </a:xfrm>
          <a:prstGeom prst="roundRect">
            <a:avLst>
              <a:gd name="adj" fmla="val 22120"/>
            </a:avLst>
          </a:prstGeom>
          <a:ln w="7620">
            <a:solidFill>
              <a:srgbClr val="CBC2AB"/>
            </a:solidFill>
            <a:prstDash val="dash"/>
          </a:ln>
        </p:spPr>
      </p:sp>
      <p:sp>
        <p:nvSpPr>
          <p:cNvPr id="38" name="Shape 35"/>
          <p:cNvSpPr/>
          <p:nvPr/>
        </p:nvSpPr>
        <p:spPr>
          <a:xfrm>
            <a:off x="9723406" y="1261872"/>
            <a:ext cx="108204" cy="246888"/>
          </a:xfrm>
          <a:prstGeom prst="roundRect">
            <a:avLst>
              <a:gd name="adj" fmla="val 25352"/>
            </a:avLst>
          </a:prstGeom>
          <a:ln w="7620">
            <a:solidFill>
              <a:srgbClr val="CBC2AB"/>
            </a:solidFill>
            <a:prstDash val="dash"/>
          </a:ln>
        </p:spPr>
      </p:sp>
      <p:sp>
        <p:nvSpPr>
          <p:cNvPr id="39" name="Shape 36"/>
          <p:cNvSpPr/>
          <p:nvPr/>
        </p:nvSpPr>
        <p:spPr>
          <a:xfrm>
            <a:off x="9936861" y="1261872"/>
            <a:ext cx="131921" cy="246888"/>
          </a:xfrm>
          <a:prstGeom prst="roundRect">
            <a:avLst>
              <a:gd name="adj" fmla="val 20794"/>
            </a:avLst>
          </a:prstGeom>
          <a:ln w="7620">
            <a:solidFill>
              <a:srgbClr val="CBC2AB"/>
            </a:solidFill>
            <a:prstDash val="dash"/>
          </a:ln>
        </p:spPr>
      </p:sp>
      <p:sp>
        <p:nvSpPr>
          <p:cNvPr id="40" name="Shape 37"/>
          <p:cNvSpPr/>
          <p:nvPr/>
        </p:nvSpPr>
        <p:spPr>
          <a:xfrm>
            <a:off x="10158222" y="1261872"/>
            <a:ext cx="108204" cy="246888"/>
          </a:xfrm>
          <a:prstGeom prst="roundRect">
            <a:avLst>
              <a:gd name="adj" fmla="val 25352"/>
            </a:avLst>
          </a:prstGeom>
          <a:ln w="7620">
            <a:solidFill>
              <a:srgbClr val="CBC2AB"/>
            </a:solidFill>
            <a:prstDash val="dash"/>
          </a:ln>
        </p:spPr>
      </p:sp>
      <p:sp>
        <p:nvSpPr>
          <p:cNvPr id="41" name="Shape 38"/>
          <p:cNvSpPr/>
          <p:nvPr/>
        </p:nvSpPr>
        <p:spPr>
          <a:xfrm>
            <a:off x="10324243" y="1261872"/>
            <a:ext cx="124015" cy="246888"/>
          </a:xfrm>
          <a:prstGeom prst="roundRect">
            <a:avLst>
              <a:gd name="adj" fmla="val 22120"/>
            </a:avLst>
          </a:prstGeom>
          <a:ln w="7620">
            <a:solidFill>
              <a:srgbClr val="CBC2AB"/>
            </a:solidFill>
            <a:prstDash val="dash"/>
          </a:ln>
        </p:spPr>
      </p:sp>
      <p:sp>
        <p:nvSpPr>
          <p:cNvPr id="42" name="Shape 39"/>
          <p:cNvSpPr/>
          <p:nvPr/>
        </p:nvSpPr>
        <p:spPr>
          <a:xfrm>
            <a:off x="10600944" y="1261872"/>
            <a:ext cx="108204" cy="246888"/>
          </a:xfrm>
          <a:prstGeom prst="roundRect">
            <a:avLst>
              <a:gd name="adj" fmla="val 25352"/>
            </a:avLst>
          </a:prstGeom>
          <a:ln w="7620">
            <a:solidFill>
              <a:srgbClr val="CBC2AB"/>
            </a:solidFill>
            <a:prstDash val="dash"/>
          </a:ln>
        </p:spPr>
      </p:sp>
      <p:sp>
        <p:nvSpPr>
          <p:cNvPr id="43" name="Shape 40"/>
          <p:cNvSpPr/>
          <p:nvPr/>
        </p:nvSpPr>
        <p:spPr>
          <a:xfrm>
            <a:off x="10774871" y="1261872"/>
            <a:ext cx="131921" cy="246888"/>
          </a:xfrm>
          <a:prstGeom prst="roundRect">
            <a:avLst>
              <a:gd name="adj" fmla="val 20794"/>
            </a:avLst>
          </a:prstGeom>
          <a:ln w="7620">
            <a:solidFill>
              <a:srgbClr val="CBC2AB"/>
            </a:solidFill>
            <a:prstDash val="dash"/>
          </a:ln>
        </p:spPr>
      </p:sp>
      <p:sp>
        <p:nvSpPr>
          <p:cNvPr id="44" name="Shape 41"/>
          <p:cNvSpPr/>
          <p:nvPr/>
        </p:nvSpPr>
        <p:spPr>
          <a:xfrm>
            <a:off x="10964609" y="1261872"/>
            <a:ext cx="108204" cy="246888"/>
          </a:xfrm>
          <a:prstGeom prst="roundRect">
            <a:avLst>
              <a:gd name="adj" fmla="val 25352"/>
            </a:avLst>
          </a:prstGeom>
          <a:ln w="7620">
            <a:solidFill>
              <a:srgbClr val="CBC2AB"/>
            </a:solidFill>
            <a:prstDash val="dash"/>
          </a:ln>
        </p:spPr>
      </p:sp>
      <p:sp>
        <p:nvSpPr>
          <p:cNvPr id="45" name="Shape 42"/>
          <p:cNvSpPr/>
          <p:nvPr/>
        </p:nvSpPr>
        <p:spPr>
          <a:xfrm>
            <a:off x="11178064" y="1261872"/>
            <a:ext cx="92393" cy="246888"/>
          </a:xfrm>
          <a:prstGeom prst="roundRect">
            <a:avLst>
              <a:gd name="adj" fmla="val 29691"/>
            </a:avLst>
          </a:prstGeom>
          <a:ln w="7620">
            <a:solidFill>
              <a:srgbClr val="CBC2AB"/>
            </a:solidFill>
            <a:prstDash val="dash"/>
          </a:ln>
        </p:spPr>
      </p:sp>
      <p:sp>
        <p:nvSpPr>
          <p:cNvPr id="46" name="Shape 43"/>
          <p:cNvSpPr/>
          <p:nvPr/>
        </p:nvSpPr>
        <p:spPr>
          <a:xfrm>
            <a:off x="11328273" y="1261872"/>
            <a:ext cx="116110" cy="246888"/>
          </a:xfrm>
          <a:prstGeom prst="roundRect">
            <a:avLst>
              <a:gd name="adj" fmla="val 23626"/>
            </a:avLst>
          </a:prstGeom>
          <a:ln w="7620">
            <a:solidFill>
              <a:srgbClr val="CBC2AB"/>
            </a:solidFill>
            <a:prstDash val="dash"/>
          </a:ln>
        </p:spPr>
      </p:sp>
      <p:sp>
        <p:nvSpPr>
          <p:cNvPr id="47" name="Text 44"/>
          <p:cNvSpPr txBox="1"/>
          <p:nvPr/>
        </p:nvSpPr>
        <p:spPr>
          <a:xfrm>
            <a:off x="6903720" y="1792224"/>
            <a:ext cx="685800" cy="228600"/>
          </a:xfrm>
          <a:prstGeom prst="rect">
            <a:avLst/>
          </a:prstGeom>
          <a:noFill/>
          <a:ln/>
        </p:spPr>
        <p:txBody>
          <a:bodyPr wrap="square" lIns="0" tIns="0" rIns="0" bIns="0" rtlCol="0" anchor="t"/>
          <a:lstStyle/>
          <a:p>
            <a:pPr marL="0" indent="0">
              <a:buNone/>
            </a:pPr>
            <a:r>
              <a:rPr lang="en-US" sz="800" b="1" dirty="0">
                <a:solidFill>
                  <a:srgbClr val="CBC2AB"/>
                </a:solidFill>
                <a:latin typeface="Consolas" pitchFamily="34" charset="0"/>
                <a:ea typeface="Consolas" pitchFamily="34" charset="-122"/>
                <a:cs typeface="Consolas" pitchFamily="34" charset="-120"/>
              </a:rPr>
              <a:t>REG-2</a:t>
            </a:r>
            <a:endParaRPr lang="en-US" sz="800" dirty="0"/>
          </a:p>
        </p:txBody>
      </p:sp>
      <p:sp>
        <p:nvSpPr>
          <p:cNvPr id="48" name="Shape 45"/>
          <p:cNvSpPr/>
          <p:nvPr/>
        </p:nvSpPr>
        <p:spPr>
          <a:xfrm>
            <a:off x="7865555" y="1773936"/>
            <a:ext cx="116110" cy="246888"/>
          </a:xfrm>
          <a:prstGeom prst="roundRect">
            <a:avLst>
              <a:gd name="adj" fmla="val 23626"/>
            </a:avLst>
          </a:prstGeom>
          <a:solidFill>
            <a:srgbClr val="3A5078"/>
          </a:solidFill>
          <a:ln/>
        </p:spPr>
      </p:sp>
      <p:sp>
        <p:nvSpPr>
          <p:cNvPr id="49" name="Shape 46"/>
          <p:cNvSpPr/>
          <p:nvPr/>
        </p:nvSpPr>
        <p:spPr>
          <a:xfrm>
            <a:off x="8292465" y="1773936"/>
            <a:ext cx="100298" cy="246888"/>
          </a:xfrm>
          <a:prstGeom prst="roundRect">
            <a:avLst>
              <a:gd name="adj" fmla="val 27350"/>
            </a:avLst>
          </a:prstGeom>
          <a:solidFill>
            <a:srgbClr val="3A5078"/>
          </a:solidFill>
          <a:ln/>
        </p:spPr>
      </p:sp>
      <p:sp>
        <p:nvSpPr>
          <p:cNvPr id="50" name="Shape 47"/>
          <p:cNvSpPr/>
          <p:nvPr/>
        </p:nvSpPr>
        <p:spPr>
          <a:xfrm>
            <a:off x="8624507" y="1773936"/>
            <a:ext cx="108204" cy="246888"/>
          </a:xfrm>
          <a:prstGeom prst="roundRect">
            <a:avLst>
              <a:gd name="adj" fmla="val 25352"/>
            </a:avLst>
          </a:prstGeom>
          <a:solidFill>
            <a:srgbClr val="3A5078"/>
          </a:solidFill>
          <a:ln/>
        </p:spPr>
      </p:sp>
      <p:sp>
        <p:nvSpPr>
          <p:cNvPr id="51" name="Shape 48"/>
          <p:cNvSpPr/>
          <p:nvPr/>
        </p:nvSpPr>
        <p:spPr>
          <a:xfrm>
            <a:off x="8901208" y="1773936"/>
            <a:ext cx="116110" cy="246888"/>
          </a:xfrm>
          <a:prstGeom prst="roundRect">
            <a:avLst>
              <a:gd name="adj" fmla="val 23626"/>
            </a:avLst>
          </a:prstGeom>
          <a:solidFill>
            <a:srgbClr val="3A5078"/>
          </a:solidFill>
          <a:ln/>
        </p:spPr>
      </p:sp>
      <p:sp>
        <p:nvSpPr>
          <p:cNvPr id="52" name="Shape 49"/>
          <p:cNvSpPr/>
          <p:nvPr/>
        </p:nvSpPr>
        <p:spPr>
          <a:xfrm>
            <a:off x="9280684" y="1773936"/>
            <a:ext cx="100298" cy="246888"/>
          </a:xfrm>
          <a:prstGeom prst="roundRect">
            <a:avLst>
              <a:gd name="adj" fmla="val 27350"/>
            </a:avLst>
          </a:prstGeom>
          <a:ln w="7620">
            <a:solidFill>
              <a:srgbClr val="CBC2AB"/>
            </a:solidFill>
            <a:prstDash val="dash"/>
          </a:ln>
        </p:spPr>
      </p:sp>
      <p:sp>
        <p:nvSpPr>
          <p:cNvPr id="53" name="Shape 50"/>
          <p:cNvSpPr/>
          <p:nvPr/>
        </p:nvSpPr>
        <p:spPr>
          <a:xfrm>
            <a:off x="9509951" y="1773936"/>
            <a:ext cx="131921" cy="246888"/>
          </a:xfrm>
          <a:prstGeom prst="roundRect">
            <a:avLst>
              <a:gd name="adj" fmla="val 20794"/>
            </a:avLst>
          </a:prstGeom>
          <a:ln w="7620">
            <a:solidFill>
              <a:srgbClr val="CBC2AB"/>
            </a:solidFill>
            <a:prstDash val="dash"/>
          </a:ln>
        </p:spPr>
      </p:sp>
      <p:sp>
        <p:nvSpPr>
          <p:cNvPr id="54" name="Shape 51"/>
          <p:cNvSpPr/>
          <p:nvPr/>
        </p:nvSpPr>
        <p:spPr>
          <a:xfrm>
            <a:off x="9881521" y="1773936"/>
            <a:ext cx="108204" cy="246888"/>
          </a:xfrm>
          <a:prstGeom prst="roundRect">
            <a:avLst>
              <a:gd name="adj" fmla="val 25352"/>
            </a:avLst>
          </a:prstGeom>
          <a:ln w="7620">
            <a:solidFill>
              <a:srgbClr val="CBC2AB"/>
            </a:solidFill>
            <a:prstDash val="dash"/>
          </a:ln>
        </p:spPr>
      </p:sp>
      <p:sp>
        <p:nvSpPr>
          <p:cNvPr id="55" name="Shape 52"/>
          <p:cNvSpPr/>
          <p:nvPr/>
        </p:nvSpPr>
        <p:spPr>
          <a:xfrm>
            <a:off x="10316337" y="1773936"/>
            <a:ext cx="108204" cy="246888"/>
          </a:xfrm>
          <a:prstGeom prst="roundRect">
            <a:avLst>
              <a:gd name="adj" fmla="val 25352"/>
            </a:avLst>
          </a:prstGeom>
          <a:ln w="7620">
            <a:solidFill>
              <a:srgbClr val="CBC2AB"/>
            </a:solidFill>
            <a:prstDash val="dash"/>
          </a:ln>
        </p:spPr>
      </p:sp>
      <p:sp>
        <p:nvSpPr>
          <p:cNvPr id="56" name="Shape 53"/>
          <p:cNvSpPr/>
          <p:nvPr/>
        </p:nvSpPr>
        <p:spPr>
          <a:xfrm>
            <a:off x="10561415" y="1773936"/>
            <a:ext cx="100298" cy="246888"/>
          </a:xfrm>
          <a:prstGeom prst="roundRect">
            <a:avLst>
              <a:gd name="adj" fmla="val 27350"/>
            </a:avLst>
          </a:prstGeom>
          <a:ln w="7620">
            <a:solidFill>
              <a:srgbClr val="CBC2AB"/>
            </a:solidFill>
            <a:prstDash val="dash"/>
          </a:ln>
        </p:spPr>
      </p:sp>
      <p:sp>
        <p:nvSpPr>
          <p:cNvPr id="57" name="Shape 54"/>
          <p:cNvSpPr/>
          <p:nvPr/>
        </p:nvSpPr>
        <p:spPr>
          <a:xfrm>
            <a:off x="10972514" y="1773936"/>
            <a:ext cx="116110" cy="246888"/>
          </a:xfrm>
          <a:prstGeom prst="roundRect">
            <a:avLst>
              <a:gd name="adj" fmla="val 23626"/>
            </a:avLst>
          </a:prstGeom>
          <a:ln w="7620">
            <a:solidFill>
              <a:srgbClr val="CBC2AB"/>
            </a:solidFill>
            <a:prstDash val="dash"/>
          </a:ln>
        </p:spPr>
      </p:sp>
      <p:sp>
        <p:nvSpPr>
          <p:cNvPr id="58" name="Shape 55"/>
          <p:cNvSpPr/>
          <p:nvPr/>
        </p:nvSpPr>
        <p:spPr>
          <a:xfrm>
            <a:off x="11296650" y="1773936"/>
            <a:ext cx="100298" cy="246888"/>
          </a:xfrm>
          <a:prstGeom prst="roundRect">
            <a:avLst>
              <a:gd name="adj" fmla="val 27350"/>
            </a:avLst>
          </a:prstGeom>
          <a:ln w="7620">
            <a:solidFill>
              <a:srgbClr val="CBC2AB"/>
            </a:solidFill>
            <a:prstDash val="dash"/>
          </a:ln>
        </p:spPr>
      </p:sp>
      <p:sp>
        <p:nvSpPr>
          <p:cNvPr id="59" name="Text 56"/>
          <p:cNvSpPr txBox="1"/>
          <p:nvPr/>
        </p:nvSpPr>
        <p:spPr>
          <a:xfrm>
            <a:off x="6903720" y="2304288"/>
            <a:ext cx="685800" cy="228600"/>
          </a:xfrm>
          <a:prstGeom prst="rect">
            <a:avLst/>
          </a:prstGeom>
          <a:noFill/>
          <a:ln/>
        </p:spPr>
        <p:txBody>
          <a:bodyPr wrap="square" lIns="0" tIns="0" rIns="0" bIns="0" rtlCol="0" anchor="t"/>
          <a:lstStyle/>
          <a:p>
            <a:pPr marL="0" indent="0">
              <a:buNone/>
            </a:pPr>
            <a:r>
              <a:rPr lang="en-US" sz="800" b="1" dirty="0">
                <a:solidFill>
                  <a:srgbClr val="CBC2AB"/>
                </a:solidFill>
                <a:latin typeface="Consolas" pitchFamily="34" charset="0"/>
                <a:ea typeface="Consolas" pitchFamily="34" charset="-122"/>
                <a:cs typeface="Consolas" pitchFamily="34" charset="-120"/>
              </a:rPr>
              <a:t>VIT-1</a:t>
            </a:r>
            <a:endParaRPr lang="en-US" sz="800" dirty="0"/>
          </a:p>
        </p:txBody>
      </p:sp>
      <p:sp>
        <p:nvSpPr>
          <p:cNvPr id="60" name="Shape 57"/>
          <p:cNvSpPr/>
          <p:nvPr/>
        </p:nvSpPr>
        <p:spPr>
          <a:xfrm>
            <a:off x="7881366" y="2286000"/>
            <a:ext cx="108204" cy="246888"/>
          </a:xfrm>
          <a:prstGeom prst="roundRect">
            <a:avLst>
              <a:gd name="adj" fmla="val 25352"/>
            </a:avLst>
          </a:prstGeom>
          <a:solidFill>
            <a:srgbClr val="3A5078"/>
          </a:solidFill>
          <a:ln/>
        </p:spPr>
      </p:sp>
      <p:sp>
        <p:nvSpPr>
          <p:cNvPr id="61" name="Shape 58"/>
          <p:cNvSpPr/>
          <p:nvPr/>
        </p:nvSpPr>
        <p:spPr>
          <a:xfrm>
            <a:off x="8086916" y="2286000"/>
            <a:ext cx="155639" cy="246888"/>
          </a:xfrm>
          <a:prstGeom prst="roundRect">
            <a:avLst>
              <a:gd name="adj" fmla="val 17625"/>
            </a:avLst>
          </a:prstGeom>
          <a:solidFill>
            <a:srgbClr val="3A5078"/>
          </a:solidFill>
          <a:ln/>
        </p:spPr>
      </p:sp>
      <p:sp>
        <p:nvSpPr>
          <p:cNvPr id="62" name="Shape 59"/>
          <p:cNvSpPr/>
          <p:nvPr/>
        </p:nvSpPr>
        <p:spPr>
          <a:xfrm>
            <a:off x="8292465" y="2286000"/>
            <a:ext cx="139827" cy="246888"/>
          </a:xfrm>
          <a:prstGeom prst="roundRect">
            <a:avLst>
              <a:gd name="adj" fmla="val 19619"/>
            </a:avLst>
          </a:prstGeom>
          <a:solidFill>
            <a:srgbClr val="3A5078"/>
          </a:solidFill>
          <a:ln/>
        </p:spPr>
      </p:sp>
      <p:sp>
        <p:nvSpPr>
          <p:cNvPr id="63" name="Shape 60"/>
          <p:cNvSpPr/>
          <p:nvPr/>
        </p:nvSpPr>
        <p:spPr>
          <a:xfrm>
            <a:off x="8537543" y="2286000"/>
            <a:ext cx="163544" cy="246888"/>
          </a:xfrm>
          <a:prstGeom prst="roundRect">
            <a:avLst>
              <a:gd name="adj" fmla="val 16773"/>
            </a:avLst>
          </a:prstGeom>
          <a:solidFill>
            <a:srgbClr val="3A5078"/>
          </a:solidFill>
          <a:ln/>
        </p:spPr>
      </p:sp>
      <p:sp>
        <p:nvSpPr>
          <p:cNvPr id="64" name="Shape 61"/>
          <p:cNvSpPr/>
          <p:nvPr/>
        </p:nvSpPr>
        <p:spPr>
          <a:xfrm>
            <a:off x="8774716" y="2286000"/>
            <a:ext cx="131921" cy="246888"/>
          </a:xfrm>
          <a:prstGeom prst="roundRect">
            <a:avLst>
              <a:gd name="adj" fmla="val 20794"/>
            </a:avLst>
          </a:prstGeom>
          <a:solidFill>
            <a:srgbClr val="3A5078"/>
          </a:solidFill>
          <a:ln/>
        </p:spPr>
      </p:sp>
      <p:sp>
        <p:nvSpPr>
          <p:cNvPr id="65" name="Shape 62"/>
          <p:cNvSpPr/>
          <p:nvPr/>
        </p:nvSpPr>
        <p:spPr>
          <a:xfrm>
            <a:off x="9003983" y="2286000"/>
            <a:ext cx="155638" cy="246888"/>
          </a:xfrm>
          <a:prstGeom prst="roundRect">
            <a:avLst>
              <a:gd name="adj" fmla="val 17626"/>
            </a:avLst>
          </a:prstGeom>
          <a:solidFill>
            <a:srgbClr val="3A9B97"/>
          </a:solidFill>
          <a:ln/>
        </p:spPr>
      </p:sp>
      <p:sp>
        <p:nvSpPr>
          <p:cNvPr id="66" name="Shape 63"/>
          <p:cNvSpPr/>
          <p:nvPr/>
        </p:nvSpPr>
        <p:spPr>
          <a:xfrm>
            <a:off x="9241155" y="2286000"/>
            <a:ext cx="131921" cy="246888"/>
          </a:xfrm>
          <a:prstGeom prst="roundRect">
            <a:avLst>
              <a:gd name="adj" fmla="val 20794"/>
            </a:avLst>
          </a:prstGeom>
          <a:ln w="7620">
            <a:solidFill>
              <a:srgbClr val="CBC2AB"/>
            </a:solidFill>
            <a:prstDash val="dash"/>
          </a:ln>
        </p:spPr>
      </p:sp>
      <p:sp>
        <p:nvSpPr>
          <p:cNvPr id="67" name="Shape 64"/>
          <p:cNvSpPr/>
          <p:nvPr/>
        </p:nvSpPr>
        <p:spPr>
          <a:xfrm>
            <a:off x="9478328" y="2286000"/>
            <a:ext cx="163544" cy="246888"/>
          </a:xfrm>
          <a:prstGeom prst="roundRect">
            <a:avLst>
              <a:gd name="adj" fmla="val 16773"/>
            </a:avLst>
          </a:prstGeom>
          <a:ln w="7620">
            <a:solidFill>
              <a:srgbClr val="CBC2AB"/>
            </a:solidFill>
            <a:prstDash val="dash"/>
          </a:ln>
        </p:spPr>
      </p:sp>
      <p:sp>
        <p:nvSpPr>
          <p:cNvPr id="68" name="Shape 65"/>
          <p:cNvSpPr/>
          <p:nvPr/>
        </p:nvSpPr>
        <p:spPr>
          <a:xfrm>
            <a:off x="9707594" y="2286000"/>
            <a:ext cx="163544" cy="246888"/>
          </a:xfrm>
          <a:prstGeom prst="roundRect">
            <a:avLst>
              <a:gd name="adj" fmla="val 16773"/>
            </a:avLst>
          </a:prstGeom>
          <a:ln w="7620">
            <a:solidFill>
              <a:srgbClr val="CBC2AB"/>
            </a:solidFill>
            <a:prstDash val="dash"/>
          </a:ln>
        </p:spPr>
      </p:sp>
      <p:sp>
        <p:nvSpPr>
          <p:cNvPr id="69" name="Shape 66"/>
          <p:cNvSpPr/>
          <p:nvPr/>
        </p:nvSpPr>
        <p:spPr>
          <a:xfrm>
            <a:off x="9928955" y="2286000"/>
            <a:ext cx="124015" cy="246888"/>
          </a:xfrm>
          <a:prstGeom prst="roundRect">
            <a:avLst>
              <a:gd name="adj" fmla="val 22120"/>
            </a:avLst>
          </a:prstGeom>
          <a:ln w="7620">
            <a:solidFill>
              <a:srgbClr val="CBC2AB"/>
            </a:solidFill>
            <a:prstDash val="dash"/>
          </a:ln>
        </p:spPr>
      </p:sp>
      <p:sp>
        <p:nvSpPr>
          <p:cNvPr id="70" name="Shape 67"/>
          <p:cNvSpPr/>
          <p:nvPr/>
        </p:nvSpPr>
        <p:spPr>
          <a:xfrm>
            <a:off x="10174034" y="2286000"/>
            <a:ext cx="147733" cy="246888"/>
          </a:xfrm>
          <a:prstGeom prst="roundRect">
            <a:avLst>
              <a:gd name="adj" fmla="val 18569"/>
            </a:avLst>
          </a:prstGeom>
          <a:ln w="7620">
            <a:solidFill>
              <a:srgbClr val="CBC2AB"/>
            </a:solidFill>
            <a:prstDash val="dash"/>
          </a:ln>
        </p:spPr>
      </p:sp>
      <p:sp>
        <p:nvSpPr>
          <p:cNvPr id="71" name="Shape 68"/>
          <p:cNvSpPr/>
          <p:nvPr/>
        </p:nvSpPr>
        <p:spPr>
          <a:xfrm>
            <a:off x="10379583" y="2286000"/>
            <a:ext cx="108204" cy="246888"/>
          </a:xfrm>
          <a:prstGeom prst="roundRect">
            <a:avLst>
              <a:gd name="adj" fmla="val 25352"/>
            </a:avLst>
          </a:prstGeom>
          <a:ln w="7620">
            <a:solidFill>
              <a:srgbClr val="CBC2AB"/>
            </a:solidFill>
            <a:prstDash val="dash"/>
          </a:ln>
        </p:spPr>
      </p:sp>
      <p:sp>
        <p:nvSpPr>
          <p:cNvPr id="72" name="Shape 69"/>
          <p:cNvSpPr/>
          <p:nvPr/>
        </p:nvSpPr>
        <p:spPr>
          <a:xfrm>
            <a:off x="10553510" y="2286000"/>
            <a:ext cx="155638" cy="246888"/>
          </a:xfrm>
          <a:prstGeom prst="roundRect">
            <a:avLst>
              <a:gd name="adj" fmla="val 17626"/>
            </a:avLst>
          </a:prstGeom>
          <a:ln w="7620">
            <a:solidFill>
              <a:srgbClr val="CBC2AB"/>
            </a:solidFill>
            <a:prstDash val="dash"/>
          </a:ln>
        </p:spPr>
      </p:sp>
      <p:sp>
        <p:nvSpPr>
          <p:cNvPr id="73" name="Shape 70"/>
          <p:cNvSpPr/>
          <p:nvPr/>
        </p:nvSpPr>
        <p:spPr>
          <a:xfrm>
            <a:off x="10814399" y="2286000"/>
            <a:ext cx="116110" cy="246888"/>
          </a:xfrm>
          <a:prstGeom prst="roundRect">
            <a:avLst>
              <a:gd name="adj" fmla="val 23626"/>
            </a:avLst>
          </a:prstGeom>
          <a:ln w="7620">
            <a:solidFill>
              <a:srgbClr val="CBC2AB"/>
            </a:solidFill>
            <a:prstDash val="dash"/>
          </a:ln>
        </p:spPr>
      </p:sp>
      <p:sp>
        <p:nvSpPr>
          <p:cNvPr id="74" name="Shape 71"/>
          <p:cNvSpPr/>
          <p:nvPr/>
        </p:nvSpPr>
        <p:spPr>
          <a:xfrm>
            <a:off x="11012043" y="2286000"/>
            <a:ext cx="155638" cy="246888"/>
          </a:xfrm>
          <a:prstGeom prst="roundRect">
            <a:avLst>
              <a:gd name="adj" fmla="val 17626"/>
            </a:avLst>
          </a:prstGeom>
          <a:ln w="7620">
            <a:solidFill>
              <a:srgbClr val="CBC2AB"/>
            </a:solidFill>
            <a:prstDash val="dash"/>
          </a:ln>
        </p:spPr>
      </p:sp>
      <p:sp>
        <p:nvSpPr>
          <p:cNvPr id="75" name="Shape 72"/>
          <p:cNvSpPr/>
          <p:nvPr/>
        </p:nvSpPr>
        <p:spPr>
          <a:xfrm>
            <a:off x="11241310" y="2286000"/>
            <a:ext cx="124016" cy="246888"/>
          </a:xfrm>
          <a:prstGeom prst="roundRect">
            <a:avLst>
              <a:gd name="adj" fmla="val 22120"/>
            </a:avLst>
          </a:prstGeom>
          <a:ln w="7620">
            <a:solidFill>
              <a:srgbClr val="CBC2AB"/>
            </a:solidFill>
            <a:prstDash val="dash"/>
          </a:ln>
        </p:spPr>
      </p:sp>
      <p:sp>
        <p:nvSpPr>
          <p:cNvPr id="76" name="Shape 73"/>
          <p:cNvSpPr/>
          <p:nvPr/>
        </p:nvSpPr>
        <p:spPr>
          <a:xfrm>
            <a:off x="11431048" y="2286000"/>
            <a:ext cx="116110" cy="246888"/>
          </a:xfrm>
          <a:prstGeom prst="roundRect">
            <a:avLst>
              <a:gd name="adj" fmla="val 23626"/>
            </a:avLst>
          </a:prstGeom>
          <a:ln w="7620">
            <a:solidFill>
              <a:srgbClr val="CBC2AB"/>
            </a:solidFill>
            <a:prstDash val="dash"/>
          </a:ln>
        </p:spPr>
      </p:sp>
      <p:sp>
        <p:nvSpPr>
          <p:cNvPr id="77" name="Text 74"/>
          <p:cNvSpPr txBox="1"/>
          <p:nvPr/>
        </p:nvSpPr>
        <p:spPr>
          <a:xfrm>
            <a:off x="6903720" y="2816352"/>
            <a:ext cx="685800" cy="228600"/>
          </a:xfrm>
          <a:prstGeom prst="rect">
            <a:avLst/>
          </a:prstGeom>
          <a:noFill/>
          <a:ln/>
        </p:spPr>
        <p:txBody>
          <a:bodyPr wrap="square" lIns="0" tIns="0" rIns="0" bIns="0" rtlCol="0" anchor="t"/>
          <a:lstStyle/>
          <a:p>
            <a:pPr marL="0" indent="0">
              <a:buNone/>
            </a:pPr>
            <a:r>
              <a:rPr lang="en-US" sz="800" b="1" dirty="0">
                <a:solidFill>
                  <a:srgbClr val="CBC2AB"/>
                </a:solidFill>
                <a:latin typeface="Consolas" pitchFamily="34" charset="0"/>
                <a:ea typeface="Consolas" pitchFamily="34" charset="-122"/>
                <a:cs typeface="Consolas" pitchFamily="34" charset="-120"/>
              </a:rPr>
              <a:t>VIT-2</a:t>
            </a:r>
            <a:endParaRPr lang="en-US" sz="800" dirty="0"/>
          </a:p>
        </p:txBody>
      </p:sp>
      <p:sp>
        <p:nvSpPr>
          <p:cNvPr id="78" name="Shape 75"/>
          <p:cNvSpPr/>
          <p:nvPr/>
        </p:nvSpPr>
        <p:spPr>
          <a:xfrm>
            <a:off x="7889272" y="2798064"/>
            <a:ext cx="147733" cy="246888"/>
          </a:xfrm>
          <a:prstGeom prst="roundRect">
            <a:avLst>
              <a:gd name="adj" fmla="val 18569"/>
            </a:avLst>
          </a:prstGeom>
          <a:solidFill>
            <a:srgbClr val="3A5078"/>
          </a:solidFill>
          <a:ln/>
        </p:spPr>
      </p:sp>
      <p:sp>
        <p:nvSpPr>
          <p:cNvPr id="79" name="Shape 76"/>
          <p:cNvSpPr/>
          <p:nvPr/>
        </p:nvSpPr>
        <p:spPr>
          <a:xfrm>
            <a:off x="8237125" y="2798064"/>
            <a:ext cx="131921" cy="246888"/>
          </a:xfrm>
          <a:prstGeom prst="roundRect">
            <a:avLst>
              <a:gd name="adj" fmla="val 20794"/>
            </a:avLst>
          </a:prstGeom>
          <a:solidFill>
            <a:srgbClr val="3A5078"/>
          </a:solidFill>
          <a:ln/>
        </p:spPr>
      </p:sp>
      <p:sp>
        <p:nvSpPr>
          <p:cNvPr id="80" name="Shape 77"/>
          <p:cNvSpPr/>
          <p:nvPr/>
        </p:nvSpPr>
        <p:spPr>
          <a:xfrm>
            <a:off x="8490109" y="2798064"/>
            <a:ext cx="139827" cy="246888"/>
          </a:xfrm>
          <a:prstGeom prst="roundRect">
            <a:avLst>
              <a:gd name="adj" fmla="val 19619"/>
            </a:avLst>
          </a:prstGeom>
          <a:solidFill>
            <a:srgbClr val="3A5078"/>
          </a:solidFill>
          <a:ln/>
        </p:spPr>
      </p:sp>
      <p:sp>
        <p:nvSpPr>
          <p:cNvPr id="81" name="Shape 78"/>
          <p:cNvSpPr/>
          <p:nvPr/>
        </p:nvSpPr>
        <p:spPr>
          <a:xfrm>
            <a:off x="8766810" y="2798064"/>
            <a:ext cx="108204" cy="246888"/>
          </a:xfrm>
          <a:prstGeom prst="roundRect">
            <a:avLst>
              <a:gd name="adj" fmla="val 25352"/>
            </a:avLst>
          </a:prstGeom>
          <a:solidFill>
            <a:srgbClr val="3A5078"/>
          </a:solidFill>
          <a:ln/>
        </p:spPr>
      </p:sp>
      <p:sp>
        <p:nvSpPr>
          <p:cNvPr id="82" name="Shape 79"/>
          <p:cNvSpPr/>
          <p:nvPr/>
        </p:nvSpPr>
        <p:spPr>
          <a:xfrm>
            <a:off x="9019794" y="2798064"/>
            <a:ext cx="131921" cy="246888"/>
          </a:xfrm>
          <a:prstGeom prst="roundRect">
            <a:avLst>
              <a:gd name="adj" fmla="val 20794"/>
            </a:avLst>
          </a:prstGeom>
          <a:solidFill>
            <a:srgbClr val="3A9B97"/>
          </a:solidFill>
          <a:ln/>
        </p:spPr>
      </p:sp>
      <p:sp>
        <p:nvSpPr>
          <p:cNvPr id="83" name="Shape 80"/>
          <p:cNvSpPr/>
          <p:nvPr/>
        </p:nvSpPr>
        <p:spPr>
          <a:xfrm>
            <a:off x="9359741" y="2798064"/>
            <a:ext cx="155638" cy="246888"/>
          </a:xfrm>
          <a:prstGeom prst="roundRect">
            <a:avLst>
              <a:gd name="adj" fmla="val 17626"/>
            </a:avLst>
          </a:prstGeom>
          <a:ln w="7620">
            <a:solidFill>
              <a:srgbClr val="CBC2AB"/>
            </a:solidFill>
            <a:prstDash val="dash"/>
          </a:ln>
        </p:spPr>
      </p:sp>
      <p:sp>
        <p:nvSpPr>
          <p:cNvPr id="84" name="Shape 81"/>
          <p:cNvSpPr/>
          <p:nvPr/>
        </p:nvSpPr>
        <p:spPr>
          <a:xfrm>
            <a:off x="9731312" y="2798064"/>
            <a:ext cx="116110" cy="246888"/>
          </a:xfrm>
          <a:prstGeom prst="roundRect">
            <a:avLst>
              <a:gd name="adj" fmla="val 23626"/>
            </a:avLst>
          </a:prstGeom>
          <a:ln w="7620">
            <a:solidFill>
              <a:srgbClr val="CBC2AB"/>
            </a:solidFill>
            <a:prstDash val="dash"/>
          </a:ln>
        </p:spPr>
      </p:sp>
      <p:sp>
        <p:nvSpPr>
          <p:cNvPr id="85" name="Shape 82"/>
          <p:cNvSpPr/>
          <p:nvPr/>
        </p:nvSpPr>
        <p:spPr>
          <a:xfrm>
            <a:off x="10047542" y="2798064"/>
            <a:ext cx="139827" cy="246888"/>
          </a:xfrm>
          <a:prstGeom prst="roundRect">
            <a:avLst>
              <a:gd name="adj" fmla="val 19619"/>
            </a:avLst>
          </a:prstGeom>
          <a:ln w="7620">
            <a:solidFill>
              <a:srgbClr val="CBC2AB"/>
            </a:solidFill>
            <a:prstDash val="dash"/>
          </a:ln>
        </p:spPr>
      </p:sp>
      <p:sp>
        <p:nvSpPr>
          <p:cNvPr id="86" name="Shape 83"/>
          <p:cNvSpPr/>
          <p:nvPr/>
        </p:nvSpPr>
        <p:spPr>
          <a:xfrm>
            <a:off x="10276808" y="2798064"/>
            <a:ext cx="147733" cy="246888"/>
          </a:xfrm>
          <a:prstGeom prst="roundRect">
            <a:avLst>
              <a:gd name="adj" fmla="val 18569"/>
            </a:avLst>
          </a:prstGeom>
          <a:ln w="7620">
            <a:solidFill>
              <a:srgbClr val="CBC2AB"/>
            </a:solidFill>
            <a:prstDash val="dash"/>
          </a:ln>
        </p:spPr>
      </p:sp>
      <p:sp>
        <p:nvSpPr>
          <p:cNvPr id="87" name="Shape 84"/>
          <p:cNvSpPr/>
          <p:nvPr/>
        </p:nvSpPr>
        <p:spPr>
          <a:xfrm>
            <a:off x="10648379" y="2798064"/>
            <a:ext cx="139827" cy="246888"/>
          </a:xfrm>
          <a:prstGeom prst="roundRect">
            <a:avLst>
              <a:gd name="adj" fmla="val 19619"/>
            </a:avLst>
          </a:prstGeom>
          <a:ln w="7620">
            <a:solidFill>
              <a:srgbClr val="CBC2AB"/>
            </a:solidFill>
            <a:prstDash val="dash"/>
          </a:ln>
        </p:spPr>
      </p:sp>
      <p:sp>
        <p:nvSpPr>
          <p:cNvPr id="88" name="Shape 85"/>
          <p:cNvSpPr/>
          <p:nvPr/>
        </p:nvSpPr>
        <p:spPr>
          <a:xfrm>
            <a:off x="11012043" y="2798064"/>
            <a:ext cx="108204" cy="246888"/>
          </a:xfrm>
          <a:prstGeom prst="roundRect">
            <a:avLst>
              <a:gd name="adj" fmla="val 25352"/>
            </a:avLst>
          </a:prstGeom>
          <a:ln w="7620">
            <a:solidFill>
              <a:srgbClr val="CBC2AB"/>
            </a:solidFill>
            <a:prstDash val="dash"/>
          </a:ln>
        </p:spPr>
      </p:sp>
      <p:sp>
        <p:nvSpPr>
          <p:cNvPr id="89" name="Shape 86"/>
          <p:cNvSpPr/>
          <p:nvPr/>
        </p:nvSpPr>
        <p:spPr>
          <a:xfrm>
            <a:off x="11328273" y="2798064"/>
            <a:ext cx="131921" cy="246888"/>
          </a:xfrm>
          <a:prstGeom prst="roundRect">
            <a:avLst>
              <a:gd name="adj" fmla="val 20794"/>
            </a:avLst>
          </a:prstGeom>
          <a:ln w="7620">
            <a:solidFill>
              <a:srgbClr val="CBC2AB"/>
            </a:solidFill>
            <a:prstDash val="dash"/>
          </a:ln>
        </p:spPr>
      </p:sp>
      <p:sp>
        <p:nvSpPr>
          <p:cNvPr id="90" name="Text 87"/>
          <p:cNvSpPr txBox="1"/>
          <p:nvPr/>
        </p:nvSpPr>
        <p:spPr>
          <a:xfrm>
            <a:off x="6903720" y="3328416"/>
            <a:ext cx="685800" cy="228600"/>
          </a:xfrm>
          <a:prstGeom prst="rect">
            <a:avLst/>
          </a:prstGeom>
          <a:noFill/>
          <a:ln/>
        </p:spPr>
        <p:txBody>
          <a:bodyPr wrap="square" lIns="0" tIns="0" rIns="0" bIns="0" rtlCol="0" anchor="t"/>
          <a:lstStyle/>
          <a:p>
            <a:pPr marL="0" indent="0">
              <a:buNone/>
            </a:pPr>
            <a:r>
              <a:rPr lang="en-US" sz="800" b="1" dirty="0">
                <a:solidFill>
                  <a:srgbClr val="CBC2AB"/>
                </a:solidFill>
                <a:latin typeface="Consolas" pitchFamily="34" charset="0"/>
                <a:ea typeface="Consolas" pitchFamily="34" charset="-122"/>
                <a:cs typeface="Consolas" pitchFamily="34" charset="-120"/>
              </a:rPr>
              <a:t>GP-1</a:t>
            </a:r>
            <a:endParaRPr lang="en-US" sz="800" dirty="0"/>
          </a:p>
        </p:txBody>
      </p:sp>
      <p:sp>
        <p:nvSpPr>
          <p:cNvPr id="91" name="Shape 88"/>
          <p:cNvSpPr/>
          <p:nvPr/>
        </p:nvSpPr>
        <p:spPr>
          <a:xfrm>
            <a:off x="7999952" y="3310128"/>
            <a:ext cx="218885" cy="246888"/>
          </a:xfrm>
          <a:prstGeom prst="roundRect">
            <a:avLst>
              <a:gd name="adj" fmla="val 12533"/>
            </a:avLst>
          </a:prstGeom>
          <a:solidFill>
            <a:srgbClr val="3A5078"/>
          </a:solidFill>
          <a:ln/>
        </p:spPr>
      </p:sp>
      <p:sp>
        <p:nvSpPr>
          <p:cNvPr id="92" name="Shape 89"/>
          <p:cNvSpPr/>
          <p:nvPr/>
        </p:nvSpPr>
        <p:spPr>
          <a:xfrm>
            <a:off x="8268748" y="3310128"/>
            <a:ext cx="282130" cy="246888"/>
          </a:xfrm>
          <a:prstGeom prst="roundRect">
            <a:avLst>
              <a:gd name="adj" fmla="val 11111"/>
            </a:avLst>
          </a:prstGeom>
          <a:solidFill>
            <a:srgbClr val="3A5078"/>
          </a:solidFill>
          <a:ln/>
        </p:spPr>
      </p:sp>
      <p:sp>
        <p:nvSpPr>
          <p:cNvPr id="93" name="Shape 90"/>
          <p:cNvSpPr/>
          <p:nvPr/>
        </p:nvSpPr>
        <p:spPr>
          <a:xfrm>
            <a:off x="8648224" y="3310128"/>
            <a:ext cx="290036" cy="246888"/>
          </a:xfrm>
          <a:prstGeom prst="roundRect">
            <a:avLst>
              <a:gd name="adj" fmla="val 11111"/>
            </a:avLst>
          </a:prstGeom>
          <a:solidFill>
            <a:srgbClr val="3A5078"/>
          </a:solidFill>
          <a:ln/>
        </p:spPr>
      </p:sp>
      <p:sp>
        <p:nvSpPr>
          <p:cNvPr id="94" name="Shape 91"/>
          <p:cNvSpPr/>
          <p:nvPr/>
        </p:nvSpPr>
        <p:spPr>
          <a:xfrm>
            <a:off x="9043511" y="3310128"/>
            <a:ext cx="203073" cy="246888"/>
          </a:xfrm>
          <a:prstGeom prst="roundRect">
            <a:avLst>
              <a:gd name="adj" fmla="val 13508"/>
            </a:avLst>
          </a:prstGeom>
          <a:solidFill>
            <a:srgbClr val="3A9B97"/>
          </a:solidFill>
          <a:ln/>
        </p:spPr>
      </p:sp>
      <p:sp>
        <p:nvSpPr>
          <p:cNvPr id="95" name="Shape 92"/>
          <p:cNvSpPr/>
          <p:nvPr/>
        </p:nvSpPr>
        <p:spPr>
          <a:xfrm>
            <a:off x="9343930" y="3310128"/>
            <a:ext cx="218885" cy="246888"/>
          </a:xfrm>
          <a:prstGeom prst="roundRect">
            <a:avLst>
              <a:gd name="adj" fmla="val 12533"/>
            </a:avLst>
          </a:prstGeom>
          <a:ln w="7620">
            <a:solidFill>
              <a:srgbClr val="CBC2AB"/>
            </a:solidFill>
            <a:prstDash val="dash"/>
          </a:ln>
        </p:spPr>
      </p:sp>
      <p:sp>
        <p:nvSpPr>
          <p:cNvPr id="96" name="Shape 93"/>
          <p:cNvSpPr/>
          <p:nvPr/>
        </p:nvSpPr>
        <p:spPr>
          <a:xfrm>
            <a:off x="9668066" y="3310128"/>
            <a:ext cx="218884" cy="246888"/>
          </a:xfrm>
          <a:prstGeom prst="roundRect">
            <a:avLst>
              <a:gd name="adj" fmla="val 12533"/>
            </a:avLst>
          </a:prstGeom>
          <a:ln w="7620">
            <a:solidFill>
              <a:srgbClr val="CBC2AB"/>
            </a:solidFill>
            <a:prstDash val="dash"/>
          </a:ln>
        </p:spPr>
      </p:sp>
      <p:sp>
        <p:nvSpPr>
          <p:cNvPr id="97" name="Shape 94"/>
          <p:cNvSpPr/>
          <p:nvPr/>
        </p:nvSpPr>
        <p:spPr>
          <a:xfrm>
            <a:off x="9992201" y="3310128"/>
            <a:ext cx="282130" cy="246888"/>
          </a:xfrm>
          <a:prstGeom prst="roundRect">
            <a:avLst>
              <a:gd name="adj" fmla="val 11111"/>
            </a:avLst>
          </a:prstGeom>
          <a:ln w="7620">
            <a:solidFill>
              <a:srgbClr val="CBC2AB"/>
            </a:solidFill>
            <a:prstDash val="dash"/>
          </a:ln>
        </p:spPr>
      </p:sp>
      <p:sp>
        <p:nvSpPr>
          <p:cNvPr id="98" name="Shape 95"/>
          <p:cNvSpPr/>
          <p:nvPr/>
        </p:nvSpPr>
        <p:spPr>
          <a:xfrm>
            <a:off x="10355866" y="3310128"/>
            <a:ext cx="250508" cy="246888"/>
          </a:xfrm>
          <a:prstGeom prst="roundRect">
            <a:avLst>
              <a:gd name="adj" fmla="val 11111"/>
            </a:avLst>
          </a:prstGeom>
          <a:ln w="7620">
            <a:solidFill>
              <a:srgbClr val="CBC2AB"/>
            </a:solidFill>
            <a:prstDash val="dash"/>
          </a:ln>
        </p:spPr>
      </p:sp>
      <p:sp>
        <p:nvSpPr>
          <p:cNvPr id="99" name="Shape 96"/>
          <p:cNvSpPr/>
          <p:nvPr/>
        </p:nvSpPr>
        <p:spPr>
          <a:xfrm>
            <a:off x="10664190" y="3310128"/>
            <a:ext cx="218885" cy="246888"/>
          </a:xfrm>
          <a:prstGeom prst="roundRect">
            <a:avLst>
              <a:gd name="adj" fmla="val 12533"/>
            </a:avLst>
          </a:prstGeom>
          <a:ln w="7620">
            <a:solidFill>
              <a:srgbClr val="CBC2AB"/>
            </a:solidFill>
            <a:prstDash val="dash"/>
          </a:ln>
        </p:spPr>
      </p:sp>
      <p:sp>
        <p:nvSpPr>
          <p:cNvPr id="100" name="Shape 97"/>
          <p:cNvSpPr/>
          <p:nvPr/>
        </p:nvSpPr>
        <p:spPr>
          <a:xfrm>
            <a:off x="10917174" y="3310128"/>
            <a:ext cx="203073" cy="246888"/>
          </a:xfrm>
          <a:prstGeom prst="roundRect">
            <a:avLst>
              <a:gd name="adj" fmla="val 13508"/>
            </a:avLst>
          </a:prstGeom>
          <a:ln w="7620">
            <a:solidFill>
              <a:srgbClr val="CBC2AB"/>
            </a:solidFill>
            <a:prstDash val="dash"/>
          </a:ln>
        </p:spPr>
      </p:sp>
      <p:sp>
        <p:nvSpPr>
          <p:cNvPr id="101" name="Shape 98"/>
          <p:cNvSpPr/>
          <p:nvPr/>
        </p:nvSpPr>
        <p:spPr>
          <a:xfrm>
            <a:off x="11162252" y="3310128"/>
            <a:ext cx="274225" cy="246888"/>
          </a:xfrm>
          <a:prstGeom prst="roundRect">
            <a:avLst>
              <a:gd name="adj" fmla="val 11111"/>
            </a:avLst>
          </a:prstGeom>
          <a:ln w="7620">
            <a:solidFill>
              <a:srgbClr val="CBC2AB"/>
            </a:solidFill>
            <a:prstDash val="dash"/>
          </a:ln>
        </p:spPr>
      </p:sp>
      <p:sp>
        <p:nvSpPr>
          <p:cNvPr id="102" name="Shape 99"/>
          <p:cNvSpPr/>
          <p:nvPr/>
        </p:nvSpPr>
        <p:spPr>
          <a:xfrm>
            <a:off x="11470576" y="3310128"/>
            <a:ext cx="234696" cy="246888"/>
          </a:xfrm>
          <a:prstGeom prst="roundRect">
            <a:avLst>
              <a:gd name="adj" fmla="val 11688"/>
            </a:avLst>
          </a:prstGeom>
          <a:ln w="7620">
            <a:solidFill>
              <a:srgbClr val="CBC2AB"/>
            </a:solidFill>
            <a:prstDash val="dash"/>
          </a:ln>
        </p:spPr>
      </p:sp>
      <p:sp>
        <p:nvSpPr>
          <p:cNvPr id="103" name="Text 100"/>
          <p:cNvSpPr txBox="1"/>
          <p:nvPr/>
        </p:nvSpPr>
        <p:spPr>
          <a:xfrm>
            <a:off x="6903720" y="3840480"/>
            <a:ext cx="685800" cy="228600"/>
          </a:xfrm>
          <a:prstGeom prst="rect">
            <a:avLst/>
          </a:prstGeom>
          <a:noFill/>
          <a:ln/>
        </p:spPr>
        <p:txBody>
          <a:bodyPr wrap="square" lIns="0" tIns="0" rIns="0" bIns="0" rtlCol="0" anchor="t"/>
          <a:lstStyle/>
          <a:p>
            <a:pPr marL="0" indent="0">
              <a:buNone/>
            </a:pPr>
            <a:r>
              <a:rPr lang="en-US" sz="800" b="1" dirty="0">
                <a:solidFill>
                  <a:srgbClr val="CBC2AB"/>
                </a:solidFill>
                <a:latin typeface="Consolas" pitchFamily="34" charset="0"/>
                <a:ea typeface="Consolas" pitchFamily="34" charset="-122"/>
                <a:cs typeface="Consolas" pitchFamily="34" charset="-120"/>
              </a:rPr>
              <a:t>GP-2</a:t>
            </a:r>
            <a:endParaRPr lang="en-US" sz="800" dirty="0"/>
          </a:p>
        </p:txBody>
      </p:sp>
      <p:sp>
        <p:nvSpPr>
          <p:cNvPr id="104" name="Shape 101"/>
          <p:cNvSpPr/>
          <p:nvPr/>
        </p:nvSpPr>
        <p:spPr>
          <a:xfrm>
            <a:off x="8007858" y="3822192"/>
            <a:ext cx="218885" cy="246888"/>
          </a:xfrm>
          <a:prstGeom prst="roundRect">
            <a:avLst>
              <a:gd name="adj" fmla="val 12533"/>
            </a:avLst>
          </a:prstGeom>
          <a:solidFill>
            <a:srgbClr val="3A5078"/>
          </a:solidFill>
          <a:ln/>
        </p:spPr>
      </p:sp>
      <p:sp>
        <p:nvSpPr>
          <p:cNvPr id="105" name="Shape 102"/>
          <p:cNvSpPr/>
          <p:nvPr/>
        </p:nvSpPr>
        <p:spPr>
          <a:xfrm>
            <a:off x="8300371" y="3822192"/>
            <a:ext cx="250507" cy="246888"/>
          </a:xfrm>
          <a:prstGeom prst="roundRect">
            <a:avLst>
              <a:gd name="adj" fmla="val 11111"/>
            </a:avLst>
          </a:prstGeom>
          <a:solidFill>
            <a:srgbClr val="3A5078"/>
          </a:solidFill>
          <a:ln/>
        </p:spPr>
      </p:sp>
      <p:sp>
        <p:nvSpPr>
          <p:cNvPr id="106" name="Shape 103"/>
          <p:cNvSpPr/>
          <p:nvPr/>
        </p:nvSpPr>
        <p:spPr>
          <a:xfrm>
            <a:off x="8616601" y="3822192"/>
            <a:ext cx="250507" cy="246888"/>
          </a:xfrm>
          <a:prstGeom prst="roundRect">
            <a:avLst>
              <a:gd name="adj" fmla="val 11111"/>
            </a:avLst>
          </a:prstGeom>
          <a:solidFill>
            <a:srgbClr val="3A5078"/>
          </a:solidFill>
          <a:ln/>
        </p:spPr>
      </p:sp>
      <p:sp>
        <p:nvSpPr>
          <p:cNvPr id="107" name="Shape 104"/>
          <p:cNvSpPr/>
          <p:nvPr/>
        </p:nvSpPr>
        <p:spPr>
          <a:xfrm>
            <a:off x="10450735" y="3822192"/>
            <a:ext cx="218884" cy="246888"/>
          </a:xfrm>
          <a:prstGeom prst="roundRect">
            <a:avLst>
              <a:gd name="adj" fmla="val 12533"/>
            </a:avLst>
          </a:prstGeom>
          <a:ln w="7620">
            <a:solidFill>
              <a:srgbClr val="CBC2AB"/>
            </a:solidFill>
            <a:prstDash val="dash"/>
          </a:ln>
        </p:spPr>
      </p:sp>
      <p:sp>
        <p:nvSpPr>
          <p:cNvPr id="108" name="Shape 105"/>
          <p:cNvSpPr/>
          <p:nvPr/>
        </p:nvSpPr>
        <p:spPr>
          <a:xfrm>
            <a:off x="10735342" y="3822192"/>
            <a:ext cx="218885" cy="246888"/>
          </a:xfrm>
          <a:prstGeom prst="roundRect">
            <a:avLst>
              <a:gd name="adj" fmla="val 12533"/>
            </a:avLst>
          </a:prstGeom>
          <a:ln w="7620">
            <a:solidFill>
              <a:srgbClr val="CBC2AB"/>
            </a:solidFill>
            <a:prstDash val="dash"/>
          </a:ln>
        </p:spPr>
      </p:sp>
      <p:sp>
        <p:nvSpPr>
          <p:cNvPr id="109" name="Shape 106"/>
          <p:cNvSpPr/>
          <p:nvPr/>
        </p:nvSpPr>
        <p:spPr>
          <a:xfrm>
            <a:off x="11043666" y="3822192"/>
            <a:ext cx="266319" cy="246888"/>
          </a:xfrm>
          <a:prstGeom prst="roundRect">
            <a:avLst>
              <a:gd name="adj" fmla="val 11111"/>
            </a:avLst>
          </a:prstGeom>
          <a:ln w="7620">
            <a:solidFill>
              <a:srgbClr val="CBC2AB"/>
            </a:solidFill>
            <a:prstDash val="dash"/>
          </a:ln>
        </p:spPr>
      </p:sp>
      <p:sp>
        <p:nvSpPr>
          <p:cNvPr id="110" name="Shape 107"/>
          <p:cNvSpPr/>
          <p:nvPr/>
        </p:nvSpPr>
        <p:spPr>
          <a:xfrm>
            <a:off x="11375707" y="3822192"/>
            <a:ext cx="210979" cy="246888"/>
          </a:xfrm>
          <a:prstGeom prst="roundRect">
            <a:avLst>
              <a:gd name="adj" fmla="val 13002"/>
            </a:avLst>
          </a:prstGeom>
          <a:ln w="7620">
            <a:solidFill>
              <a:srgbClr val="CBC2AB"/>
            </a:solidFill>
            <a:prstDash val="dash"/>
          </a:ln>
        </p:spPr>
      </p:sp>
      <p:sp>
        <p:nvSpPr>
          <p:cNvPr id="111" name="S1_outage"/>
          <p:cNvSpPr/>
          <p:nvPr/>
        </p:nvSpPr>
        <p:spPr>
          <a:xfrm>
            <a:off x="9003983" y="3803904"/>
            <a:ext cx="1423035" cy="283464"/>
          </a:xfrm>
          <a:prstGeom prst="roundRect">
            <a:avLst>
              <a:gd name="adj" fmla="val 9677"/>
            </a:avLst>
          </a:prstGeom>
          <a:solidFill>
            <a:srgbClr val="B4642F">
              <a:alpha val="65000"/>
            </a:srgbClr>
          </a:solidFill>
          <a:ln w="12700">
            <a:solidFill>
              <a:srgbClr val="CF8250"/>
            </a:solidFill>
            <a:prstDash val="solid"/>
          </a:ln>
        </p:spPr>
      </p:sp>
      <p:sp>
        <p:nvSpPr>
          <p:cNvPr id="112" name="Text 109"/>
          <p:cNvSpPr txBox="1"/>
          <p:nvPr/>
        </p:nvSpPr>
        <p:spPr>
          <a:xfrm>
            <a:off x="9253538" y="3858768"/>
            <a:ext cx="1645920" cy="182880"/>
          </a:xfrm>
          <a:prstGeom prst="rect">
            <a:avLst/>
          </a:prstGeom>
          <a:noFill/>
          <a:ln/>
        </p:spPr>
        <p:txBody>
          <a:bodyPr wrap="square" lIns="0" tIns="0" rIns="0" bIns="0" rtlCol="0" anchor="t"/>
          <a:lstStyle/>
          <a:p>
            <a:pPr marL="0" indent="0">
              <a:buNone/>
            </a:pPr>
            <a:r>
              <a:rPr lang="en-US" sz="700" b="1" dirty="0">
                <a:solidFill>
                  <a:srgbClr val="FFFFFF"/>
                </a:solidFill>
                <a:latin typeface="Consolas" pitchFamily="34" charset="0"/>
                <a:ea typeface="Consolas" pitchFamily="34" charset="-122"/>
                <a:cs typeface="Consolas" pitchFamily="34" charset="-120"/>
              </a:rPr>
              <a:t>OUTAGE · 10:30–13:30</a:t>
            </a:r>
            <a:endParaRPr lang="en-US" sz="700" dirty="0"/>
          </a:p>
        </p:txBody>
      </p:sp>
      <p:sp>
        <p:nvSpPr>
          <p:cNvPr id="113" name="Text 110"/>
          <p:cNvSpPr txBox="1"/>
          <p:nvPr/>
        </p:nvSpPr>
        <p:spPr>
          <a:xfrm>
            <a:off x="6903720" y="4352544"/>
            <a:ext cx="685800" cy="228600"/>
          </a:xfrm>
          <a:prstGeom prst="rect">
            <a:avLst/>
          </a:prstGeom>
          <a:noFill/>
          <a:ln/>
        </p:spPr>
        <p:txBody>
          <a:bodyPr wrap="square" lIns="0" tIns="0" rIns="0" bIns="0" rtlCol="0" anchor="t"/>
          <a:lstStyle/>
          <a:p>
            <a:pPr marL="0" indent="0">
              <a:buNone/>
            </a:pPr>
            <a:r>
              <a:rPr lang="en-US" sz="800" b="1" dirty="0">
                <a:solidFill>
                  <a:srgbClr val="CBC2AB"/>
                </a:solidFill>
                <a:latin typeface="Consolas" pitchFamily="34" charset="0"/>
                <a:ea typeface="Consolas" pitchFamily="34" charset="-122"/>
                <a:cs typeface="Consolas" pitchFamily="34" charset="-120"/>
              </a:rPr>
              <a:t>GP-3</a:t>
            </a:r>
            <a:endParaRPr lang="en-US" sz="800" dirty="0"/>
          </a:p>
        </p:txBody>
      </p:sp>
      <p:sp>
        <p:nvSpPr>
          <p:cNvPr id="114" name="Shape 111"/>
          <p:cNvSpPr/>
          <p:nvPr/>
        </p:nvSpPr>
        <p:spPr>
          <a:xfrm>
            <a:off x="7865555" y="4334256"/>
            <a:ext cx="258413" cy="246888"/>
          </a:xfrm>
          <a:prstGeom prst="roundRect">
            <a:avLst>
              <a:gd name="adj" fmla="val 11111"/>
            </a:avLst>
          </a:prstGeom>
          <a:solidFill>
            <a:srgbClr val="3A5078"/>
          </a:solidFill>
          <a:ln/>
        </p:spPr>
      </p:sp>
      <p:sp>
        <p:nvSpPr>
          <p:cNvPr id="115" name="Shape 112"/>
          <p:cNvSpPr/>
          <p:nvPr/>
        </p:nvSpPr>
        <p:spPr>
          <a:xfrm>
            <a:off x="8165973" y="4334256"/>
            <a:ext cx="282130" cy="246888"/>
          </a:xfrm>
          <a:prstGeom prst="roundRect">
            <a:avLst>
              <a:gd name="adj" fmla="val 11111"/>
            </a:avLst>
          </a:prstGeom>
          <a:solidFill>
            <a:srgbClr val="3A5078"/>
          </a:solidFill>
          <a:ln/>
        </p:spPr>
      </p:sp>
      <p:sp>
        <p:nvSpPr>
          <p:cNvPr id="116" name="Shape 113"/>
          <p:cNvSpPr/>
          <p:nvPr/>
        </p:nvSpPr>
        <p:spPr>
          <a:xfrm>
            <a:off x="8505920" y="4334256"/>
            <a:ext cx="258413" cy="246888"/>
          </a:xfrm>
          <a:prstGeom prst="roundRect">
            <a:avLst>
              <a:gd name="adj" fmla="val 11111"/>
            </a:avLst>
          </a:prstGeom>
          <a:solidFill>
            <a:srgbClr val="3A5078"/>
          </a:solidFill>
          <a:ln/>
        </p:spPr>
      </p:sp>
      <p:sp>
        <p:nvSpPr>
          <p:cNvPr id="117" name="Shape 114"/>
          <p:cNvSpPr/>
          <p:nvPr/>
        </p:nvSpPr>
        <p:spPr>
          <a:xfrm>
            <a:off x="8830056" y="4334256"/>
            <a:ext cx="226790" cy="246888"/>
          </a:xfrm>
          <a:prstGeom prst="roundRect">
            <a:avLst>
              <a:gd name="adj" fmla="val 12096"/>
            </a:avLst>
          </a:prstGeom>
          <a:solidFill>
            <a:srgbClr val="3A5078"/>
          </a:solidFill>
          <a:ln/>
        </p:spPr>
      </p:sp>
      <p:sp>
        <p:nvSpPr>
          <p:cNvPr id="118" name="Shape 115"/>
          <p:cNvSpPr/>
          <p:nvPr/>
        </p:nvSpPr>
        <p:spPr>
          <a:xfrm>
            <a:off x="9114663" y="4334256"/>
            <a:ext cx="266319" cy="246888"/>
          </a:xfrm>
          <a:prstGeom prst="roundRect">
            <a:avLst>
              <a:gd name="adj" fmla="val 11111"/>
            </a:avLst>
          </a:prstGeom>
          <a:solidFill>
            <a:srgbClr val="3A9B97"/>
          </a:solidFill>
          <a:ln/>
        </p:spPr>
      </p:sp>
      <p:sp>
        <p:nvSpPr>
          <p:cNvPr id="119" name="Shape 116"/>
          <p:cNvSpPr/>
          <p:nvPr/>
        </p:nvSpPr>
        <p:spPr>
          <a:xfrm>
            <a:off x="9438799" y="4334256"/>
            <a:ext cx="203073" cy="246888"/>
          </a:xfrm>
          <a:prstGeom prst="roundRect">
            <a:avLst>
              <a:gd name="adj" fmla="val 13508"/>
            </a:avLst>
          </a:prstGeom>
          <a:ln w="7620">
            <a:solidFill>
              <a:srgbClr val="CBC2AB"/>
            </a:solidFill>
            <a:prstDash val="dash"/>
          </a:ln>
        </p:spPr>
      </p:sp>
      <p:sp>
        <p:nvSpPr>
          <p:cNvPr id="120" name="Shape 117"/>
          <p:cNvSpPr/>
          <p:nvPr/>
        </p:nvSpPr>
        <p:spPr>
          <a:xfrm>
            <a:off x="9731312" y="4334256"/>
            <a:ext cx="250507" cy="246888"/>
          </a:xfrm>
          <a:prstGeom prst="roundRect">
            <a:avLst>
              <a:gd name="adj" fmla="val 11111"/>
            </a:avLst>
          </a:prstGeom>
          <a:ln w="7620">
            <a:solidFill>
              <a:srgbClr val="CBC2AB"/>
            </a:solidFill>
            <a:prstDash val="dash"/>
          </a:ln>
        </p:spPr>
      </p:sp>
      <p:sp>
        <p:nvSpPr>
          <p:cNvPr id="121" name="Shape 118"/>
          <p:cNvSpPr/>
          <p:nvPr/>
        </p:nvSpPr>
        <p:spPr>
          <a:xfrm>
            <a:off x="10063353" y="4334256"/>
            <a:ext cx="274225" cy="246888"/>
          </a:xfrm>
          <a:prstGeom prst="roundRect">
            <a:avLst>
              <a:gd name="adj" fmla="val 11111"/>
            </a:avLst>
          </a:prstGeom>
          <a:ln w="7620">
            <a:solidFill>
              <a:srgbClr val="CBC2AB"/>
            </a:solidFill>
            <a:prstDash val="dash"/>
          </a:ln>
        </p:spPr>
      </p:sp>
      <p:sp>
        <p:nvSpPr>
          <p:cNvPr id="122" name="Shape 119"/>
          <p:cNvSpPr/>
          <p:nvPr/>
        </p:nvSpPr>
        <p:spPr>
          <a:xfrm>
            <a:off x="10411206" y="4334256"/>
            <a:ext cx="226790" cy="246888"/>
          </a:xfrm>
          <a:prstGeom prst="roundRect">
            <a:avLst>
              <a:gd name="adj" fmla="val 12096"/>
            </a:avLst>
          </a:prstGeom>
          <a:ln w="7620">
            <a:solidFill>
              <a:srgbClr val="CBC2AB"/>
            </a:solidFill>
            <a:prstDash val="dash"/>
          </a:ln>
        </p:spPr>
      </p:sp>
      <p:sp>
        <p:nvSpPr>
          <p:cNvPr id="123" name="Shape 120"/>
          <p:cNvSpPr/>
          <p:nvPr/>
        </p:nvSpPr>
        <p:spPr>
          <a:xfrm>
            <a:off x="10687907" y="4334256"/>
            <a:ext cx="290036" cy="246888"/>
          </a:xfrm>
          <a:prstGeom prst="roundRect">
            <a:avLst>
              <a:gd name="adj" fmla="val 11111"/>
            </a:avLst>
          </a:prstGeom>
          <a:ln w="7620">
            <a:solidFill>
              <a:srgbClr val="CBC2AB"/>
            </a:solidFill>
            <a:prstDash val="dash"/>
          </a:ln>
        </p:spPr>
      </p:sp>
      <p:sp>
        <p:nvSpPr>
          <p:cNvPr id="124" name="Shape 121"/>
          <p:cNvSpPr/>
          <p:nvPr/>
        </p:nvSpPr>
        <p:spPr>
          <a:xfrm>
            <a:off x="11067383" y="4334256"/>
            <a:ext cx="203073" cy="246888"/>
          </a:xfrm>
          <a:prstGeom prst="roundRect">
            <a:avLst>
              <a:gd name="adj" fmla="val 13508"/>
            </a:avLst>
          </a:prstGeom>
          <a:ln w="7620">
            <a:solidFill>
              <a:srgbClr val="CBC2AB"/>
            </a:solidFill>
            <a:prstDash val="dash"/>
          </a:ln>
        </p:spPr>
      </p:sp>
      <p:sp>
        <p:nvSpPr>
          <p:cNvPr id="125" name="Shape 122"/>
          <p:cNvSpPr/>
          <p:nvPr/>
        </p:nvSpPr>
        <p:spPr>
          <a:xfrm>
            <a:off x="11328273" y="4334256"/>
            <a:ext cx="250507" cy="246888"/>
          </a:xfrm>
          <a:prstGeom prst="roundRect">
            <a:avLst>
              <a:gd name="adj" fmla="val 11111"/>
            </a:avLst>
          </a:prstGeom>
          <a:ln w="7620">
            <a:solidFill>
              <a:srgbClr val="CBC2AB"/>
            </a:solidFill>
            <a:prstDash val="dash"/>
          </a:ln>
        </p:spPr>
      </p:sp>
      <p:sp>
        <p:nvSpPr>
          <p:cNvPr id="126" name="Text 123"/>
          <p:cNvSpPr txBox="1"/>
          <p:nvPr/>
        </p:nvSpPr>
        <p:spPr>
          <a:xfrm>
            <a:off x="6903720" y="4864608"/>
            <a:ext cx="685800" cy="228600"/>
          </a:xfrm>
          <a:prstGeom prst="rect">
            <a:avLst/>
          </a:prstGeom>
          <a:noFill/>
          <a:ln/>
        </p:spPr>
        <p:txBody>
          <a:bodyPr wrap="square" lIns="0" tIns="0" rIns="0" bIns="0" rtlCol="0" anchor="t"/>
          <a:lstStyle/>
          <a:p>
            <a:pPr marL="0" indent="0">
              <a:buNone/>
            </a:pPr>
            <a:r>
              <a:rPr lang="en-US" sz="800" b="1" dirty="0">
                <a:solidFill>
                  <a:srgbClr val="CBC2AB"/>
                </a:solidFill>
                <a:latin typeface="Consolas" pitchFamily="34" charset="0"/>
                <a:ea typeface="Consolas" pitchFamily="34" charset="-122"/>
                <a:cs typeface="Consolas" pitchFamily="34" charset="-120"/>
              </a:rPr>
              <a:t>LAB-1</a:t>
            </a:r>
            <a:endParaRPr lang="en-US" sz="800" dirty="0"/>
          </a:p>
        </p:txBody>
      </p:sp>
      <p:sp>
        <p:nvSpPr>
          <p:cNvPr id="127" name="Shape 124"/>
          <p:cNvSpPr/>
          <p:nvPr/>
        </p:nvSpPr>
        <p:spPr>
          <a:xfrm>
            <a:off x="7936706" y="4846320"/>
            <a:ext cx="195167" cy="246888"/>
          </a:xfrm>
          <a:prstGeom prst="roundRect">
            <a:avLst>
              <a:gd name="adj" fmla="val 14056"/>
            </a:avLst>
          </a:prstGeom>
          <a:solidFill>
            <a:srgbClr val="3A5078"/>
          </a:solidFill>
          <a:ln/>
        </p:spPr>
      </p:sp>
      <p:sp>
        <p:nvSpPr>
          <p:cNvPr id="128" name="Shape 125"/>
          <p:cNvSpPr/>
          <p:nvPr/>
        </p:nvSpPr>
        <p:spPr>
          <a:xfrm>
            <a:off x="8458486" y="4846320"/>
            <a:ext cx="195167" cy="246888"/>
          </a:xfrm>
          <a:prstGeom prst="roundRect">
            <a:avLst>
              <a:gd name="adj" fmla="val 14056"/>
            </a:avLst>
          </a:prstGeom>
          <a:solidFill>
            <a:srgbClr val="3A5078"/>
          </a:solidFill>
          <a:ln/>
        </p:spPr>
      </p:sp>
      <p:sp>
        <p:nvSpPr>
          <p:cNvPr id="129" name="Shape 126"/>
          <p:cNvSpPr/>
          <p:nvPr/>
        </p:nvSpPr>
        <p:spPr>
          <a:xfrm>
            <a:off x="8861679" y="4846320"/>
            <a:ext cx="195167" cy="246888"/>
          </a:xfrm>
          <a:prstGeom prst="roundRect">
            <a:avLst>
              <a:gd name="adj" fmla="val 14056"/>
            </a:avLst>
          </a:prstGeom>
          <a:solidFill>
            <a:srgbClr val="3A5078"/>
          </a:solidFill>
          <a:ln/>
        </p:spPr>
      </p:sp>
      <p:sp>
        <p:nvSpPr>
          <p:cNvPr id="130" name="Shape 127"/>
          <p:cNvSpPr/>
          <p:nvPr/>
        </p:nvSpPr>
        <p:spPr>
          <a:xfrm>
            <a:off x="9328118" y="4846320"/>
            <a:ext cx="163544" cy="246888"/>
          </a:xfrm>
          <a:prstGeom prst="roundRect">
            <a:avLst>
              <a:gd name="adj" fmla="val 16773"/>
            </a:avLst>
          </a:prstGeom>
          <a:ln w="7620">
            <a:solidFill>
              <a:srgbClr val="CBC2AB"/>
            </a:solidFill>
            <a:prstDash val="dash"/>
          </a:ln>
        </p:spPr>
      </p:sp>
      <p:sp>
        <p:nvSpPr>
          <p:cNvPr id="131" name="Shape 128"/>
          <p:cNvSpPr/>
          <p:nvPr/>
        </p:nvSpPr>
        <p:spPr>
          <a:xfrm>
            <a:off x="9960578" y="4846320"/>
            <a:ext cx="147733" cy="246888"/>
          </a:xfrm>
          <a:prstGeom prst="roundRect">
            <a:avLst>
              <a:gd name="adj" fmla="val 18569"/>
            </a:avLst>
          </a:prstGeom>
          <a:ln w="7620">
            <a:solidFill>
              <a:srgbClr val="CBC2AB"/>
            </a:solidFill>
            <a:prstDash val="dash"/>
          </a:ln>
        </p:spPr>
      </p:sp>
      <p:sp>
        <p:nvSpPr>
          <p:cNvPr id="132" name="Shape 129"/>
          <p:cNvSpPr/>
          <p:nvPr/>
        </p:nvSpPr>
        <p:spPr>
          <a:xfrm>
            <a:off x="10347960" y="4846320"/>
            <a:ext cx="195167" cy="246888"/>
          </a:xfrm>
          <a:prstGeom prst="roundRect">
            <a:avLst>
              <a:gd name="adj" fmla="val 14056"/>
            </a:avLst>
          </a:prstGeom>
          <a:ln w="7620">
            <a:solidFill>
              <a:srgbClr val="CBC2AB"/>
            </a:solidFill>
            <a:prstDash val="dash"/>
          </a:ln>
        </p:spPr>
      </p:sp>
      <p:sp>
        <p:nvSpPr>
          <p:cNvPr id="133" name="Shape 130"/>
          <p:cNvSpPr/>
          <p:nvPr/>
        </p:nvSpPr>
        <p:spPr>
          <a:xfrm>
            <a:off x="10782776" y="4846320"/>
            <a:ext cx="155638" cy="246888"/>
          </a:xfrm>
          <a:prstGeom prst="roundRect">
            <a:avLst>
              <a:gd name="adj" fmla="val 17626"/>
            </a:avLst>
          </a:prstGeom>
          <a:ln w="7620">
            <a:solidFill>
              <a:srgbClr val="CBC2AB"/>
            </a:solidFill>
            <a:prstDash val="dash"/>
          </a:ln>
        </p:spPr>
      </p:sp>
      <p:sp>
        <p:nvSpPr>
          <p:cNvPr id="134" name="Shape 131"/>
          <p:cNvSpPr/>
          <p:nvPr/>
        </p:nvSpPr>
        <p:spPr>
          <a:xfrm>
            <a:off x="11154346" y="4846320"/>
            <a:ext cx="171450" cy="246888"/>
          </a:xfrm>
          <a:prstGeom prst="roundRect">
            <a:avLst>
              <a:gd name="adj" fmla="val 16000"/>
            </a:avLst>
          </a:prstGeom>
          <a:ln w="7620">
            <a:solidFill>
              <a:srgbClr val="CBC2AB"/>
            </a:solidFill>
            <a:prstDash val="dash"/>
          </a:ln>
        </p:spPr>
      </p:sp>
      <p:sp>
        <p:nvSpPr>
          <p:cNvPr id="135" name="Text 132"/>
          <p:cNvSpPr txBox="1"/>
          <p:nvPr/>
        </p:nvSpPr>
        <p:spPr>
          <a:xfrm>
            <a:off x="6903720" y="5376672"/>
            <a:ext cx="685800" cy="228600"/>
          </a:xfrm>
          <a:prstGeom prst="rect">
            <a:avLst/>
          </a:prstGeom>
          <a:noFill/>
          <a:ln/>
        </p:spPr>
        <p:txBody>
          <a:bodyPr wrap="square" lIns="0" tIns="0" rIns="0" bIns="0" rtlCol="0" anchor="t"/>
          <a:lstStyle/>
          <a:p>
            <a:pPr marL="0" indent="0">
              <a:buNone/>
            </a:pPr>
            <a:r>
              <a:rPr lang="en-US" sz="800" b="1" dirty="0">
                <a:solidFill>
                  <a:srgbClr val="CBC2AB"/>
                </a:solidFill>
                <a:latin typeface="Consolas" pitchFamily="34" charset="0"/>
                <a:ea typeface="Consolas" pitchFamily="34" charset="-122"/>
                <a:cs typeface="Consolas" pitchFamily="34" charset="-120"/>
              </a:rPr>
              <a:t>CHK-1</a:t>
            </a:r>
            <a:endParaRPr lang="en-US" sz="800" dirty="0"/>
          </a:p>
        </p:txBody>
      </p:sp>
      <p:sp>
        <p:nvSpPr>
          <p:cNvPr id="136" name="Shape 133"/>
          <p:cNvSpPr/>
          <p:nvPr/>
        </p:nvSpPr>
        <p:spPr>
          <a:xfrm>
            <a:off x="7960424" y="5358384"/>
            <a:ext cx="100298" cy="246888"/>
          </a:xfrm>
          <a:prstGeom prst="roundRect">
            <a:avLst>
              <a:gd name="adj" fmla="val 27350"/>
            </a:avLst>
          </a:prstGeom>
          <a:solidFill>
            <a:srgbClr val="3A5078"/>
          </a:solidFill>
          <a:ln/>
        </p:spPr>
      </p:sp>
      <p:sp>
        <p:nvSpPr>
          <p:cNvPr id="137" name="Shape 134"/>
          <p:cNvSpPr/>
          <p:nvPr/>
        </p:nvSpPr>
        <p:spPr>
          <a:xfrm>
            <a:off x="8158067" y="5358384"/>
            <a:ext cx="60770" cy="246888"/>
          </a:xfrm>
          <a:prstGeom prst="roundRect">
            <a:avLst>
              <a:gd name="adj" fmla="val 45141"/>
            </a:avLst>
          </a:prstGeom>
          <a:solidFill>
            <a:srgbClr val="3A5078"/>
          </a:solidFill>
          <a:ln/>
        </p:spPr>
      </p:sp>
      <p:sp>
        <p:nvSpPr>
          <p:cNvPr id="138" name="Shape 135"/>
          <p:cNvSpPr/>
          <p:nvPr/>
        </p:nvSpPr>
        <p:spPr>
          <a:xfrm>
            <a:off x="8371523" y="5358384"/>
            <a:ext cx="76581" cy="246888"/>
          </a:xfrm>
          <a:prstGeom prst="roundRect">
            <a:avLst>
              <a:gd name="adj" fmla="val 35821"/>
            </a:avLst>
          </a:prstGeom>
          <a:solidFill>
            <a:srgbClr val="3A5078"/>
          </a:solidFill>
          <a:ln/>
        </p:spPr>
      </p:sp>
      <p:sp>
        <p:nvSpPr>
          <p:cNvPr id="139" name="Shape 136"/>
          <p:cNvSpPr/>
          <p:nvPr/>
        </p:nvSpPr>
        <p:spPr>
          <a:xfrm>
            <a:off x="8498015" y="5358384"/>
            <a:ext cx="84487" cy="246888"/>
          </a:xfrm>
          <a:prstGeom prst="roundRect">
            <a:avLst>
              <a:gd name="adj" fmla="val 32469"/>
            </a:avLst>
          </a:prstGeom>
          <a:solidFill>
            <a:srgbClr val="3A5078"/>
          </a:solidFill>
          <a:ln/>
        </p:spPr>
      </p:sp>
      <p:sp>
        <p:nvSpPr>
          <p:cNvPr id="140" name="Shape 137"/>
          <p:cNvSpPr/>
          <p:nvPr/>
        </p:nvSpPr>
        <p:spPr>
          <a:xfrm>
            <a:off x="8719376" y="5358384"/>
            <a:ext cx="68675" cy="246888"/>
          </a:xfrm>
          <a:prstGeom prst="roundRect">
            <a:avLst>
              <a:gd name="adj" fmla="val 39945"/>
            </a:avLst>
          </a:prstGeom>
          <a:solidFill>
            <a:srgbClr val="3A5078"/>
          </a:solidFill>
          <a:ln/>
        </p:spPr>
      </p:sp>
      <p:sp>
        <p:nvSpPr>
          <p:cNvPr id="141" name="Shape 138"/>
          <p:cNvSpPr/>
          <p:nvPr/>
        </p:nvSpPr>
        <p:spPr>
          <a:xfrm>
            <a:off x="8885396" y="5358384"/>
            <a:ext cx="84487" cy="246888"/>
          </a:xfrm>
          <a:prstGeom prst="roundRect">
            <a:avLst>
              <a:gd name="adj" fmla="val 32469"/>
            </a:avLst>
          </a:prstGeom>
          <a:solidFill>
            <a:srgbClr val="3A5078"/>
          </a:solidFill>
          <a:ln/>
        </p:spPr>
      </p:sp>
      <p:sp>
        <p:nvSpPr>
          <p:cNvPr id="142" name="Shape 139"/>
          <p:cNvSpPr/>
          <p:nvPr/>
        </p:nvSpPr>
        <p:spPr>
          <a:xfrm>
            <a:off x="9122569" y="5358384"/>
            <a:ext cx="100298" cy="246888"/>
          </a:xfrm>
          <a:prstGeom prst="roundRect">
            <a:avLst>
              <a:gd name="adj" fmla="val 27350"/>
            </a:avLst>
          </a:prstGeom>
          <a:solidFill>
            <a:srgbClr val="3A9B97"/>
          </a:solidFill>
          <a:ln/>
        </p:spPr>
      </p:sp>
      <p:sp>
        <p:nvSpPr>
          <p:cNvPr id="143" name="Shape 140"/>
          <p:cNvSpPr/>
          <p:nvPr/>
        </p:nvSpPr>
        <p:spPr>
          <a:xfrm>
            <a:off x="9343930" y="5358384"/>
            <a:ext cx="60769" cy="246888"/>
          </a:xfrm>
          <a:prstGeom prst="roundRect">
            <a:avLst>
              <a:gd name="adj" fmla="val 45141"/>
            </a:avLst>
          </a:prstGeom>
          <a:ln w="7620">
            <a:solidFill>
              <a:srgbClr val="CBC2AB"/>
            </a:solidFill>
            <a:prstDash val="dash"/>
          </a:ln>
        </p:spPr>
      </p:sp>
      <p:sp>
        <p:nvSpPr>
          <p:cNvPr id="144" name="Shape 141"/>
          <p:cNvSpPr/>
          <p:nvPr/>
        </p:nvSpPr>
        <p:spPr>
          <a:xfrm>
            <a:off x="9454610" y="5358384"/>
            <a:ext cx="68675" cy="246888"/>
          </a:xfrm>
          <a:prstGeom prst="roundRect">
            <a:avLst>
              <a:gd name="adj" fmla="val 39945"/>
            </a:avLst>
          </a:prstGeom>
          <a:ln w="7620">
            <a:solidFill>
              <a:srgbClr val="CBC2AB"/>
            </a:solidFill>
            <a:prstDash val="dash"/>
          </a:ln>
        </p:spPr>
      </p:sp>
      <p:sp>
        <p:nvSpPr>
          <p:cNvPr id="145" name="Shape 142"/>
          <p:cNvSpPr/>
          <p:nvPr/>
        </p:nvSpPr>
        <p:spPr>
          <a:xfrm>
            <a:off x="9691783" y="5358384"/>
            <a:ext cx="84487" cy="246888"/>
          </a:xfrm>
          <a:prstGeom prst="roundRect">
            <a:avLst>
              <a:gd name="adj" fmla="val 32469"/>
            </a:avLst>
          </a:prstGeom>
          <a:ln w="7620">
            <a:solidFill>
              <a:srgbClr val="CBC2AB"/>
            </a:solidFill>
            <a:prstDash val="dash"/>
          </a:ln>
        </p:spPr>
      </p:sp>
      <p:sp>
        <p:nvSpPr>
          <p:cNvPr id="146" name="Shape 143"/>
          <p:cNvSpPr/>
          <p:nvPr/>
        </p:nvSpPr>
        <p:spPr>
          <a:xfrm>
            <a:off x="9921050" y="5358384"/>
            <a:ext cx="92393" cy="246888"/>
          </a:xfrm>
          <a:prstGeom prst="roundRect">
            <a:avLst>
              <a:gd name="adj" fmla="val 29691"/>
            </a:avLst>
          </a:prstGeom>
          <a:ln w="7620">
            <a:solidFill>
              <a:srgbClr val="CBC2AB"/>
            </a:solidFill>
            <a:prstDash val="dash"/>
          </a:ln>
        </p:spPr>
      </p:sp>
      <p:sp>
        <p:nvSpPr>
          <p:cNvPr id="147" name="Shape 144"/>
          <p:cNvSpPr/>
          <p:nvPr/>
        </p:nvSpPr>
        <p:spPr>
          <a:xfrm>
            <a:off x="10150316" y="5358384"/>
            <a:ext cx="60769" cy="246888"/>
          </a:xfrm>
          <a:prstGeom prst="roundRect">
            <a:avLst>
              <a:gd name="adj" fmla="val 45141"/>
            </a:avLst>
          </a:prstGeom>
          <a:ln w="7620">
            <a:solidFill>
              <a:srgbClr val="CBC2AB"/>
            </a:solidFill>
            <a:prstDash val="dash"/>
          </a:ln>
        </p:spPr>
      </p:sp>
      <p:sp>
        <p:nvSpPr>
          <p:cNvPr id="148" name="Shape 145"/>
          <p:cNvSpPr/>
          <p:nvPr/>
        </p:nvSpPr>
        <p:spPr>
          <a:xfrm>
            <a:off x="10340054" y="5358384"/>
            <a:ext cx="68675" cy="246888"/>
          </a:xfrm>
          <a:prstGeom prst="roundRect">
            <a:avLst>
              <a:gd name="adj" fmla="val 39945"/>
            </a:avLst>
          </a:prstGeom>
          <a:ln w="7620">
            <a:solidFill>
              <a:srgbClr val="CBC2AB"/>
            </a:solidFill>
            <a:prstDash val="dash"/>
          </a:ln>
        </p:spPr>
      </p:sp>
      <p:sp>
        <p:nvSpPr>
          <p:cNvPr id="149" name="Shape 146"/>
          <p:cNvSpPr/>
          <p:nvPr/>
        </p:nvSpPr>
        <p:spPr>
          <a:xfrm>
            <a:off x="10458641" y="5358384"/>
            <a:ext cx="100298" cy="246888"/>
          </a:xfrm>
          <a:prstGeom prst="roundRect">
            <a:avLst>
              <a:gd name="adj" fmla="val 27350"/>
            </a:avLst>
          </a:prstGeom>
          <a:ln w="7620">
            <a:solidFill>
              <a:srgbClr val="CBC2AB"/>
            </a:solidFill>
            <a:prstDash val="dash"/>
          </a:ln>
        </p:spPr>
      </p:sp>
      <p:sp>
        <p:nvSpPr>
          <p:cNvPr id="150" name="Shape 147"/>
          <p:cNvSpPr/>
          <p:nvPr/>
        </p:nvSpPr>
        <p:spPr>
          <a:xfrm>
            <a:off x="10672096" y="5358384"/>
            <a:ext cx="76581" cy="246888"/>
          </a:xfrm>
          <a:prstGeom prst="roundRect">
            <a:avLst>
              <a:gd name="adj" fmla="val 35821"/>
            </a:avLst>
          </a:prstGeom>
          <a:ln w="7620">
            <a:solidFill>
              <a:srgbClr val="CBC2AB"/>
            </a:solidFill>
            <a:prstDash val="dash"/>
          </a:ln>
        </p:spPr>
      </p:sp>
      <p:sp>
        <p:nvSpPr>
          <p:cNvPr id="151" name="Shape 148"/>
          <p:cNvSpPr/>
          <p:nvPr/>
        </p:nvSpPr>
        <p:spPr>
          <a:xfrm>
            <a:off x="10901363" y="5358384"/>
            <a:ext cx="92393" cy="246888"/>
          </a:xfrm>
          <a:prstGeom prst="roundRect">
            <a:avLst>
              <a:gd name="adj" fmla="val 29691"/>
            </a:avLst>
          </a:prstGeom>
          <a:ln w="7620">
            <a:solidFill>
              <a:srgbClr val="CBC2AB"/>
            </a:solidFill>
            <a:prstDash val="dash"/>
          </a:ln>
        </p:spPr>
      </p:sp>
      <p:sp>
        <p:nvSpPr>
          <p:cNvPr id="152" name="Shape 149"/>
          <p:cNvSpPr/>
          <p:nvPr/>
        </p:nvSpPr>
        <p:spPr>
          <a:xfrm>
            <a:off x="11114818" y="5358384"/>
            <a:ext cx="60769" cy="246888"/>
          </a:xfrm>
          <a:prstGeom prst="roundRect">
            <a:avLst>
              <a:gd name="adj" fmla="val 45141"/>
            </a:avLst>
          </a:prstGeom>
          <a:ln w="7620">
            <a:solidFill>
              <a:srgbClr val="CBC2AB"/>
            </a:solidFill>
            <a:prstDash val="dash"/>
          </a:ln>
        </p:spPr>
      </p:sp>
      <p:sp>
        <p:nvSpPr>
          <p:cNvPr id="153" name="Shape 150"/>
          <p:cNvSpPr/>
          <p:nvPr/>
        </p:nvSpPr>
        <p:spPr>
          <a:xfrm>
            <a:off x="11272933" y="5358384"/>
            <a:ext cx="92393" cy="246888"/>
          </a:xfrm>
          <a:prstGeom prst="roundRect">
            <a:avLst>
              <a:gd name="adj" fmla="val 29691"/>
            </a:avLst>
          </a:prstGeom>
          <a:ln w="7620">
            <a:solidFill>
              <a:srgbClr val="CBC2AB"/>
            </a:solidFill>
            <a:prstDash val="dash"/>
          </a:ln>
        </p:spPr>
      </p:sp>
      <p:sp>
        <p:nvSpPr>
          <p:cNvPr id="154" name="Shape 151"/>
          <p:cNvSpPr/>
          <p:nvPr/>
        </p:nvSpPr>
        <p:spPr>
          <a:xfrm>
            <a:off x="11525917" y="5358384"/>
            <a:ext cx="92393" cy="246888"/>
          </a:xfrm>
          <a:prstGeom prst="roundRect">
            <a:avLst>
              <a:gd name="adj" fmla="val 29691"/>
            </a:avLst>
          </a:prstGeom>
          <a:ln w="7620">
            <a:solidFill>
              <a:srgbClr val="CBC2AB"/>
            </a:solidFill>
            <a:prstDash val="dash"/>
          </a:ln>
        </p:spPr>
      </p:sp>
      <p:sp>
        <p:nvSpPr>
          <p:cNvPr id="155" name="Shape 152"/>
          <p:cNvSpPr/>
          <p:nvPr/>
        </p:nvSpPr>
        <p:spPr>
          <a:xfrm>
            <a:off x="8979218" y="3127248"/>
            <a:ext cx="54864" cy="146304"/>
          </a:xfrm>
          <a:prstGeom prst="roundRect">
            <a:avLst>
              <a:gd name="adj" fmla="val 33333"/>
            </a:avLst>
          </a:prstGeom>
          <a:solidFill>
            <a:srgbClr val="F6F2E9"/>
          </a:solidFill>
          <a:ln/>
        </p:spPr>
      </p:sp>
      <p:sp>
        <p:nvSpPr>
          <p:cNvPr id="156" name="Shape 153"/>
          <p:cNvSpPr/>
          <p:nvPr/>
        </p:nvSpPr>
        <p:spPr>
          <a:xfrm>
            <a:off x="8910638" y="3127248"/>
            <a:ext cx="54864" cy="146304"/>
          </a:xfrm>
          <a:prstGeom prst="roundRect">
            <a:avLst>
              <a:gd name="adj" fmla="val 33333"/>
            </a:avLst>
          </a:prstGeom>
          <a:solidFill>
            <a:srgbClr val="F6F2E9"/>
          </a:solidFill>
          <a:ln/>
        </p:spPr>
      </p:sp>
      <p:sp>
        <p:nvSpPr>
          <p:cNvPr id="157" name="Shape 154"/>
          <p:cNvSpPr/>
          <p:nvPr/>
        </p:nvSpPr>
        <p:spPr>
          <a:xfrm>
            <a:off x="8842058" y="3127248"/>
            <a:ext cx="54864" cy="146304"/>
          </a:xfrm>
          <a:prstGeom prst="roundRect">
            <a:avLst>
              <a:gd name="adj" fmla="val 33333"/>
            </a:avLst>
          </a:prstGeom>
          <a:solidFill>
            <a:srgbClr val="F6F2E9"/>
          </a:solidFill>
          <a:ln/>
        </p:spPr>
      </p:sp>
      <p:sp>
        <p:nvSpPr>
          <p:cNvPr id="158" name="Shape 155"/>
          <p:cNvSpPr/>
          <p:nvPr/>
        </p:nvSpPr>
        <p:spPr>
          <a:xfrm>
            <a:off x="8773478" y="3127248"/>
            <a:ext cx="54864" cy="146304"/>
          </a:xfrm>
          <a:prstGeom prst="roundRect">
            <a:avLst>
              <a:gd name="adj" fmla="val 33333"/>
            </a:avLst>
          </a:prstGeom>
          <a:solidFill>
            <a:srgbClr val="CF8250"/>
          </a:solidFill>
          <a:ln/>
        </p:spPr>
      </p:sp>
      <p:sp>
        <p:nvSpPr>
          <p:cNvPr id="159" name="Shape 156"/>
          <p:cNvSpPr/>
          <p:nvPr/>
        </p:nvSpPr>
        <p:spPr>
          <a:xfrm>
            <a:off x="8704898" y="3127248"/>
            <a:ext cx="54864" cy="146304"/>
          </a:xfrm>
          <a:prstGeom prst="roundRect">
            <a:avLst>
              <a:gd name="adj" fmla="val 33333"/>
            </a:avLst>
          </a:prstGeom>
          <a:solidFill>
            <a:srgbClr val="CF8250"/>
          </a:solidFill>
          <a:ln/>
        </p:spPr>
      </p:sp>
      <p:sp>
        <p:nvSpPr>
          <p:cNvPr id="160" name="Shape 157"/>
          <p:cNvSpPr/>
          <p:nvPr/>
        </p:nvSpPr>
        <p:spPr>
          <a:xfrm>
            <a:off x="8636318" y="3127248"/>
            <a:ext cx="54864" cy="146304"/>
          </a:xfrm>
          <a:prstGeom prst="roundRect">
            <a:avLst>
              <a:gd name="adj" fmla="val 33333"/>
            </a:avLst>
          </a:prstGeom>
          <a:solidFill>
            <a:srgbClr val="CF8250"/>
          </a:solidFill>
          <a:ln/>
        </p:spPr>
      </p:sp>
      <p:sp>
        <p:nvSpPr>
          <p:cNvPr id="161" name="Shape 158"/>
          <p:cNvSpPr/>
          <p:nvPr/>
        </p:nvSpPr>
        <p:spPr>
          <a:xfrm>
            <a:off x="8567738" y="3127248"/>
            <a:ext cx="54864" cy="146304"/>
          </a:xfrm>
          <a:prstGeom prst="roundRect">
            <a:avLst>
              <a:gd name="adj" fmla="val 33333"/>
            </a:avLst>
          </a:prstGeom>
          <a:solidFill>
            <a:srgbClr val="CF8250"/>
          </a:solidFill>
          <a:ln/>
        </p:spPr>
      </p:sp>
      <p:sp>
        <p:nvSpPr>
          <p:cNvPr id="162" name="S1_clock"/>
          <p:cNvSpPr/>
          <p:nvPr/>
        </p:nvSpPr>
        <p:spPr>
          <a:xfrm>
            <a:off x="9162098" y="1115568"/>
            <a:ext cx="0" cy="4544568"/>
          </a:xfrm>
          <a:prstGeom prst="line">
            <a:avLst/>
          </a:prstGeom>
          <a:noFill/>
          <a:ln w="19050">
            <a:solidFill>
              <a:srgbClr val="F6F2E9"/>
            </a:solidFill>
            <a:prstDash val="solid"/>
          </a:ln>
        </p:spPr>
      </p:sp>
      <p:sp>
        <p:nvSpPr>
          <p:cNvPr id="163" name="Shape 160"/>
          <p:cNvSpPr/>
          <p:nvPr/>
        </p:nvSpPr>
        <p:spPr>
          <a:xfrm>
            <a:off x="8906066" y="896112"/>
            <a:ext cx="512064" cy="146304"/>
          </a:xfrm>
          <a:prstGeom prst="roundRect">
            <a:avLst>
              <a:gd name="adj" fmla="val 18750"/>
            </a:avLst>
          </a:prstGeom>
          <a:solidFill>
            <a:srgbClr val="F6F2E9"/>
          </a:solidFill>
          <a:ln/>
        </p:spPr>
      </p:sp>
      <p:sp>
        <p:nvSpPr>
          <p:cNvPr id="164" name="Text 161"/>
          <p:cNvSpPr txBox="1"/>
          <p:nvPr/>
        </p:nvSpPr>
        <p:spPr>
          <a:xfrm>
            <a:off x="8906066" y="896112"/>
            <a:ext cx="512064" cy="146304"/>
          </a:xfrm>
          <a:prstGeom prst="rect">
            <a:avLst/>
          </a:prstGeom>
          <a:noFill/>
          <a:ln/>
        </p:spPr>
        <p:txBody>
          <a:bodyPr wrap="square" lIns="0" tIns="0" rIns="0" bIns="0" rtlCol="0" anchor="ctr"/>
          <a:lstStyle/>
          <a:p>
            <a:pPr marL="0" indent="0" algn="ctr">
              <a:buNone/>
            </a:pPr>
            <a:r>
              <a:rPr lang="en-US" sz="750" b="1" dirty="0">
                <a:solidFill>
                  <a:srgbClr val="15233B"/>
                </a:solidFill>
                <a:latin typeface="Consolas" pitchFamily="34" charset="0"/>
                <a:ea typeface="Consolas" pitchFamily="34" charset="-122"/>
                <a:cs typeface="Consolas" pitchFamily="34" charset="-120"/>
              </a:rPr>
              <a:t>10:50</a:t>
            </a:r>
            <a:endParaRPr lang="en-US" sz="750" dirty="0"/>
          </a:p>
        </p:txBody>
      </p:sp>
      <p:sp>
        <p:nvSpPr>
          <p:cNvPr id="165" name="Text 162"/>
          <p:cNvSpPr txBox="1"/>
          <p:nvPr/>
        </p:nvSpPr>
        <p:spPr>
          <a:xfrm>
            <a:off x="6903720" y="5733288"/>
            <a:ext cx="4754880" cy="365760"/>
          </a:xfrm>
          <a:prstGeom prst="rect">
            <a:avLst/>
          </a:prstGeom>
          <a:noFill/>
          <a:ln/>
        </p:spPr>
        <p:txBody>
          <a:bodyPr wrap="square" lIns="0" tIns="0" rIns="0" bIns="0" rtlCol="0" anchor="t"/>
          <a:lstStyle/>
          <a:p>
            <a:pPr marL="0" indent="0">
              <a:buNone/>
            </a:pPr>
            <a:r>
              <a:rPr lang="en-US" sz="1050" i="1" dirty="0">
                <a:solidFill>
                  <a:srgbClr val="F2DFD0"/>
                </a:solidFill>
                <a:latin typeface="Segoe UI" pitchFamily="34" charset="0"/>
                <a:ea typeface="Segoe UI" pitchFamily="34" charset="-122"/>
                <a:cs typeface="Segoe UI" pitchFamily="34" charset="-120"/>
              </a:rPr>
              <a:t>One clinician unavailable: the lane is lost, the queue grows, the plan must move.</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2"/>
                                        </p:tgtEl>
                                        <p:attrNameLst>
                                          <p:attrName>style.visibility</p:attrName>
                                        </p:attrNameLst>
                                      </p:cBhvr>
                                      <p:to>
                                        <p:strVal val="visible"/>
                                      </p:to>
                                    </p:set>
                                    <p:animEffect transition="in" filter="fade">
                                      <p:cBhvr>
                                        <p:cTn id="7" dur="600"/>
                                        <p:tgtEl>
                                          <p:spTgt spid="162"/>
                                        </p:tgtEl>
                                      </p:cBhvr>
                                    </p:animEffect>
                                  </p:childTnLst>
                                </p:cTn>
                              </p:par>
                            </p:childTnLst>
                          </p:cTn>
                        </p:par>
                        <p:par>
                          <p:cTn id="8" fill="hold">
                            <p:stCondLst>
                              <p:cond delay="600"/>
                            </p:stCondLst>
                            <p:childTnLst>
                              <p:par>
                                <p:cTn id="9" presetID="22" presetClass="entr" presetSubtype="8" fill="hold" nodeType="afterEffect">
                                  <p:stCondLst>
                                    <p:cond delay="0"/>
                                  </p:stCondLst>
                                  <p:childTnLst>
                                    <p:set>
                                      <p:cBhvr>
                                        <p:cTn id="10" dur="1" fill="hold">
                                          <p:stCondLst>
                                            <p:cond delay="0"/>
                                          </p:stCondLst>
                                        </p:cTn>
                                        <p:tgtEl>
                                          <p:spTgt spid="111"/>
                                        </p:tgtEl>
                                        <p:attrNameLst>
                                          <p:attrName>style.visibility</p:attrName>
                                        </p:attrNameLst>
                                      </p:cBhvr>
                                      <p:to>
                                        <p:strVal val="visible"/>
                                      </p:to>
                                    </p:set>
                                    <p:animEffect transition="in" filter="wipe(left)">
                                      <p:cBhvr>
                                        <p:cTn id="11" dur="8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685800"/>
          </a:xfrm>
          <a:prstGeom prst="rect">
            <a:avLst/>
          </a:prstGeom>
          <a:noFill/>
          <a:ln/>
        </p:spPr>
        <p:txBody>
          <a:bodyPr wrap="square" lIns="0" tIns="0" rIns="0" bIns="0" rtlCol="0" anchor="t"/>
          <a:lstStyle/>
          <a:p>
            <a:pPr marL="0" indent="0" algn="l">
              <a:buNone/>
            </a:pPr>
            <a:r>
              <a:rPr lang="en-US" sz="3000" dirty="0">
                <a:solidFill>
                  <a:srgbClr val="15233B"/>
                </a:solidFill>
                <a:latin typeface="Palatino Linotype" pitchFamily="34" charset="0"/>
                <a:ea typeface="Palatino Linotype" pitchFamily="34" charset="-122"/>
                <a:cs typeface="Palatino Linotype" pitchFamily="34" charset="-120"/>
              </a:rPr>
              <a:t>When one delay becomes everyone's delay</a:t>
            </a:r>
            <a:endParaRPr lang="en-US" sz="3000" dirty="0"/>
          </a:p>
        </p:txBody>
      </p:sp>
      <p:sp>
        <p:nvSpPr>
          <p:cNvPr id="3" name="Text 1"/>
          <p:cNvSpPr txBox="1"/>
          <p:nvPr/>
        </p:nvSpPr>
        <p:spPr>
          <a:xfrm>
            <a:off x="548640" y="310896"/>
            <a:ext cx="8229600" cy="228600"/>
          </a:xfrm>
          <a:prstGeom prst="rect">
            <a:avLst/>
          </a:prstGeom>
          <a:noFill/>
          <a:ln/>
        </p:spPr>
        <p:txBody>
          <a:bodyPr wrap="square" lIns="0" tIns="0" rIns="0" bIns="0" rtlCol="0" anchor="t"/>
          <a:lstStyle/>
          <a:p>
            <a:pPr marL="0" indent="0">
              <a:buNone/>
            </a:pPr>
            <a:r>
              <a:rPr lang="en-US" sz="1050" kern="0" spc="200" dirty="0">
                <a:solidFill>
                  <a:srgbClr val="B4642F"/>
                </a:solidFill>
                <a:latin typeface="Consolas" pitchFamily="34" charset="0"/>
                <a:ea typeface="Consolas" pitchFamily="34" charset="-122"/>
                <a:cs typeface="Consolas" pitchFamily="34" charset="-120"/>
              </a:rPr>
              <a:t>THE PROBLEM</a:t>
            </a:r>
            <a:endParaRPr lang="en-US" sz="1050" dirty="0"/>
          </a:p>
        </p:txBody>
      </p:sp>
      <p:sp>
        <p:nvSpPr>
          <p:cNvPr id="5" name="S2_stage0"/>
          <p:cNvSpPr/>
          <p:nvPr/>
        </p:nvSpPr>
        <p:spPr>
          <a:xfrm>
            <a:off x="548640" y="1600200"/>
            <a:ext cx="1783080" cy="777240"/>
          </a:xfrm>
          <a:prstGeom prst="roundRect">
            <a:avLst>
              <a:gd name="adj" fmla="val 8235"/>
            </a:avLst>
          </a:prstGeom>
          <a:solidFill>
            <a:srgbClr val="FBF9F4"/>
          </a:solidFill>
          <a:ln w="12700">
            <a:solidFill>
              <a:srgbClr val="3A4A66"/>
            </a:solidFill>
            <a:prstDash val="solid"/>
          </a:ln>
        </p:spPr>
      </p:sp>
      <p:sp>
        <p:nvSpPr>
          <p:cNvPr id="6" name="Text 3"/>
          <p:cNvSpPr txBox="1"/>
          <p:nvPr/>
        </p:nvSpPr>
        <p:spPr>
          <a:xfrm>
            <a:off x="548640" y="1600200"/>
            <a:ext cx="1783080" cy="777240"/>
          </a:xfrm>
          <a:prstGeom prst="rect">
            <a:avLst/>
          </a:prstGeom>
          <a:noFill/>
          <a:ln/>
        </p:spPr>
        <p:txBody>
          <a:bodyPr wrap="square" lIns="0" tIns="0" rIns="0" bIns="0" rtlCol="0" anchor="ctr"/>
          <a:lstStyle/>
          <a:p>
            <a:pPr marL="0" indent="0" algn="ctr">
              <a:buNone/>
            </a:pPr>
            <a:r>
              <a:rPr lang="en-US" sz="1700" dirty="0">
                <a:solidFill>
                  <a:srgbClr val="15233B"/>
                </a:solidFill>
                <a:latin typeface="Palatino Linotype" pitchFamily="34" charset="0"/>
                <a:ea typeface="Palatino Linotype" pitchFamily="34" charset="-122"/>
                <a:cs typeface="Palatino Linotype" pitchFamily="34" charset="-120"/>
              </a:rPr>
              <a:t>Registration</a:t>
            </a:r>
            <a:endParaRPr lang="en-US" sz="1700" dirty="0"/>
          </a:p>
        </p:txBody>
      </p:sp>
      <p:sp>
        <p:nvSpPr>
          <p:cNvPr id="7" name="Text 4"/>
          <p:cNvSpPr txBox="1"/>
          <p:nvPr/>
        </p:nvSpPr>
        <p:spPr>
          <a:xfrm>
            <a:off x="640080" y="1655064"/>
            <a:ext cx="365760" cy="164592"/>
          </a:xfrm>
          <a:prstGeom prst="rect">
            <a:avLst/>
          </a:prstGeom>
          <a:noFill/>
          <a:ln/>
        </p:spPr>
        <p:txBody>
          <a:bodyPr wrap="square" lIns="0" tIns="0" rIns="0" bIns="0" rtlCol="0" anchor="t"/>
          <a:lstStyle/>
          <a:p>
            <a:pPr marL="0" indent="0">
              <a:buNone/>
            </a:pPr>
            <a:r>
              <a:rPr lang="en-US" sz="800" dirty="0">
                <a:solidFill>
                  <a:srgbClr val="7B7566"/>
                </a:solidFill>
                <a:latin typeface="Consolas" pitchFamily="34" charset="0"/>
                <a:ea typeface="Consolas" pitchFamily="34" charset="-122"/>
                <a:cs typeface="Consolas" pitchFamily="34" charset="-120"/>
              </a:rPr>
              <a:t>01</a:t>
            </a:r>
            <a:endParaRPr lang="en-US" sz="800" dirty="0"/>
          </a:p>
        </p:txBody>
      </p:sp>
      <p:sp>
        <p:nvSpPr>
          <p:cNvPr id="8" name="Shape 5"/>
          <p:cNvSpPr/>
          <p:nvPr/>
        </p:nvSpPr>
        <p:spPr>
          <a:xfrm>
            <a:off x="2386584" y="1988820"/>
            <a:ext cx="427482" cy="0"/>
          </a:xfrm>
          <a:prstGeom prst="line">
            <a:avLst/>
          </a:prstGeom>
          <a:noFill/>
          <a:ln w="19050">
            <a:solidFill>
              <a:srgbClr val="3A4A66"/>
            </a:solidFill>
            <a:prstDash val="solid"/>
            <a:tailEnd type="triangle"/>
          </a:ln>
        </p:spPr>
      </p:sp>
      <p:sp>
        <p:nvSpPr>
          <p:cNvPr id="9" name="S2_stage1"/>
          <p:cNvSpPr/>
          <p:nvPr/>
        </p:nvSpPr>
        <p:spPr>
          <a:xfrm>
            <a:off x="2868930" y="1600200"/>
            <a:ext cx="1783080" cy="777240"/>
          </a:xfrm>
          <a:prstGeom prst="roundRect">
            <a:avLst>
              <a:gd name="adj" fmla="val 8235"/>
            </a:avLst>
          </a:prstGeom>
          <a:solidFill>
            <a:srgbClr val="FBF9F4"/>
          </a:solidFill>
          <a:ln w="12700">
            <a:solidFill>
              <a:srgbClr val="3A4A66"/>
            </a:solidFill>
            <a:prstDash val="solid"/>
          </a:ln>
        </p:spPr>
      </p:sp>
      <p:sp>
        <p:nvSpPr>
          <p:cNvPr id="10" name="Text 7"/>
          <p:cNvSpPr txBox="1"/>
          <p:nvPr/>
        </p:nvSpPr>
        <p:spPr>
          <a:xfrm>
            <a:off x="2868930" y="1600200"/>
            <a:ext cx="1783080" cy="777240"/>
          </a:xfrm>
          <a:prstGeom prst="rect">
            <a:avLst/>
          </a:prstGeom>
          <a:noFill/>
          <a:ln/>
        </p:spPr>
        <p:txBody>
          <a:bodyPr wrap="square" lIns="0" tIns="0" rIns="0" bIns="0" rtlCol="0" anchor="ctr"/>
          <a:lstStyle/>
          <a:p>
            <a:pPr marL="0" indent="0" algn="ctr">
              <a:buNone/>
            </a:pPr>
            <a:r>
              <a:rPr lang="en-US" sz="1700" dirty="0">
                <a:solidFill>
                  <a:srgbClr val="15233B"/>
                </a:solidFill>
                <a:latin typeface="Palatino Linotype" pitchFamily="34" charset="0"/>
                <a:ea typeface="Palatino Linotype" pitchFamily="34" charset="-122"/>
                <a:cs typeface="Palatino Linotype" pitchFamily="34" charset="-120"/>
              </a:rPr>
              <a:t>Vital signs</a:t>
            </a:r>
            <a:endParaRPr lang="en-US" sz="1700" dirty="0"/>
          </a:p>
        </p:txBody>
      </p:sp>
      <p:sp>
        <p:nvSpPr>
          <p:cNvPr id="11" name="Text 8"/>
          <p:cNvSpPr txBox="1"/>
          <p:nvPr/>
        </p:nvSpPr>
        <p:spPr>
          <a:xfrm>
            <a:off x="2960370" y="1655064"/>
            <a:ext cx="365760" cy="164592"/>
          </a:xfrm>
          <a:prstGeom prst="rect">
            <a:avLst/>
          </a:prstGeom>
          <a:noFill/>
          <a:ln/>
        </p:spPr>
        <p:txBody>
          <a:bodyPr wrap="square" lIns="0" tIns="0" rIns="0" bIns="0" rtlCol="0" anchor="t"/>
          <a:lstStyle/>
          <a:p>
            <a:pPr marL="0" indent="0">
              <a:buNone/>
            </a:pPr>
            <a:r>
              <a:rPr lang="en-US" sz="800" dirty="0">
                <a:solidFill>
                  <a:srgbClr val="7B7566"/>
                </a:solidFill>
                <a:latin typeface="Consolas" pitchFamily="34" charset="0"/>
                <a:ea typeface="Consolas" pitchFamily="34" charset="-122"/>
                <a:cs typeface="Consolas" pitchFamily="34" charset="-120"/>
              </a:rPr>
              <a:t>02</a:t>
            </a:r>
            <a:endParaRPr lang="en-US" sz="800" dirty="0"/>
          </a:p>
        </p:txBody>
      </p:sp>
      <p:sp>
        <p:nvSpPr>
          <p:cNvPr id="12" name="Shape 9"/>
          <p:cNvSpPr/>
          <p:nvPr/>
        </p:nvSpPr>
        <p:spPr>
          <a:xfrm>
            <a:off x="4706874" y="1988820"/>
            <a:ext cx="427482" cy="0"/>
          </a:xfrm>
          <a:prstGeom prst="line">
            <a:avLst/>
          </a:prstGeom>
          <a:noFill/>
          <a:ln w="19050">
            <a:solidFill>
              <a:srgbClr val="3A4A66"/>
            </a:solidFill>
            <a:prstDash val="solid"/>
            <a:tailEnd type="triangle"/>
          </a:ln>
        </p:spPr>
      </p:sp>
      <p:sp>
        <p:nvSpPr>
          <p:cNvPr id="13" name="S2_stage2"/>
          <p:cNvSpPr/>
          <p:nvPr/>
        </p:nvSpPr>
        <p:spPr>
          <a:xfrm>
            <a:off x="5189220" y="1600200"/>
            <a:ext cx="1783080" cy="777240"/>
          </a:xfrm>
          <a:prstGeom prst="roundRect">
            <a:avLst>
              <a:gd name="adj" fmla="val 8235"/>
            </a:avLst>
          </a:prstGeom>
          <a:solidFill>
            <a:srgbClr val="B4642F"/>
          </a:solidFill>
          <a:ln w="19050">
            <a:solidFill>
              <a:srgbClr val="B4642F"/>
            </a:solidFill>
            <a:prstDash val="solid"/>
          </a:ln>
        </p:spPr>
      </p:sp>
      <p:sp>
        <p:nvSpPr>
          <p:cNvPr id="14" name="Text 11"/>
          <p:cNvSpPr txBox="1"/>
          <p:nvPr/>
        </p:nvSpPr>
        <p:spPr>
          <a:xfrm>
            <a:off x="5189220" y="1600200"/>
            <a:ext cx="1783080" cy="777240"/>
          </a:xfrm>
          <a:prstGeom prst="rect">
            <a:avLst/>
          </a:prstGeom>
          <a:noFill/>
          <a:ln/>
        </p:spPr>
        <p:txBody>
          <a:bodyPr wrap="square" lIns="0" tIns="0" rIns="0" bIns="0" rtlCol="0" anchor="ctr"/>
          <a:lstStyle/>
          <a:p>
            <a:pPr marL="0" indent="0" algn="ctr">
              <a:buNone/>
            </a:pPr>
            <a:r>
              <a:rPr lang="en-US" sz="1700" dirty="0">
                <a:solidFill>
                  <a:srgbClr val="FFFFFF"/>
                </a:solidFill>
                <a:latin typeface="Palatino Linotype" pitchFamily="34" charset="0"/>
                <a:ea typeface="Palatino Linotype" pitchFamily="34" charset="-122"/>
                <a:cs typeface="Palatino Linotype" pitchFamily="34" charset="-120"/>
              </a:rPr>
              <a:t>Consultation</a:t>
            </a:r>
            <a:endParaRPr lang="en-US" sz="1700" dirty="0"/>
          </a:p>
        </p:txBody>
      </p:sp>
      <p:sp>
        <p:nvSpPr>
          <p:cNvPr id="15" name="Text 12"/>
          <p:cNvSpPr txBox="1"/>
          <p:nvPr/>
        </p:nvSpPr>
        <p:spPr>
          <a:xfrm>
            <a:off x="5280660" y="1655064"/>
            <a:ext cx="365760" cy="164592"/>
          </a:xfrm>
          <a:prstGeom prst="rect">
            <a:avLst/>
          </a:prstGeom>
          <a:noFill/>
          <a:ln/>
        </p:spPr>
        <p:txBody>
          <a:bodyPr wrap="square" lIns="0" tIns="0" rIns="0" bIns="0" rtlCol="0" anchor="t"/>
          <a:lstStyle/>
          <a:p>
            <a:pPr marL="0" indent="0">
              <a:buNone/>
            </a:pPr>
            <a:r>
              <a:rPr lang="en-US" sz="800" dirty="0">
                <a:solidFill>
                  <a:srgbClr val="F2DFD0"/>
                </a:solidFill>
                <a:latin typeface="Consolas" pitchFamily="34" charset="0"/>
                <a:ea typeface="Consolas" pitchFamily="34" charset="-122"/>
                <a:cs typeface="Consolas" pitchFamily="34" charset="-120"/>
              </a:rPr>
              <a:t>03</a:t>
            </a:r>
            <a:endParaRPr lang="en-US" sz="800" dirty="0"/>
          </a:p>
        </p:txBody>
      </p:sp>
      <p:sp>
        <p:nvSpPr>
          <p:cNvPr id="16" name="Text 13"/>
          <p:cNvSpPr txBox="1"/>
          <p:nvPr/>
        </p:nvSpPr>
        <p:spPr>
          <a:xfrm>
            <a:off x="5006340" y="1325880"/>
            <a:ext cx="2148840" cy="201168"/>
          </a:xfrm>
          <a:prstGeom prst="rect">
            <a:avLst/>
          </a:prstGeom>
          <a:noFill/>
          <a:ln/>
        </p:spPr>
        <p:txBody>
          <a:bodyPr wrap="square" lIns="0" tIns="0" rIns="0" bIns="0" rtlCol="0" anchor="t"/>
          <a:lstStyle/>
          <a:p>
            <a:pPr marL="0" indent="0" algn="ctr">
              <a:buNone/>
            </a:pPr>
            <a:r>
              <a:rPr lang="en-US" sz="850" b="1" kern="0" spc="100" dirty="0">
                <a:solidFill>
                  <a:srgbClr val="B4642F"/>
                </a:solidFill>
                <a:latin typeface="Consolas" pitchFamily="34" charset="0"/>
                <a:ea typeface="Consolas" pitchFamily="34" charset="-122"/>
                <a:cs typeface="Consolas" pitchFamily="34" charset="-120"/>
              </a:rPr>
              <a:t>ONE CLINICIAN UNAVAILABLE</a:t>
            </a:r>
            <a:endParaRPr lang="en-US" sz="850" dirty="0"/>
          </a:p>
        </p:txBody>
      </p:sp>
      <p:sp>
        <p:nvSpPr>
          <p:cNvPr id="17" name="Shape 14"/>
          <p:cNvSpPr/>
          <p:nvPr/>
        </p:nvSpPr>
        <p:spPr>
          <a:xfrm>
            <a:off x="7027164" y="1988820"/>
            <a:ext cx="427482" cy="0"/>
          </a:xfrm>
          <a:prstGeom prst="line">
            <a:avLst/>
          </a:prstGeom>
          <a:noFill/>
          <a:ln w="19050">
            <a:solidFill>
              <a:srgbClr val="3A4A66"/>
            </a:solidFill>
            <a:prstDash val="solid"/>
            <a:tailEnd type="triangle"/>
          </a:ln>
        </p:spPr>
      </p:sp>
      <p:sp>
        <p:nvSpPr>
          <p:cNvPr id="18" name="S2_stage3"/>
          <p:cNvSpPr/>
          <p:nvPr/>
        </p:nvSpPr>
        <p:spPr>
          <a:xfrm>
            <a:off x="7509510" y="1600200"/>
            <a:ext cx="1783080" cy="777240"/>
          </a:xfrm>
          <a:prstGeom prst="roundRect">
            <a:avLst>
              <a:gd name="adj" fmla="val 8235"/>
            </a:avLst>
          </a:prstGeom>
          <a:solidFill>
            <a:srgbClr val="FBF9F4"/>
          </a:solidFill>
          <a:ln w="12700">
            <a:solidFill>
              <a:srgbClr val="A39C88"/>
            </a:solidFill>
            <a:prstDash val="dash"/>
          </a:ln>
        </p:spPr>
      </p:sp>
      <p:sp>
        <p:nvSpPr>
          <p:cNvPr id="19" name="Text 16"/>
          <p:cNvSpPr txBox="1"/>
          <p:nvPr/>
        </p:nvSpPr>
        <p:spPr>
          <a:xfrm>
            <a:off x="7509510" y="1600200"/>
            <a:ext cx="1783080" cy="777240"/>
          </a:xfrm>
          <a:prstGeom prst="rect">
            <a:avLst/>
          </a:prstGeom>
          <a:noFill/>
          <a:ln/>
        </p:spPr>
        <p:txBody>
          <a:bodyPr wrap="square" lIns="0" tIns="0" rIns="0" bIns="0" rtlCol="0" anchor="ctr"/>
          <a:lstStyle/>
          <a:p>
            <a:pPr marL="0" indent="0" algn="ctr">
              <a:buNone/>
            </a:pPr>
            <a:r>
              <a:rPr lang="en-US" sz="1700" dirty="0">
                <a:solidFill>
                  <a:srgbClr val="15233B"/>
                </a:solidFill>
                <a:latin typeface="Palatino Linotype" pitchFamily="34" charset="0"/>
                <a:ea typeface="Palatino Linotype" pitchFamily="34" charset="-122"/>
                <a:cs typeface="Palatino Linotype" pitchFamily="34" charset="-120"/>
              </a:rPr>
              <a:t>Laboratory</a:t>
            </a:r>
            <a:endParaRPr lang="en-US" sz="1700" dirty="0"/>
          </a:p>
        </p:txBody>
      </p:sp>
      <p:sp>
        <p:nvSpPr>
          <p:cNvPr id="20" name="Text 17"/>
          <p:cNvSpPr txBox="1"/>
          <p:nvPr/>
        </p:nvSpPr>
        <p:spPr>
          <a:xfrm>
            <a:off x="7600950" y="1655064"/>
            <a:ext cx="365760" cy="164592"/>
          </a:xfrm>
          <a:prstGeom prst="rect">
            <a:avLst/>
          </a:prstGeom>
          <a:noFill/>
          <a:ln/>
        </p:spPr>
        <p:txBody>
          <a:bodyPr wrap="square" lIns="0" tIns="0" rIns="0" bIns="0" rtlCol="0" anchor="t"/>
          <a:lstStyle/>
          <a:p>
            <a:pPr marL="0" indent="0">
              <a:buNone/>
            </a:pPr>
            <a:r>
              <a:rPr lang="en-US" sz="800" dirty="0">
                <a:solidFill>
                  <a:srgbClr val="7B7566"/>
                </a:solidFill>
                <a:latin typeface="Consolas" pitchFamily="34" charset="0"/>
                <a:ea typeface="Consolas" pitchFamily="34" charset="-122"/>
                <a:cs typeface="Consolas" pitchFamily="34" charset="-120"/>
              </a:rPr>
              <a:t>04</a:t>
            </a:r>
            <a:endParaRPr lang="en-US" sz="800" dirty="0"/>
          </a:p>
        </p:txBody>
      </p:sp>
      <p:sp>
        <p:nvSpPr>
          <p:cNvPr id="21" name="Text 18"/>
          <p:cNvSpPr txBox="1"/>
          <p:nvPr/>
        </p:nvSpPr>
        <p:spPr>
          <a:xfrm>
            <a:off x="7326630" y="1325880"/>
            <a:ext cx="2148840" cy="201168"/>
          </a:xfrm>
          <a:prstGeom prst="rect">
            <a:avLst/>
          </a:prstGeom>
          <a:noFill/>
          <a:ln/>
        </p:spPr>
        <p:txBody>
          <a:bodyPr wrap="square" lIns="0" tIns="0" rIns="0" bIns="0" rtlCol="0" anchor="t"/>
          <a:lstStyle/>
          <a:p>
            <a:pPr marL="0" indent="0" algn="ctr">
              <a:buNone/>
            </a:pPr>
            <a:r>
              <a:rPr lang="en-US" sz="850" kern="0" spc="100" dirty="0">
                <a:solidFill>
                  <a:srgbClr val="7B7566"/>
                </a:solidFill>
                <a:latin typeface="Consolas" pitchFamily="34" charset="0"/>
                <a:ea typeface="Consolas" pitchFamily="34" charset="-122"/>
                <a:cs typeface="Consolas" pitchFamily="34" charset="-120"/>
              </a:rPr>
              <a:t>IF NEEDED</a:t>
            </a:r>
            <a:endParaRPr lang="en-US" sz="850" dirty="0"/>
          </a:p>
        </p:txBody>
      </p:sp>
      <p:sp>
        <p:nvSpPr>
          <p:cNvPr id="22" name="Shape 19"/>
          <p:cNvSpPr/>
          <p:nvPr/>
        </p:nvSpPr>
        <p:spPr>
          <a:xfrm>
            <a:off x="9347454" y="1988820"/>
            <a:ext cx="427482" cy="0"/>
          </a:xfrm>
          <a:prstGeom prst="line">
            <a:avLst/>
          </a:prstGeom>
          <a:noFill/>
          <a:ln w="19050">
            <a:solidFill>
              <a:srgbClr val="3A4A66"/>
            </a:solidFill>
            <a:prstDash val="solid"/>
            <a:tailEnd type="triangle"/>
          </a:ln>
        </p:spPr>
      </p:sp>
      <p:sp>
        <p:nvSpPr>
          <p:cNvPr id="23" name="S2_stage4"/>
          <p:cNvSpPr/>
          <p:nvPr/>
        </p:nvSpPr>
        <p:spPr>
          <a:xfrm>
            <a:off x="9829800" y="1600200"/>
            <a:ext cx="1783080" cy="777240"/>
          </a:xfrm>
          <a:prstGeom prst="roundRect">
            <a:avLst>
              <a:gd name="adj" fmla="val 8235"/>
            </a:avLst>
          </a:prstGeom>
          <a:solidFill>
            <a:srgbClr val="FBF9F4"/>
          </a:solidFill>
          <a:ln w="12700">
            <a:solidFill>
              <a:srgbClr val="3A4A66"/>
            </a:solidFill>
            <a:prstDash val="solid"/>
          </a:ln>
        </p:spPr>
      </p:sp>
      <p:sp>
        <p:nvSpPr>
          <p:cNvPr id="24" name="Text 21"/>
          <p:cNvSpPr txBox="1"/>
          <p:nvPr/>
        </p:nvSpPr>
        <p:spPr>
          <a:xfrm>
            <a:off x="9829800" y="1600200"/>
            <a:ext cx="1783080" cy="777240"/>
          </a:xfrm>
          <a:prstGeom prst="rect">
            <a:avLst/>
          </a:prstGeom>
          <a:noFill/>
          <a:ln/>
        </p:spPr>
        <p:txBody>
          <a:bodyPr wrap="square" lIns="0" tIns="0" rIns="0" bIns="0" rtlCol="0" anchor="ctr"/>
          <a:lstStyle/>
          <a:p>
            <a:pPr marL="0" indent="0" algn="ctr">
              <a:buNone/>
            </a:pPr>
            <a:r>
              <a:rPr lang="en-US" sz="1700" dirty="0">
                <a:solidFill>
                  <a:srgbClr val="15233B"/>
                </a:solidFill>
                <a:latin typeface="Palatino Linotype" pitchFamily="34" charset="0"/>
                <a:ea typeface="Palatino Linotype" pitchFamily="34" charset="-122"/>
                <a:cs typeface="Palatino Linotype" pitchFamily="34" charset="-120"/>
              </a:rPr>
              <a:t>Checkout</a:t>
            </a:r>
            <a:endParaRPr lang="en-US" sz="1700" dirty="0"/>
          </a:p>
        </p:txBody>
      </p:sp>
      <p:sp>
        <p:nvSpPr>
          <p:cNvPr id="25" name="Text 22"/>
          <p:cNvSpPr txBox="1"/>
          <p:nvPr/>
        </p:nvSpPr>
        <p:spPr>
          <a:xfrm>
            <a:off x="9921240" y="1655064"/>
            <a:ext cx="365760" cy="164592"/>
          </a:xfrm>
          <a:prstGeom prst="rect">
            <a:avLst/>
          </a:prstGeom>
          <a:noFill/>
          <a:ln/>
        </p:spPr>
        <p:txBody>
          <a:bodyPr wrap="square" lIns="0" tIns="0" rIns="0" bIns="0" rtlCol="0" anchor="t"/>
          <a:lstStyle/>
          <a:p>
            <a:pPr marL="0" indent="0">
              <a:buNone/>
            </a:pPr>
            <a:r>
              <a:rPr lang="en-US" sz="800" dirty="0">
                <a:solidFill>
                  <a:srgbClr val="7B7566"/>
                </a:solidFill>
                <a:latin typeface="Consolas" pitchFamily="34" charset="0"/>
                <a:ea typeface="Consolas" pitchFamily="34" charset="-122"/>
                <a:cs typeface="Consolas" pitchFamily="34" charset="-120"/>
              </a:rPr>
              <a:t>05</a:t>
            </a:r>
            <a:endParaRPr lang="en-US" sz="800" dirty="0"/>
          </a:p>
        </p:txBody>
      </p:sp>
      <p:sp>
        <p:nvSpPr>
          <p:cNvPr id="26" name="Text 23"/>
          <p:cNvSpPr txBox="1"/>
          <p:nvPr/>
        </p:nvSpPr>
        <p:spPr>
          <a:xfrm>
            <a:off x="548640" y="2697480"/>
            <a:ext cx="6217920" cy="201168"/>
          </a:xfrm>
          <a:prstGeom prst="rect">
            <a:avLst/>
          </a:prstGeom>
          <a:noFill/>
          <a:ln/>
        </p:spPr>
        <p:txBody>
          <a:bodyPr wrap="square" lIns="0" tIns="0" rIns="0" bIns="0" rtlCol="0" anchor="t"/>
          <a:lstStyle/>
          <a:p>
            <a:pPr marL="0" indent="0">
              <a:buNone/>
            </a:pPr>
            <a:r>
              <a:rPr lang="en-US" sz="900" kern="0" spc="100" dirty="0">
                <a:solidFill>
                  <a:srgbClr val="7B7566"/>
                </a:solidFill>
                <a:latin typeface="Consolas" pitchFamily="34" charset="0"/>
                <a:ea typeface="Consolas" pitchFamily="34" charset="-122"/>
                <a:cs typeface="Consolas" pitchFamily="34" charset="-120"/>
              </a:rPr>
              <a:t>CONSULTATION QUEUE AT 11:45 · SAME PATIENTS, SAME SEED</a:t>
            </a:r>
            <a:endParaRPr lang="en-US" sz="900" dirty="0"/>
          </a:p>
        </p:txBody>
      </p:sp>
      <p:sp>
        <p:nvSpPr>
          <p:cNvPr id="27" name="Text 24"/>
          <p:cNvSpPr txBox="1"/>
          <p:nvPr/>
        </p:nvSpPr>
        <p:spPr>
          <a:xfrm>
            <a:off x="548640" y="3035808"/>
            <a:ext cx="2103120" cy="274320"/>
          </a:xfrm>
          <a:prstGeom prst="rect">
            <a:avLst/>
          </a:prstGeom>
          <a:noFill/>
          <a:ln/>
        </p:spPr>
        <p:txBody>
          <a:bodyPr wrap="square" lIns="0" tIns="0" rIns="0" bIns="0" rtlCol="0" anchor="t"/>
          <a:lstStyle/>
          <a:p>
            <a:pPr marL="0" indent="0">
              <a:buNone/>
            </a:pPr>
            <a:r>
              <a:rPr lang="en-US" sz="1600" i="1" dirty="0">
                <a:solidFill>
                  <a:srgbClr val="1F7B78"/>
                </a:solidFill>
                <a:latin typeface="Palatino Linotype" pitchFamily="34" charset="0"/>
                <a:ea typeface="Palatino Linotype" pitchFamily="34" charset="-122"/>
                <a:cs typeface="Palatino Linotype" pitchFamily="34" charset="-120"/>
              </a:rPr>
              <a:t>Normal day</a:t>
            </a:r>
            <a:endParaRPr lang="en-US" sz="1600" dirty="0"/>
          </a:p>
        </p:txBody>
      </p:sp>
      <p:sp>
        <p:nvSpPr>
          <p:cNvPr id="28" name="Text 25"/>
          <p:cNvSpPr txBox="1"/>
          <p:nvPr/>
        </p:nvSpPr>
        <p:spPr>
          <a:xfrm>
            <a:off x="548640" y="3657600"/>
            <a:ext cx="2103120" cy="274320"/>
          </a:xfrm>
          <a:prstGeom prst="rect">
            <a:avLst/>
          </a:prstGeom>
          <a:noFill/>
          <a:ln/>
        </p:spPr>
        <p:txBody>
          <a:bodyPr wrap="square" lIns="0" tIns="0" rIns="0" bIns="0" rtlCol="0" anchor="t"/>
          <a:lstStyle/>
          <a:p>
            <a:pPr marL="0" indent="0">
              <a:buNone/>
            </a:pPr>
            <a:r>
              <a:rPr lang="en-US" sz="1600" i="1" dirty="0">
                <a:solidFill>
                  <a:srgbClr val="B4642F"/>
                </a:solidFill>
                <a:latin typeface="Palatino Linotype" pitchFamily="34" charset="0"/>
                <a:ea typeface="Palatino Linotype" pitchFamily="34" charset="-122"/>
                <a:cs typeface="Palatino Linotype" pitchFamily="34" charset="-120"/>
              </a:rPr>
              <a:t>One clinician out</a:t>
            </a:r>
            <a:endParaRPr lang="en-US" sz="1600" dirty="0"/>
          </a:p>
        </p:txBody>
      </p:sp>
      <p:sp>
        <p:nvSpPr>
          <p:cNvPr id="29" name="Shape 26"/>
          <p:cNvSpPr/>
          <p:nvPr/>
        </p:nvSpPr>
        <p:spPr>
          <a:xfrm>
            <a:off x="2743200" y="3017520"/>
            <a:ext cx="256032" cy="256032"/>
          </a:xfrm>
          <a:prstGeom prst="roundRect">
            <a:avLst>
              <a:gd name="adj" fmla="val 14286"/>
            </a:avLst>
          </a:prstGeom>
          <a:solidFill>
            <a:srgbClr val="3A9B97"/>
          </a:solidFill>
          <a:ln/>
        </p:spPr>
      </p:sp>
      <p:sp>
        <p:nvSpPr>
          <p:cNvPr id="30" name="Shape 27"/>
          <p:cNvSpPr/>
          <p:nvPr/>
        </p:nvSpPr>
        <p:spPr>
          <a:xfrm>
            <a:off x="3081528" y="3017520"/>
            <a:ext cx="256032" cy="256032"/>
          </a:xfrm>
          <a:prstGeom prst="roundRect">
            <a:avLst>
              <a:gd name="adj" fmla="val 14286"/>
            </a:avLst>
          </a:prstGeom>
          <a:solidFill>
            <a:srgbClr val="3A9B97"/>
          </a:solidFill>
          <a:ln/>
        </p:spPr>
      </p:sp>
      <p:sp>
        <p:nvSpPr>
          <p:cNvPr id="31" name="Shape 28"/>
          <p:cNvSpPr/>
          <p:nvPr/>
        </p:nvSpPr>
        <p:spPr>
          <a:xfrm>
            <a:off x="3419856" y="3017520"/>
            <a:ext cx="256032" cy="256032"/>
          </a:xfrm>
          <a:prstGeom prst="roundRect">
            <a:avLst>
              <a:gd name="adj" fmla="val 14286"/>
            </a:avLst>
          </a:prstGeom>
          <a:solidFill>
            <a:srgbClr val="3A9B97"/>
          </a:solidFill>
          <a:ln/>
        </p:spPr>
      </p:sp>
      <p:sp>
        <p:nvSpPr>
          <p:cNvPr id="32" name="Shape 29"/>
          <p:cNvSpPr/>
          <p:nvPr/>
        </p:nvSpPr>
        <p:spPr>
          <a:xfrm>
            <a:off x="3758184" y="3017520"/>
            <a:ext cx="256032" cy="256032"/>
          </a:xfrm>
          <a:prstGeom prst="roundRect">
            <a:avLst>
              <a:gd name="adj" fmla="val 14286"/>
            </a:avLst>
          </a:prstGeom>
          <a:solidFill>
            <a:srgbClr val="3A9B97"/>
          </a:solidFill>
          <a:ln/>
        </p:spPr>
      </p:sp>
      <p:sp>
        <p:nvSpPr>
          <p:cNvPr id="33" name="S2_sq0"/>
          <p:cNvSpPr/>
          <p:nvPr/>
        </p:nvSpPr>
        <p:spPr>
          <a:xfrm>
            <a:off x="2743200" y="3639312"/>
            <a:ext cx="256032" cy="256032"/>
          </a:xfrm>
          <a:prstGeom prst="roundRect">
            <a:avLst>
              <a:gd name="adj" fmla="val 14286"/>
            </a:avLst>
          </a:prstGeom>
          <a:solidFill>
            <a:srgbClr val="B4642F"/>
          </a:solidFill>
          <a:ln/>
        </p:spPr>
      </p:sp>
      <p:sp>
        <p:nvSpPr>
          <p:cNvPr id="34" name="S2_sq1"/>
          <p:cNvSpPr/>
          <p:nvPr/>
        </p:nvSpPr>
        <p:spPr>
          <a:xfrm>
            <a:off x="3081528" y="3639312"/>
            <a:ext cx="256032" cy="256032"/>
          </a:xfrm>
          <a:prstGeom prst="roundRect">
            <a:avLst>
              <a:gd name="adj" fmla="val 14286"/>
            </a:avLst>
          </a:prstGeom>
          <a:solidFill>
            <a:srgbClr val="B4642F"/>
          </a:solidFill>
          <a:ln/>
        </p:spPr>
      </p:sp>
      <p:sp>
        <p:nvSpPr>
          <p:cNvPr id="35" name="S2_sq2"/>
          <p:cNvSpPr/>
          <p:nvPr/>
        </p:nvSpPr>
        <p:spPr>
          <a:xfrm>
            <a:off x="3419856" y="3639312"/>
            <a:ext cx="256032" cy="256032"/>
          </a:xfrm>
          <a:prstGeom prst="roundRect">
            <a:avLst>
              <a:gd name="adj" fmla="val 14286"/>
            </a:avLst>
          </a:prstGeom>
          <a:solidFill>
            <a:srgbClr val="B4642F"/>
          </a:solidFill>
          <a:ln/>
        </p:spPr>
      </p:sp>
      <p:sp>
        <p:nvSpPr>
          <p:cNvPr id="36" name="S2_sq3"/>
          <p:cNvSpPr/>
          <p:nvPr/>
        </p:nvSpPr>
        <p:spPr>
          <a:xfrm>
            <a:off x="3758184" y="3639312"/>
            <a:ext cx="256032" cy="256032"/>
          </a:xfrm>
          <a:prstGeom prst="roundRect">
            <a:avLst>
              <a:gd name="adj" fmla="val 14286"/>
            </a:avLst>
          </a:prstGeom>
          <a:solidFill>
            <a:srgbClr val="B4642F"/>
          </a:solidFill>
          <a:ln/>
        </p:spPr>
      </p:sp>
      <p:sp>
        <p:nvSpPr>
          <p:cNvPr id="37" name="S2_sq4"/>
          <p:cNvSpPr/>
          <p:nvPr/>
        </p:nvSpPr>
        <p:spPr>
          <a:xfrm>
            <a:off x="4096512" y="3639312"/>
            <a:ext cx="256032" cy="256032"/>
          </a:xfrm>
          <a:prstGeom prst="roundRect">
            <a:avLst>
              <a:gd name="adj" fmla="val 14286"/>
            </a:avLst>
          </a:prstGeom>
          <a:solidFill>
            <a:srgbClr val="B4642F"/>
          </a:solidFill>
          <a:ln/>
        </p:spPr>
      </p:sp>
      <p:sp>
        <p:nvSpPr>
          <p:cNvPr id="38" name="S2_sq5"/>
          <p:cNvSpPr/>
          <p:nvPr/>
        </p:nvSpPr>
        <p:spPr>
          <a:xfrm>
            <a:off x="2743200" y="3950208"/>
            <a:ext cx="256032" cy="256032"/>
          </a:xfrm>
          <a:prstGeom prst="roundRect">
            <a:avLst>
              <a:gd name="adj" fmla="val 14286"/>
            </a:avLst>
          </a:prstGeom>
          <a:solidFill>
            <a:srgbClr val="B4642F"/>
          </a:solidFill>
          <a:ln/>
        </p:spPr>
      </p:sp>
      <p:sp>
        <p:nvSpPr>
          <p:cNvPr id="39" name="S2_sq6"/>
          <p:cNvSpPr/>
          <p:nvPr/>
        </p:nvSpPr>
        <p:spPr>
          <a:xfrm>
            <a:off x="3081528" y="3950208"/>
            <a:ext cx="256032" cy="256032"/>
          </a:xfrm>
          <a:prstGeom prst="roundRect">
            <a:avLst>
              <a:gd name="adj" fmla="val 14286"/>
            </a:avLst>
          </a:prstGeom>
          <a:solidFill>
            <a:srgbClr val="B4642F"/>
          </a:solidFill>
          <a:ln/>
        </p:spPr>
      </p:sp>
      <p:sp>
        <p:nvSpPr>
          <p:cNvPr id="40" name="S2_sq7"/>
          <p:cNvSpPr/>
          <p:nvPr/>
        </p:nvSpPr>
        <p:spPr>
          <a:xfrm>
            <a:off x="3419856" y="3950208"/>
            <a:ext cx="256032" cy="256032"/>
          </a:xfrm>
          <a:prstGeom prst="roundRect">
            <a:avLst>
              <a:gd name="adj" fmla="val 14286"/>
            </a:avLst>
          </a:prstGeom>
          <a:solidFill>
            <a:srgbClr val="B4642F"/>
          </a:solidFill>
          <a:ln/>
        </p:spPr>
      </p:sp>
      <p:sp>
        <p:nvSpPr>
          <p:cNvPr id="41" name="S2_sq8"/>
          <p:cNvSpPr/>
          <p:nvPr/>
        </p:nvSpPr>
        <p:spPr>
          <a:xfrm>
            <a:off x="3758184" y="3950208"/>
            <a:ext cx="256032" cy="256032"/>
          </a:xfrm>
          <a:prstGeom prst="roundRect">
            <a:avLst>
              <a:gd name="adj" fmla="val 14286"/>
            </a:avLst>
          </a:prstGeom>
          <a:solidFill>
            <a:srgbClr val="B4642F"/>
          </a:solidFill>
          <a:ln/>
        </p:spPr>
      </p:sp>
      <p:sp>
        <p:nvSpPr>
          <p:cNvPr id="42" name="S2_sq9"/>
          <p:cNvSpPr/>
          <p:nvPr/>
        </p:nvSpPr>
        <p:spPr>
          <a:xfrm>
            <a:off x="4096512" y="3950208"/>
            <a:ext cx="256032" cy="256032"/>
          </a:xfrm>
          <a:prstGeom prst="roundRect">
            <a:avLst>
              <a:gd name="adj" fmla="val 14286"/>
            </a:avLst>
          </a:prstGeom>
          <a:solidFill>
            <a:srgbClr val="B4642F"/>
          </a:solidFill>
          <a:ln/>
        </p:spPr>
      </p:sp>
      <p:sp>
        <p:nvSpPr>
          <p:cNvPr id="43" name="Text 40"/>
          <p:cNvSpPr txBox="1"/>
          <p:nvPr/>
        </p:nvSpPr>
        <p:spPr>
          <a:xfrm>
            <a:off x="4663440" y="2999232"/>
            <a:ext cx="2194560" cy="502920"/>
          </a:xfrm>
          <a:prstGeom prst="rect">
            <a:avLst/>
          </a:prstGeom>
          <a:noFill/>
          <a:ln/>
        </p:spPr>
        <p:txBody>
          <a:bodyPr wrap="square" lIns="0" tIns="0" rIns="0" bIns="0" rtlCol="0" anchor="t"/>
          <a:lstStyle/>
          <a:p>
            <a:pPr marL="0" indent="0">
              <a:buNone/>
            </a:pPr>
            <a:r>
              <a:rPr lang="en-US" sz="1150" dirty="0">
                <a:solidFill>
                  <a:srgbClr val="3A4A66"/>
                </a:solidFill>
                <a:latin typeface="Segoe UI" pitchFamily="34" charset="0"/>
                <a:ea typeface="Segoe UI" pitchFamily="34" charset="-122"/>
                <a:cs typeface="Segoe UI" pitchFamily="34" charset="-120"/>
              </a:rPr>
              <a:t>4 waiting</a:t>
            </a:r>
            <a:endParaRPr lang="en-US" sz="1150" dirty="0"/>
          </a:p>
          <a:p>
            <a:pPr marL="0" indent="0">
              <a:buNone/>
            </a:pPr>
            <a:r>
              <a:rPr lang="en-US" sz="1150" dirty="0">
                <a:solidFill>
                  <a:srgbClr val="3A4A66"/>
                </a:solidFill>
                <a:latin typeface="Segoe UI" pitchFamily="34" charset="0"/>
                <a:ea typeface="Segoe UI" pitchFamily="34" charset="-122"/>
                <a:cs typeface="Segoe UI" pitchFamily="34" charset="-120"/>
              </a:rPr>
              <a:t>longest wait 16 min</a:t>
            </a:r>
            <a:endParaRPr lang="en-US" sz="1150" dirty="0"/>
          </a:p>
        </p:txBody>
      </p:sp>
      <p:sp>
        <p:nvSpPr>
          <p:cNvPr id="44" name="Text 41"/>
          <p:cNvSpPr txBox="1"/>
          <p:nvPr/>
        </p:nvSpPr>
        <p:spPr>
          <a:xfrm>
            <a:off x="4663440" y="3639312"/>
            <a:ext cx="2194560" cy="502920"/>
          </a:xfrm>
          <a:prstGeom prst="rect">
            <a:avLst/>
          </a:prstGeom>
          <a:noFill/>
          <a:ln/>
        </p:spPr>
        <p:txBody>
          <a:bodyPr wrap="square" lIns="0" tIns="0" rIns="0" bIns="0" rtlCol="0" anchor="t"/>
          <a:lstStyle/>
          <a:p>
            <a:pPr marL="0" indent="0">
              <a:buNone/>
            </a:pPr>
            <a:r>
              <a:rPr lang="en-US" sz="1150" dirty="0">
                <a:solidFill>
                  <a:srgbClr val="B4642F"/>
                </a:solidFill>
                <a:latin typeface="Segoe UI" pitchFamily="34" charset="0"/>
                <a:ea typeface="Segoe UI" pitchFamily="34" charset="-122"/>
                <a:cs typeface="Segoe UI" pitchFamily="34" charset="-120"/>
              </a:rPr>
              <a:t>10 waiting</a:t>
            </a:r>
            <a:endParaRPr lang="en-US" sz="1150" dirty="0"/>
          </a:p>
          <a:p>
            <a:pPr marL="0" indent="0">
              <a:buNone/>
            </a:pPr>
            <a:r>
              <a:rPr lang="en-US" sz="1150" dirty="0">
                <a:solidFill>
                  <a:srgbClr val="B4642F"/>
                </a:solidFill>
                <a:latin typeface="Segoe UI" pitchFamily="34" charset="0"/>
                <a:ea typeface="Segoe UI" pitchFamily="34" charset="-122"/>
                <a:cs typeface="Segoe UI" pitchFamily="34" charset="-120"/>
              </a:rPr>
              <a:t>longest wait 40 min</a:t>
            </a:r>
            <a:endParaRPr lang="en-US" sz="1150" dirty="0"/>
          </a:p>
        </p:txBody>
      </p:sp>
      <p:sp>
        <p:nvSpPr>
          <p:cNvPr id="45" name="Text 42"/>
          <p:cNvSpPr txBox="1"/>
          <p:nvPr/>
        </p:nvSpPr>
        <p:spPr>
          <a:xfrm>
            <a:off x="7223760" y="3017520"/>
            <a:ext cx="4389120" cy="1097280"/>
          </a:xfrm>
          <a:prstGeom prst="rect">
            <a:avLst/>
          </a:prstGeom>
          <a:noFill/>
          <a:ln/>
        </p:spPr>
        <p:txBody>
          <a:bodyPr wrap="square" lIns="0" tIns="0" rIns="0" bIns="0" rtlCol="0" anchor="ctr"/>
          <a:lstStyle/>
          <a:p>
            <a:pPr marL="0" indent="0">
              <a:buNone/>
            </a:pPr>
            <a:r>
              <a:rPr lang="en-US" sz="2800" i="1" dirty="0">
                <a:solidFill>
                  <a:srgbClr val="15233B"/>
                </a:solidFill>
                <a:latin typeface="Palatino Linotype" pitchFamily="34" charset="0"/>
                <a:ea typeface="Palatino Linotype" pitchFamily="34" charset="-122"/>
                <a:cs typeface="Palatino Linotype" pitchFamily="34" charset="-120"/>
              </a:rPr>
              <a:t>Healthcare delays are rarely isolated.</a:t>
            </a:r>
            <a:endParaRPr lang="en-US" sz="2800" dirty="0"/>
          </a:p>
        </p:txBody>
      </p:sp>
      <p:sp>
        <p:nvSpPr>
          <p:cNvPr id="46" name="Shape 43"/>
          <p:cNvSpPr/>
          <p:nvPr/>
        </p:nvSpPr>
        <p:spPr>
          <a:xfrm>
            <a:off x="548640" y="4526280"/>
            <a:ext cx="3611880" cy="1554480"/>
          </a:xfrm>
          <a:prstGeom prst="roundRect">
            <a:avLst>
              <a:gd name="adj" fmla="val 4118"/>
            </a:avLst>
          </a:prstGeom>
          <a:solidFill>
            <a:srgbClr val="FBF9F4"/>
          </a:solidFill>
          <a:ln w="9525">
            <a:solidFill>
              <a:srgbClr val="DDD5C3"/>
            </a:solidFill>
            <a:prstDash val="solid"/>
          </a:ln>
        </p:spPr>
      </p:sp>
      <p:sp>
        <p:nvSpPr>
          <p:cNvPr id="47" name="Text 44"/>
          <p:cNvSpPr txBox="1"/>
          <p:nvPr/>
        </p:nvSpPr>
        <p:spPr>
          <a:xfrm>
            <a:off x="749808" y="4645152"/>
            <a:ext cx="3200400" cy="182880"/>
          </a:xfrm>
          <a:prstGeom prst="rect">
            <a:avLst/>
          </a:prstGeom>
          <a:noFill/>
          <a:ln/>
        </p:spPr>
        <p:txBody>
          <a:bodyPr wrap="square" lIns="0" tIns="0" rIns="0" bIns="0" rtlCol="0" anchor="t"/>
          <a:lstStyle/>
          <a:p>
            <a:pPr marL="0" indent="0">
              <a:buNone/>
            </a:pPr>
            <a:r>
              <a:rPr lang="en-US" sz="900" kern="0" spc="100" dirty="0">
                <a:solidFill>
                  <a:srgbClr val="B4642F"/>
                </a:solidFill>
                <a:latin typeface="Consolas" pitchFamily="34" charset="0"/>
                <a:ea typeface="Consolas" pitchFamily="34" charset="-122"/>
                <a:cs typeface="Consolas" pitchFamily="34" charset="-120"/>
              </a:rPr>
              <a:t>QUEUES GROW</a:t>
            </a:r>
            <a:endParaRPr lang="en-US" sz="900" dirty="0"/>
          </a:p>
        </p:txBody>
      </p:sp>
      <p:sp>
        <p:nvSpPr>
          <p:cNvPr id="48" name="Text 45"/>
          <p:cNvSpPr txBox="1"/>
          <p:nvPr/>
        </p:nvSpPr>
        <p:spPr>
          <a:xfrm>
            <a:off x="749808" y="4846320"/>
            <a:ext cx="3200400" cy="457200"/>
          </a:xfrm>
          <a:prstGeom prst="rect">
            <a:avLst/>
          </a:prstGeom>
          <a:noFill/>
          <a:ln/>
        </p:spPr>
        <p:txBody>
          <a:bodyPr wrap="square" lIns="0" tIns="0" rIns="0" bIns="0" rtlCol="0" anchor="t"/>
          <a:lstStyle/>
          <a:p>
            <a:pPr marL="0" indent="0">
              <a:buNone/>
            </a:pPr>
            <a:r>
              <a:rPr lang="en-US" sz="2600" dirty="0">
                <a:solidFill>
                  <a:srgbClr val="15233B"/>
                </a:solidFill>
                <a:latin typeface="Palatino Linotype" pitchFamily="34" charset="0"/>
                <a:ea typeface="Palatino Linotype" pitchFamily="34" charset="-122"/>
                <a:cs typeface="Palatino Linotype" pitchFamily="34" charset="-120"/>
              </a:rPr>
              <a:t>11 waiting vs 5</a:t>
            </a:r>
            <a:endParaRPr lang="en-US" sz="2600" dirty="0"/>
          </a:p>
        </p:txBody>
      </p:sp>
      <p:sp>
        <p:nvSpPr>
          <p:cNvPr id="49" name="Text 46"/>
          <p:cNvSpPr txBox="1"/>
          <p:nvPr/>
        </p:nvSpPr>
        <p:spPr>
          <a:xfrm>
            <a:off x="749808" y="5349240"/>
            <a:ext cx="3246120" cy="640080"/>
          </a:xfrm>
          <a:prstGeom prst="rect">
            <a:avLst/>
          </a:prstGeom>
          <a:noFill/>
          <a:ln/>
        </p:spPr>
        <p:txBody>
          <a:bodyPr wrap="square" lIns="0" tIns="0" rIns="0" bIns="0" rtlCol="0" anchor="t"/>
          <a:lstStyle/>
          <a:p>
            <a:pPr marL="0" indent="0">
              <a:buNone/>
            </a:pPr>
            <a:r>
              <a:rPr lang="en-US" sz="1050" dirty="0">
                <a:solidFill>
                  <a:srgbClr val="3A4A66"/>
                </a:solidFill>
                <a:latin typeface="Segoe UI" pitchFamily="34" charset="0"/>
                <a:ea typeface="Segoe UI" pitchFamily="34" charset="-122"/>
                <a:cs typeface="Segoe UI" pitchFamily="34" charset="-120"/>
              </a:rPr>
              <a:t>Everyone behind the missing clinician waits. Longest wait 40 min vs 16 min at 11:45.</a:t>
            </a:r>
            <a:endParaRPr lang="en-US" sz="1050" dirty="0"/>
          </a:p>
        </p:txBody>
      </p:sp>
      <p:sp>
        <p:nvSpPr>
          <p:cNvPr id="50" name="Shape 47"/>
          <p:cNvSpPr/>
          <p:nvPr/>
        </p:nvSpPr>
        <p:spPr>
          <a:xfrm>
            <a:off x="4297680" y="4526280"/>
            <a:ext cx="3611880" cy="1554480"/>
          </a:xfrm>
          <a:prstGeom prst="roundRect">
            <a:avLst>
              <a:gd name="adj" fmla="val 4118"/>
            </a:avLst>
          </a:prstGeom>
          <a:solidFill>
            <a:srgbClr val="FBF9F4"/>
          </a:solidFill>
          <a:ln w="9525">
            <a:solidFill>
              <a:srgbClr val="DDD5C3"/>
            </a:solidFill>
            <a:prstDash val="solid"/>
          </a:ln>
        </p:spPr>
      </p:sp>
      <p:sp>
        <p:nvSpPr>
          <p:cNvPr id="51" name="Text 48"/>
          <p:cNvSpPr txBox="1"/>
          <p:nvPr/>
        </p:nvSpPr>
        <p:spPr>
          <a:xfrm>
            <a:off x="4498848" y="4645152"/>
            <a:ext cx="3200400" cy="182880"/>
          </a:xfrm>
          <a:prstGeom prst="rect">
            <a:avLst/>
          </a:prstGeom>
          <a:noFill/>
          <a:ln/>
        </p:spPr>
        <p:txBody>
          <a:bodyPr wrap="square" lIns="0" tIns="0" rIns="0" bIns="0" rtlCol="0" anchor="t"/>
          <a:lstStyle/>
          <a:p>
            <a:pPr marL="0" indent="0">
              <a:buNone/>
            </a:pPr>
            <a:r>
              <a:rPr lang="en-US" sz="900" kern="0" spc="100" dirty="0">
                <a:solidFill>
                  <a:srgbClr val="B4642F"/>
                </a:solidFill>
                <a:latin typeface="Consolas" pitchFamily="34" charset="0"/>
                <a:ea typeface="Consolas" pitchFamily="34" charset="-122"/>
                <a:cs typeface="Consolas" pitchFamily="34" charset="-120"/>
              </a:rPr>
              <a:t>THE DELAY TRAVELS</a:t>
            </a:r>
            <a:endParaRPr lang="en-US" sz="900" dirty="0"/>
          </a:p>
        </p:txBody>
      </p:sp>
      <p:sp>
        <p:nvSpPr>
          <p:cNvPr id="52" name="Text 49"/>
          <p:cNvSpPr txBox="1"/>
          <p:nvPr/>
        </p:nvSpPr>
        <p:spPr>
          <a:xfrm>
            <a:off x="4498848" y="4846320"/>
            <a:ext cx="3200400" cy="457200"/>
          </a:xfrm>
          <a:prstGeom prst="rect">
            <a:avLst/>
          </a:prstGeom>
          <a:noFill/>
          <a:ln/>
        </p:spPr>
        <p:txBody>
          <a:bodyPr wrap="square" lIns="0" tIns="0" rIns="0" bIns="0" rtlCol="0" anchor="t"/>
          <a:lstStyle/>
          <a:p>
            <a:pPr marL="0" indent="0">
              <a:buNone/>
            </a:pPr>
            <a:r>
              <a:rPr lang="en-US" sz="2600" dirty="0">
                <a:solidFill>
                  <a:srgbClr val="15233B"/>
                </a:solidFill>
                <a:latin typeface="Palatino Linotype" pitchFamily="34" charset="0"/>
                <a:ea typeface="Palatino Linotype" pitchFamily="34" charset="-122"/>
                <a:cs typeface="Palatino Linotype" pitchFamily="34" charset="-120"/>
              </a:rPr>
              <a:t>37 patients</a:t>
            </a:r>
            <a:endParaRPr lang="en-US" sz="2600" dirty="0"/>
          </a:p>
        </p:txBody>
      </p:sp>
      <p:sp>
        <p:nvSpPr>
          <p:cNvPr id="53" name="Text 50"/>
          <p:cNvSpPr txBox="1"/>
          <p:nvPr/>
        </p:nvSpPr>
        <p:spPr>
          <a:xfrm>
            <a:off x="4498848" y="5349240"/>
            <a:ext cx="3246120" cy="640080"/>
          </a:xfrm>
          <a:prstGeom prst="rect">
            <a:avLst/>
          </a:prstGeom>
          <a:noFill/>
          <a:ln/>
        </p:spPr>
        <p:txBody>
          <a:bodyPr wrap="square" lIns="0" tIns="0" rIns="0" bIns="0" rtlCol="0" anchor="t"/>
          <a:lstStyle/>
          <a:p>
            <a:pPr marL="0" indent="0">
              <a:buNone/>
            </a:pPr>
            <a:r>
              <a:rPr lang="en-US" sz="1050" dirty="0">
                <a:solidFill>
                  <a:srgbClr val="3A4A66"/>
                </a:solidFill>
                <a:latin typeface="Segoe UI" pitchFamily="34" charset="0"/>
                <a:ea typeface="Segoe UI" pitchFamily="34" charset="-122"/>
                <a:cs typeface="Segoe UI" pitchFamily="34" charset="-120"/>
              </a:rPr>
              <a:t>delayed 3+ min across 26 hops. Laboratory and checkout feel it later (+76 and +15 min).</a:t>
            </a:r>
            <a:endParaRPr lang="en-US" sz="1050" dirty="0"/>
          </a:p>
        </p:txBody>
      </p:sp>
      <p:sp>
        <p:nvSpPr>
          <p:cNvPr id="54" name="Shape 51"/>
          <p:cNvSpPr/>
          <p:nvPr/>
        </p:nvSpPr>
        <p:spPr>
          <a:xfrm>
            <a:off x="8046720" y="4526280"/>
            <a:ext cx="3611880" cy="1554480"/>
          </a:xfrm>
          <a:prstGeom prst="roundRect">
            <a:avLst>
              <a:gd name="adj" fmla="val 4118"/>
            </a:avLst>
          </a:prstGeom>
          <a:solidFill>
            <a:srgbClr val="FBF9F4"/>
          </a:solidFill>
          <a:ln w="9525">
            <a:solidFill>
              <a:srgbClr val="DDD5C3"/>
            </a:solidFill>
            <a:prstDash val="solid"/>
          </a:ln>
        </p:spPr>
      </p:sp>
      <p:sp>
        <p:nvSpPr>
          <p:cNvPr id="55" name="Text 52"/>
          <p:cNvSpPr txBox="1"/>
          <p:nvPr/>
        </p:nvSpPr>
        <p:spPr>
          <a:xfrm>
            <a:off x="8247888" y="4645152"/>
            <a:ext cx="3200400" cy="182880"/>
          </a:xfrm>
          <a:prstGeom prst="rect">
            <a:avLst/>
          </a:prstGeom>
          <a:noFill/>
          <a:ln/>
        </p:spPr>
        <p:txBody>
          <a:bodyPr wrap="square" lIns="0" tIns="0" rIns="0" bIns="0" rtlCol="0" anchor="t"/>
          <a:lstStyle/>
          <a:p>
            <a:pPr marL="0" indent="0">
              <a:buNone/>
            </a:pPr>
            <a:r>
              <a:rPr lang="en-US" sz="900" kern="0" spc="100" dirty="0">
                <a:solidFill>
                  <a:srgbClr val="B4642F"/>
                </a:solidFill>
                <a:latin typeface="Consolas" pitchFamily="34" charset="0"/>
                <a:ea typeface="Consolas" pitchFamily="34" charset="-122"/>
                <a:cs typeface="Consolas" pitchFamily="34" charset="-120"/>
              </a:rPr>
              <a:t>JOURNEYS LENGTHEN</a:t>
            </a:r>
            <a:endParaRPr lang="en-US" sz="900" dirty="0"/>
          </a:p>
        </p:txBody>
      </p:sp>
      <p:sp>
        <p:nvSpPr>
          <p:cNvPr id="56" name="Text 53"/>
          <p:cNvSpPr txBox="1"/>
          <p:nvPr/>
        </p:nvSpPr>
        <p:spPr>
          <a:xfrm>
            <a:off x="8247888" y="4846320"/>
            <a:ext cx="3200400" cy="457200"/>
          </a:xfrm>
          <a:prstGeom prst="rect">
            <a:avLst/>
          </a:prstGeom>
          <a:noFill/>
          <a:ln/>
        </p:spPr>
        <p:txBody>
          <a:bodyPr wrap="square" lIns="0" tIns="0" rIns="0" bIns="0" rtlCol="0" anchor="t"/>
          <a:lstStyle/>
          <a:p>
            <a:pPr marL="0" indent="0">
              <a:buNone/>
            </a:pPr>
            <a:r>
              <a:rPr lang="en-US" sz="2600" dirty="0">
                <a:solidFill>
                  <a:srgbClr val="15233B"/>
                </a:solidFill>
                <a:latin typeface="Palatino Linotype" pitchFamily="34" charset="0"/>
                <a:ea typeface="Palatino Linotype" pitchFamily="34" charset="-122"/>
                <a:cs typeface="Palatino Linotype" pitchFamily="34" charset="-120"/>
              </a:rPr>
              <a:t>60 → 74 min</a:t>
            </a:r>
            <a:endParaRPr lang="en-US" sz="2600" dirty="0"/>
          </a:p>
        </p:txBody>
      </p:sp>
      <p:sp>
        <p:nvSpPr>
          <p:cNvPr id="57" name="Text 54"/>
          <p:cNvSpPr txBox="1"/>
          <p:nvPr/>
        </p:nvSpPr>
        <p:spPr>
          <a:xfrm>
            <a:off x="8247888" y="5349240"/>
            <a:ext cx="3246120" cy="640080"/>
          </a:xfrm>
          <a:prstGeom prst="rect">
            <a:avLst/>
          </a:prstGeom>
          <a:noFill/>
          <a:ln/>
        </p:spPr>
        <p:txBody>
          <a:bodyPr wrap="square" lIns="0" tIns="0" rIns="0" bIns="0" rtlCol="0" anchor="t"/>
          <a:lstStyle/>
          <a:p>
            <a:pPr marL="0" indent="0">
              <a:buNone/>
            </a:pPr>
            <a:r>
              <a:rPr lang="en-US" sz="1050" dirty="0">
                <a:solidFill>
                  <a:srgbClr val="3A4A66"/>
                </a:solidFill>
                <a:latin typeface="Segoe UI" pitchFamily="34" charset="0"/>
                <a:ea typeface="Segoe UI" pitchFamily="34" charset="-122"/>
                <a:cs typeface="Segoe UI" pitchFamily="34" charset="-120"/>
              </a:rPr>
              <a:t>Average time from arrival to departure. 59 of 60 patients finish by 16:00 instead of 60.</a:t>
            </a:r>
            <a:endParaRPr lang="en-US" sz="1050" dirty="0"/>
          </a:p>
        </p:txBody>
      </p:sp>
      <p:sp>
        <p:nvSpPr>
          <p:cNvPr id="58" name="Text 55"/>
          <p:cNvSpPr txBox="1"/>
          <p:nvPr/>
        </p:nvSpPr>
        <p:spPr>
          <a:xfrm>
            <a:off x="548640" y="6199632"/>
            <a:ext cx="11064240" cy="256032"/>
          </a:xfrm>
          <a:prstGeom prst="rect">
            <a:avLst/>
          </a:prstGeom>
          <a:noFill/>
          <a:ln/>
        </p:spPr>
        <p:txBody>
          <a:bodyPr wrap="square" lIns="0" tIns="0" rIns="0" bIns="0" rtlCol="0" anchor="t"/>
          <a:lstStyle/>
          <a:p>
            <a:pPr marL="0" indent="0">
              <a:buNone/>
            </a:pPr>
            <a:r>
              <a:rPr lang="en-US" sz="850" dirty="0">
                <a:solidFill>
                  <a:srgbClr val="7B7566"/>
                </a:solidFill>
                <a:latin typeface="Segoe UI" pitchFamily="34" charset="0"/>
                <a:ea typeface="Segoe UI" pitchFamily="34" charset="-122"/>
                <a:cs typeface="Segoe UI" pitchFamily="34" charset="-120"/>
              </a:rPr>
              <a:t>Hypothetical outpatient journey; figures from SAYR's simulation of a fictional clinic (seed 7, staff-unavailability scenario, 10:30–13:30). No claim is made about any Al Dhafra facility.</a:t>
            </a:r>
            <a:endParaRPr lang="en-US" sz="850" dirty="0"/>
          </a:p>
        </p:txBody>
      </p:sp>
      <p:sp>
        <p:nvSpPr>
          <p:cNvPr id="4" name="Slide Number Placeholder 0"/>
          <p:cNvSpPr>
            <a:spLocks noGrp="1"/>
          </p:cNvSpPr>
          <p:nvPr>
            <p:ph type="sldNum" sz="quarter" idx="4294967295"/>
          </p:nvPr>
        </p:nvSpPr>
        <p:spPr>
          <a:xfrm>
            <a:off x="11064240" y="6492240"/>
            <a:ext cx="576072"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B7566"/>
                </a:solidFill>
                <a:latin typeface="Consolas"/>
                <a:ea typeface="Consolas"/>
                <a:cs typeface="Consolas"/>
              </a:defRPr>
            </a:lvl1pPr>
          </a:lstStyle>
          <a:p>
            <a:pPr algn="r"/>
            <a:fld id="{F7021451-1387-4CA6-816F-3879F97B5CBC}" type="slidenum">
              <a:rPr lang="en-US" b="0"/>
              <a:t>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250"/>
                                        <p:tgtEl>
                                          <p:spTgt spid="33"/>
                                        </p:tgtEl>
                                      </p:cBhvr>
                                    </p:animEffec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fade">
                                      <p:cBhvr>
                                        <p:cTn id="11" dur="250"/>
                                        <p:tgtEl>
                                          <p:spTgt spid="34"/>
                                        </p:tgtEl>
                                      </p:cBhvr>
                                    </p:animEffect>
                                  </p:childTnLst>
                                </p:cTn>
                              </p:par>
                            </p:childTnLst>
                          </p:cTn>
                        </p:par>
                        <p:par>
                          <p:cTn id="12" fill="hold">
                            <p:stCondLst>
                              <p:cond delay="500"/>
                            </p:stCondLst>
                            <p:childTnLst>
                              <p:par>
                                <p:cTn id="13" presetID="10" presetClass="entr" presetSubtype="0"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250"/>
                                        <p:tgtEl>
                                          <p:spTgt spid="35"/>
                                        </p:tgtEl>
                                      </p:cBhvr>
                                    </p:animEffect>
                                  </p:childTnLst>
                                </p:cTn>
                              </p:par>
                            </p:childTnLst>
                          </p:cTn>
                        </p:par>
                        <p:par>
                          <p:cTn id="16" fill="hold">
                            <p:stCondLst>
                              <p:cond delay="750"/>
                            </p:stCondLst>
                            <p:childTnLst>
                              <p:par>
                                <p:cTn id="17" presetID="10" presetClass="entr" presetSubtype="0" fill="hold"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250"/>
                                        <p:tgtEl>
                                          <p:spTgt spid="36"/>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250"/>
                                        <p:tgtEl>
                                          <p:spTgt spid="37"/>
                                        </p:tgtEl>
                                      </p:cBhvr>
                                    </p:animEffect>
                                  </p:childTnLst>
                                </p:cTn>
                              </p:par>
                            </p:childTnLst>
                          </p:cTn>
                        </p:par>
                        <p:par>
                          <p:cTn id="24" fill="hold">
                            <p:stCondLst>
                              <p:cond delay="1250"/>
                            </p:stCondLst>
                            <p:childTnLst>
                              <p:par>
                                <p:cTn id="25" presetID="10" presetClass="entr" presetSubtype="0" fill="hold" nodeType="after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250"/>
                                        <p:tgtEl>
                                          <p:spTgt spid="38"/>
                                        </p:tgtEl>
                                      </p:cBhvr>
                                    </p:animEffect>
                                  </p:childTnLst>
                                </p:cTn>
                              </p:par>
                            </p:childTnLst>
                          </p:cTn>
                        </p:par>
                        <p:par>
                          <p:cTn id="28" fill="hold">
                            <p:stCondLst>
                              <p:cond delay="1500"/>
                            </p:stCondLst>
                            <p:childTnLst>
                              <p:par>
                                <p:cTn id="29" presetID="10" presetClass="entr" presetSubtype="0" fill="hold" nodeType="after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fade">
                                      <p:cBhvr>
                                        <p:cTn id="31" dur="250"/>
                                        <p:tgtEl>
                                          <p:spTgt spid="39"/>
                                        </p:tgtEl>
                                      </p:cBhvr>
                                    </p:animEffect>
                                  </p:childTnLst>
                                </p:cTn>
                              </p:par>
                            </p:childTnLst>
                          </p:cTn>
                        </p:par>
                        <p:par>
                          <p:cTn id="32" fill="hold">
                            <p:stCondLst>
                              <p:cond delay="1750"/>
                            </p:stCondLst>
                            <p:childTnLst>
                              <p:par>
                                <p:cTn id="33" presetID="10" presetClass="entr" presetSubtype="0" fill="hold" nodeType="after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fade">
                                      <p:cBhvr>
                                        <p:cTn id="35" dur="250"/>
                                        <p:tgtEl>
                                          <p:spTgt spid="40"/>
                                        </p:tgtEl>
                                      </p:cBhvr>
                                    </p:animEffect>
                                  </p:childTnLst>
                                </p:cTn>
                              </p:par>
                            </p:childTnLst>
                          </p:cTn>
                        </p:par>
                        <p:par>
                          <p:cTn id="36" fill="hold">
                            <p:stCondLst>
                              <p:cond delay="2000"/>
                            </p:stCondLst>
                            <p:childTnLst>
                              <p:par>
                                <p:cTn id="37" presetID="10" presetClass="entr" presetSubtype="0" fill="hold" nodeType="after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250"/>
                                        <p:tgtEl>
                                          <p:spTgt spid="41"/>
                                        </p:tgtEl>
                                      </p:cBhvr>
                                    </p:animEffect>
                                  </p:childTnLst>
                                </p:cTn>
                              </p:par>
                            </p:childTnLst>
                          </p:cTn>
                        </p:par>
                        <p:par>
                          <p:cTn id="40" fill="hold">
                            <p:stCondLst>
                              <p:cond delay="2250"/>
                            </p:stCondLst>
                            <p:childTnLst>
                              <p:par>
                                <p:cTn id="41" presetID="10" presetClass="entr" presetSubtype="0" fill="hold" nodeType="afterEffect">
                                  <p:stCondLst>
                                    <p:cond delay="0"/>
                                  </p:stCondLst>
                                  <p:childTnLst>
                                    <p:set>
                                      <p:cBhvr>
                                        <p:cTn id="42" dur="1" fill="hold">
                                          <p:stCondLst>
                                            <p:cond delay="0"/>
                                          </p:stCondLst>
                                        </p:cTn>
                                        <p:tgtEl>
                                          <p:spTgt spid="42"/>
                                        </p:tgtEl>
                                        <p:attrNameLst>
                                          <p:attrName>style.visibility</p:attrName>
                                        </p:attrNameLst>
                                      </p:cBhvr>
                                      <p:to>
                                        <p:strVal val="visible"/>
                                      </p:to>
                                    </p:set>
                                    <p:animEffect transition="in" filter="fade">
                                      <p:cBhvr>
                                        <p:cTn id="43" dur="25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685800"/>
          </a:xfrm>
          <a:prstGeom prst="rect">
            <a:avLst/>
          </a:prstGeom>
          <a:noFill/>
          <a:ln/>
        </p:spPr>
        <p:txBody>
          <a:bodyPr wrap="square" lIns="0" tIns="0" rIns="0" bIns="0" rtlCol="0" anchor="t"/>
          <a:lstStyle/>
          <a:p>
            <a:pPr marL="0" indent="0" algn="l">
              <a:buNone/>
            </a:pPr>
            <a:r>
              <a:rPr lang="en-US" sz="3000" dirty="0">
                <a:solidFill>
                  <a:srgbClr val="15233B"/>
                </a:solidFill>
                <a:latin typeface="Palatino Linotype" pitchFamily="34" charset="0"/>
                <a:ea typeface="Palatino Linotype" pitchFamily="34" charset="-122"/>
                <a:cs typeface="Palatino Linotype" pitchFamily="34" charset="-120"/>
              </a:rPr>
              <a:t>What if we could test operational decisions before they affect real patients?</a:t>
            </a:r>
            <a:endParaRPr lang="en-US" sz="3000" dirty="0"/>
          </a:p>
        </p:txBody>
      </p:sp>
      <p:sp>
        <p:nvSpPr>
          <p:cNvPr id="3" name="Text 1"/>
          <p:cNvSpPr txBox="1"/>
          <p:nvPr/>
        </p:nvSpPr>
        <p:spPr>
          <a:xfrm>
            <a:off x="548640" y="310896"/>
            <a:ext cx="8229600" cy="228600"/>
          </a:xfrm>
          <a:prstGeom prst="rect">
            <a:avLst/>
          </a:prstGeom>
          <a:noFill/>
          <a:ln/>
        </p:spPr>
        <p:txBody>
          <a:bodyPr wrap="square" lIns="0" tIns="0" rIns="0" bIns="0" rtlCol="0" anchor="t"/>
          <a:lstStyle/>
          <a:p>
            <a:pPr marL="0" indent="0">
              <a:buNone/>
            </a:pPr>
            <a:r>
              <a:rPr lang="en-US" sz="1050" kern="0" spc="200" dirty="0">
                <a:solidFill>
                  <a:srgbClr val="B4642F"/>
                </a:solidFill>
                <a:latin typeface="Consolas" pitchFamily="34" charset="0"/>
                <a:ea typeface="Consolas" pitchFamily="34" charset="-122"/>
                <a:cs typeface="Consolas" pitchFamily="34" charset="-120"/>
              </a:rPr>
              <a:t>OUR RESEARCH QUESTION</a:t>
            </a:r>
            <a:endParaRPr lang="en-US" sz="1050" dirty="0"/>
          </a:p>
        </p:txBody>
      </p:sp>
      <p:sp>
        <p:nvSpPr>
          <p:cNvPr id="5" name="Text 2"/>
          <p:cNvSpPr txBox="1"/>
          <p:nvPr/>
        </p:nvSpPr>
        <p:spPr>
          <a:xfrm>
            <a:off x="548640" y="1645920"/>
            <a:ext cx="10058400" cy="365760"/>
          </a:xfrm>
          <a:prstGeom prst="rect">
            <a:avLst/>
          </a:prstGeom>
          <a:noFill/>
          <a:ln/>
        </p:spPr>
        <p:txBody>
          <a:bodyPr wrap="square" lIns="0" tIns="0" rIns="0" bIns="0" rtlCol="0" anchor="t"/>
          <a:lstStyle/>
          <a:p>
            <a:pPr marL="0" indent="0">
              <a:buNone/>
            </a:pPr>
            <a:r>
              <a:rPr lang="en-US" sz="1500" dirty="0">
                <a:solidFill>
                  <a:srgbClr val="3A4A66"/>
                </a:solidFill>
                <a:latin typeface="Segoe UI" pitchFamily="34" charset="0"/>
                <a:ea typeface="Segoe UI" pitchFamily="34" charset="-122"/>
                <a:cs typeface="Segoe UI" pitchFamily="34" charset="-120"/>
              </a:rPr>
              <a:t>SAYR is a simulation-driven healthcare operations decision-support prototype.</a:t>
            </a:r>
            <a:endParaRPr lang="en-US" sz="1500" dirty="0"/>
          </a:p>
        </p:txBody>
      </p:sp>
      <p:sp>
        <p:nvSpPr>
          <p:cNvPr id="6" name="S3_step0"/>
          <p:cNvSpPr/>
          <p:nvPr/>
        </p:nvSpPr>
        <p:spPr>
          <a:xfrm>
            <a:off x="548640" y="2286000"/>
            <a:ext cx="1463040" cy="1600200"/>
          </a:xfrm>
          <a:prstGeom prst="roundRect">
            <a:avLst>
              <a:gd name="adj" fmla="val 4375"/>
            </a:avLst>
          </a:prstGeom>
          <a:solidFill>
            <a:srgbClr val="1B2D4D"/>
          </a:solidFill>
          <a:ln w="6350">
            <a:solidFill>
              <a:srgbClr val="1B2D4D"/>
            </a:solidFill>
            <a:prstDash val="solid"/>
          </a:ln>
        </p:spPr>
      </p:sp>
      <p:sp>
        <p:nvSpPr>
          <p:cNvPr id="7" name="Text 4"/>
          <p:cNvSpPr txBox="1"/>
          <p:nvPr/>
        </p:nvSpPr>
        <p:spPr>
          <a:xfrm>
            <a:off x="676656" y="2377440"/>
            <a:ext cx="548640" cy="201168"/>
          </a:xfrm>
          <a:prstGeom prst="rect">
            <a:avLst/>
          </a:prstGeom>
          <a:noFill/>
          <a:ln/>
        </p:spPr>
        <p:txBody>
          <a:bodyPr wrap="square" lIns="0" tIns="0" rIns="0" bIns="0" rtlCol="0" anchor="t"/>
          <a:lstStyle/>
          <a:p>
            <a:pPr marL="0" indent="0">
              <a:buNone/>
            </a:pPr>
            <a:r>
              <a:rPr lang="en-US" sz="1000" dirty="0">
                <a:solidFill>
                  <a:srgbClr val="F2DFD0"/>
                </a:solidFill>
                <a:latin typeface="Consolas" pitchFamily="34" charset="0"/>
                <a:ea typeface="Consolas" pitchFamily="34" charset="-122"/>
                <a:cs typeface="Consolas" pitchFamily="34" charset="-120"/>
              </a:rPr>
              <a:t>01</a:t>
            </a:r>
            <a:endParaRPr lang="en-US" sz="1000" dirty="0"/>
          </a:p>
        </p:txBody>
      </p:sp>
      <p:sp>
        <p:nvSpPr>
          <p:cNvPr id="8" name="Text 5"/>
          <p:cNvSpPr txBox="1"/>
          <p:nvPr/>
        </p:nvSpPr>
        <p:spPr>
          <a:xfrm>
            <a:off x="658368" y="2651760"/>
            <a:ext cx="1298448" cy="822960"/>
          </a:xfrm>
          <a:prstGeom prst="rect">
            <a:avLst/>
          </a:prstGeom>
          <a:noFill/>
          <a:ln/>
        </p:spPr>
        <p:txBody>
          <a:bodyPr wrap="square" lIns="0" tIns="0" rIns="0" bIns="0" rtlCol="0" anchor="t"/>
          <a:lstStyle/>
          <a:p>
            <a:pPr marL="0" indent="0">
              <a:buNone/>
            </a:pPr>
            <a:r>
              <a:rPr lang="en-US" sz="1400" b="1" dirty="0">
                <a:solidFill>
                  <a:srgbClr val="FFFFFF"/>
                </a:solidFill>
                <a:latin typeface="Palatino Linotype" pitchFamily="34" charset="0"/>
                <a:ea typeface="Palatino Linotype" pitchFamily="34" charset="-122"/>
                <a:cs typeface="Palatino Linotype" pitchFamily="34" charset="-120"/>
              </a:rPr>
              <a:t>Model a clinic</a:t>
            </a:r>
            <a:endParaRPr lang="en-US" sz="1400" dirty="0"/>
          </a:p>
        </p:txBody>
      </p:sp>
      <p:sp>
        <p:nvSpPr>
          <p:cNvPr id="9" name="Text 6"/>
          <p:cNvSpPr txBox="1"/>
          <p:nvPr/>
        </p:nvSpPr>
        <p:spPr>
          <a:xfrm>
            <a:off x="676656" y="3520440"/>
            <a:ext cx="1280160" cy="274320"/>
          </a:xfrm>
          <a:prstGeom prst="rect">
            <a:avLst/>
          </a:prstGeom>
          <a:noFill/>
          <a:ln/>
        </p:spPr>
        <p:txBody>
          <a:bodyPr wrap="square" lIns="0" tIns="0" rIns="0" bIns="0" rtlCol="0" anchor="t"/>
          <a:lstStyle/>
          <a:p>
            <a:pPr marL="0" indent="0">
              <a:buNone/>
            </a:pPr>
            <a:r>
              <a:rPr lang="en-US" sz="800" kern="0" spc="100" dirty="0">
                <a:solidFill>
                  <a:srgbClr val="F2DFD0"/>
                </a:solidFill>
                <a:latin typeface="Consolas" pitchFamily="34" charset="0"/>
                <a:ea typeface="Consolas" pitchFamily="34" charset="-122"/>
                <a:cs typeface="Consolas" pitchFamily="34" charset="-120"/>
              </a:rPr>
              <a:t>CONTROL ROOM</a:t>
            </a:r>
            <a:endParaRPr lang="en-US" sz="800" dirty="0"/>
          </a:p>
        </p:txBody>
      </p:sp>
      <p:sp>
        <p:nvSpPr>
          <p:cNvPr id="10" name="S3_step1"/>
          <p:cNvSpPr/>
          <p:nvPr/>
        </p:nvSpPr>
        <p:spPr>
          <a:xfrm>
            <a:off x="2133570" y="2286000"/>
            <a:ext cx="1463040" cy="1600200"/>
          </a:xfrm>
          <a:prstGeom prst="roundRect">
            <a:avLst>
              <a:gd name="adj" fmla="val 4375"/>
            </a:avLst>
          </a:prstGeom>
          <a:solidFill>
            <a:srgbClr val="1B2D4D"/>
          </a:solidFill>
          <a:ln w="6350">
            <a:solidFill>
              <a:srgbClr val="1B2D4D"/>
            </a:solidFill>
            <a:prstDash val="solid"/>
          </a:ln>
        </p:spPr>
      </p:sp>
      <p:sp>
        <p:nvSpPr>
          <p:cNvPr id="11" name="Text 8"/>
          <p:cNvSpPr txBox="1"/>
          <p:nvPr/>
        </p:nvSpPr>
        <p:spPr>
          <a:xfrm>
            <a:off x="2261586" y="2377440"/>
            <a:ext cx="548640" cy="201168"/>
          </a:xfrm>
          <a:prstGeom prst="rect">
            <a:avLst/>
          </a:prstGeom>
          <a:noFill/>
          <a:ln/>
        </p:spPr>
        <p:txBody>
          <a:bodyPr wrap="square" lIns="0" tIns="0" rIns="0" bIns="0" rtlCol="0" anchor="t"/>
          <a:lstStyle/>
          <a:p>
            <a:pPr marL="0" indent="0">
              <a:buNone/>
            </a:pPr>
            <a:r>
              <a:rPr lang="en-US" sz="1000" dirty="0">
                <a:solidFill>
                  <a:srgbClr val="F2DFD0"/>
                </a:solidFill>
                <a:latin typeface="Consolas" pitchFamily="34" charset="0"/>
                <a:ea typeface="Consolas" pitchFamily="34" charset="-122"/>
                <a:cs typeface="Consolas" pitchFamily="34" charset="-120"/>
              </a:rPr>
              <a:t>02</a:t>
            </a:r>
            <a:endParaRPr lang="en-US" sz="1000" dirty="0"/>
          </a:p>
        </p:txBody>
      </p:sp>
      <p:sp>
        <p:nvSpPr>
          <p:cNvPr id="12" name="Text 9"/>
          <p:cNvSpPr txBox="1"/>
          <p:nvPr/>
        </p:nvSpPr>
        <p:spPr>
          <a:xfrm>
            <a:off x="2243298" y="2651760"/>
            <a:ext cx="1298448" cy="822960"/>
          </a:xfrm>
          <a:prstGeom prst="rect">
            <a:avLst/>
          </a:prstGeom>
          <a:noFill/>
          <a:ln/>
        </p:spPr>
        <p:txBody>
          <a:bodyPr wrap="square" lIns="0" tIns="0" rIns="0" bIns="0" rtlCol="0" anchor="t"/>
          <a:lstStyle/>
          <a:p>
            <a:pPr marL="0" indent="0">
              <a:buNone/>
            </a:pPr>
            <a:r>
              <a:rPr lang="en-US" sz="1400" b="1" dirty="0">
                <a:solidFill>
                  <a:srgbClr val="FFFFFF"/>
                </a:solidFill>
                <a:latin typeface="Palatino Linotype" pitchFamily="34" charset="0"/>
                <a:ea typeface="Palatino Linotype" pitchFamily="34" charset="-122"/>
                <a:cs typeface="Palatino Linotype" pitchFamily="34" charset="-120"/>
              </a:rPr>
              <a:t>Simulate operations</a:t>
            </a:r>
            <a:endParaRPr lang="en-US" sz="1400" dirty="0"/>
          </a:p>
        </p:txBody>
      </p:sp>
      <p:sp>
        <p:nvSpPr>
          <p:cNvPr id="13" name="Text 10"/>
          <p:cNvSpPr txBox="1"/>
          <p:nvPr/>
        </p:nvSpPr>
        <p:spPr>
          <a:xfrm>
            <a:off x="2261586" y="3520440"/>
            <a:ext cx="1280160" cy="274320"/>
          </a:xfrm>
          <a:prstGeom prst="rect">
            <a:avLst/>
          </a:prstGeom>
          <a:noFill/>
          <a:ln/>
        </p:spPr>
        <p:txBody>
          <a:bodyPr wrap="square" lIns="0" tIns="0" rIns="0" bIns="0" rtlCol="0" anchor="t"/>
          <a:lstStyle/>
          <a:p>
            <a:pPr marL="0" indent="0">
              <a:buNone/>
            </a:pPr>
            <a:r>
              <a:rPr lang="en-US" sz="800" kern="0" spc="100" dirty="0">
                <a:solidFill>
                  <a:srgbClr val="F2DFD0"/>
                </a:solidFill>
                <a:latin typeface="Consolas" pitchFamily="34" charset="0"/>
                <a:ea typeface="Consolas" pitchFamily="34" charset="-122"/>
                <a:cs typeface="Consolas" pitchFamily="34" charset="-120"/>
              </a:rPr>
              <a:t>CONTROL ROOM</a:t>
            </a:r>
            <a:endParaRPr lang="en-US" sz="800" dirty="0"/>
          </a:p>
        </p:txBody>
      </p:sp>
      <p:sp>
        <p:nvSpPr>
          <p:cNvPr id="14" name="S3_step2"/>
          <p:cNvSpPr/>
          <p:nvPr/>
        </p:nvSpPr>
        <p:spPr>
          <a:xfrm>
            <a:off x="3718499" y="2286000"/>
            <a:ext cx="1463040" cy="1600200"/>
          </a:xfrm>
          <a:prstGeom prst="roundRect">
            <a:avLst>
              <a:gd name="adj" fmla="val 4375"/>
            </a:avLst>
          </a:prstGeom>
          <a:solidFill>
            <a:srgbClr val="B4642F"/>
          </a:solidFill>
          <a:ln w="6350">
            <a:solidFill>
              <a:srgbClr val="B4642F"/>
            </a:solidFill>
            <a:prstDash val="solid"/>
          </a:ln>
        </p:spPr>
      </p:sp>
      <p:sp>
        <p:nvSpPr>
          <p:cNvPr id="15" name="Text 12"/>
          <p:cNvSpPr txBox="1"/>
          <p:nvPr/>
        </p:nvSpPr>
        <p:spPr>
          <a:xfrm>
            <a:off x="3846515" y="2377440"/>
            <a:ext cx="548640" cy="201168"/>
          </a:xfrm>
          <a:prstGeom prst="rect">
            <a:avLst/>
          </a:prstGeom>
          <a:noFill/>
          <a:ln/>
        </p:spPr>
        <p:txBody>
          <a:bodyPr wrap="square" lIns="0" tIns="0" rIns="0" bIns="0" rtlCol="0" anchor="t"/>
          <a:lstStyle/>
          <a:p>
            <a:pPr marL="0" indent="0">
              <a:buNone/>
            </a:pPr>
            <a:r>
              <a:rPr lang="en-US" sz="1000" dirty="0">
                <a:solidFill>
                  <a:srgbClr val="F2DFD0"/>
                </a:solidFill>
                <a:latin typeface="Consolas" pitchFamily="34" charset="0"/>
                <a:ea typeface="Consolas" pitchFamily="34" charset="-122"/>
                <a:cs typeface="Consolas" pitchFamily="34" charset="-120"/>
              </a:rPr>
              <a:t>03</a:t>
            </a:r>
            <a:endParaRPr lang="en-US" sz="1000" dirty="0"/>
          </a:p>
        </p:txBody>
      </p:sp>
      <p:sp>
        <p:nvSpPr>
          <p:cNvPr id="16" name="Text 13"/>
          <p:cNvSpPr txBox="1"/>
          <p:nvPr/>
        </p:nvSpPr>
        <p:spPr>
          <a:xfrm>
            <a:off x="3828227" y="2651760"/>
            <a:ext cx="1298448" cy="822960"/>
          </a:xfrm>
          <a:prstGeom prst="rect">
            <a:avLst/>
          </a:prstGeom>
          <a:noFill/>
          <a:ln/>
        </p:spPr>
        <p:txBody>
          <a:bodyPr wrap="square" lIns="0" tIns="0" rIns="0" bIns="0" rtlCol="0" anchor="t"/>
          <a:lstStyle/>
          <a:p>
            <a:pPr marL="0" indent="0">
              <a:buNone/>
            </a:pPr>
            <a:r>
              <a:rPr lang="en-US" sz="1400" b="1" dirty="0">
                <a:solidFill>
                  <a:srgbClr val="FFFFFF"/>
                </a:solidFill>
                <a:latin typeface="Palatino Linotype" pitchFamily="34" charset="0"/>
                <a:ea typeface="Palatino Linotype" pitchFamily="34" charset="-122"/>
                <a:cs typeface="Palatino Linotype" pitchFamily="34" charset="-120"/>
              </a:rPr>
              <a:t>Introduce a disruption</a:t>
            </a:r>
            <a:endParaRPr lang="en-US" sz="1400" dirty="0"/>
          </a:p>
        </p:txBody>
      </p:sp>
      <p:sp>
        <p:nvSpPr>
          <p:cNvPr id="17" name="Text 14"/>
          <p:cNvSpPr txBox="1"/>
          <p:nvPr/>
        </p:nvSpPr>
        <p:spPr>
          <a:xfrm>
            <a:off x="3846515" y="3520440"/>
            <a:ext cx="1280160" cy="274320"/>
          </a:xfrm>
          <a:prstGeom prst="rect">
            <a:avLst/>
          </a:prstGeom>
          <a:noFill/>
          <a:ln/>
        </p:spPr>
        <p:txBody>
          <a:bodyPr wrap="square" lIns="0" tIns="0" rIns="0" bIns="0" rtlCol="0" anchor="t"/>
          <a:lstStyle/>
          <a:p>
            <a:pPr marL="0" indent="0">
              <a:buNone/>
            </a:pPr>
            <a:r>
              <a:rPr lang="en-US" sz="800" kern="0" spc="100" dirty="0">
                <a:solidFill>
                  <a:srgbClr val="F2DFD0"/>
                </a:solidFill>
                <a:latin typeface="Consolas" pitchFamily="34" charset="0"/>
                <a:ea typeface="Consolas" pitchFamily="34" charset="-122"/>
                <a:cs typeface="Consolas" pitchFamily="34" charset="-120"/>
              </a:rPr>
              <a:t>STRESS CONTROLS</a:t>
            </a:r>
            <a:endParaRPr lang="en-US" sz="800" dirty="0"/>
          </a:p>
        </p:txBody>
      </p:sp>
      <p:sp>
        <p:nvSpPr>
          <p:cNvPr id="18" name="S3_step3"/>
          <p:cNvSpPr/>
          <p:nvPr/>
        </p:nvSpPr>
        <p:spPr>
          <a:xfrm>
            <a:off x="5303429" y="2286000"/>
            <a:ext cx="1463040" cy="1600200"/>
          </a:xfrm>
          <a:prstGeom prst="roundRect">
            <a:avLst>
              <a:gd name="adj" fmla="val 4375"/>
            </a:avLst>
          </a:prstGeom>
          <a:solidFill>
            <a:srgbClr val="B4642F"/>
          </a:solidFill>
          <a:ln w="6350">
            <a:solidFill>
              <a:srgbClr val="B4642F"/>
            </a:solidFill>
            <a:prstDash val="solid"/>
          </a:ln>
        </p:spPr>
      </p:sp>
      <p:sp>
        <p:nvSpPr>
          <p:cNvPr id="19" name="Text 16"/>
          <p:cNvSpPr txBox="1"/>
          <p:nvPr/>
        </p:nvSpPr>
        <p:spPr>
          <a:xfrm>
            <a:off x="5431445" y="2377440"/>
            <a:ext cx="548640" cy="201168"/>
          </a:xfrm>
          <a:prstGeom prst="rect">
            <a:avLst/>
          </a:prstGeom>
          <a:noFill/>
          <a:ln/>
        </p:spPr>
        <p:txBody>
          <a:bodyPr wrap="square" lIns="0" tIns="0" rIns="0" bIns="0" rtlCol="0" anchor="t"/>
          <a:lstStyle/>
          <a:p>
            <a:pPr marL="0" indent="0">
              <a:buNone/>
            </a:pPr>
            <a:r>
              <a:rPr lang="en-US" sz="1000" dirty="0">
                <a:solidFill>
                  <a:srgbClr val="F2DFD0"/>
                </a:solidFill>
                <a:latin typeface="Consolas" pitchFamily="34" charset="0"/>
                <a:ea typeface="Consolas" pitchFamily="34" charset="-122"/>
                <a:cs typeface="Consolas" pitchFamily="34" charset="-120"/>
              </a:rPr>
              <a:t>04</a:t>
            </a:r>
            <a:endParaRPr lang="en-US" sz="1000" dirty="0"/>
          </a:p>
        </p:txBody>
      </p:sp>
      <p:sp>
        <p:nvSpPr>
          <p:cNvPr id="20" name="Text 17"/>
          <p:cNvSpPr txBox="1"/>
          <p:nvPr/>
        </p:nvSpPr>
        <p:spPr>
          <a:xfrm>
            <a:off x="5413157" y="2651760"/>
            <a:ext cx="1298448" cy="822960"/>
          </a:xfrm>
          <a:prstGeom prst="rect">
            <a:avLst/>
          </a:prstGeom>
          <a:noFill/>
          <a:ln/>
        </p:spPr>
        <p:txBody>
          <a:bodyPr wrap="square" lIns="0" tIns="0" rIns="0" bIns="0" rtlCol="0" anchor="t"/>
          <a:lstStyle/>
          <a:p>
            <a:pPr marL="0" indent="0">
              <a:buNone/>
            </a:pPr>
            <a:r>
              <a:rPr lang="en-US" sz="1400" b="1" dirty="0">
                <a:solidFill>
                  <a:srgbClr val="FFFFFF"/>
                </a:solidFill>
                <a:latin typeface="Palatino Linotype" pitchFamily="34" charset="0"/>
                <a:ea typeface="Palatino Linotype" pitchFamily="34" charset="-122"/>
                <a:cs typeface="Palatino Linotype" pitchFamily="34" charset="-120"/>
              </a:rPr>
              <a:t>Trace consequences</a:t>
            </a:r>
            <a:endParaRPr lang="en-US" sz="1400" dirty="0"/>
          </a:p>
        </p:txBody>
      </p:sp>
      <p:sp>
        <p:nvSpPr>
          <p:cNvPr id="21" name="Text 18"/>
          <p:cNvSpPr txBox="1"/>
          <p:nvPr/>
        </p:nvSpPr>
        <p:spPr>
          <a:xfrm>
            <a:off x="5431445" y="3520440"/>
            <a:ext cx="1280160" cy="274320"/>
          </a:xfrm>
          <a:prstGeom prst="rect">
            <a:avLst/>
          </a:prstGeom>
          <a:noFill/>
          <a:ln/>
        </p:spPr>
        <p:txBody>
          <a:bodyPr wrap="square" lIns="0" tIns="0" rIns="0" bIns="0" rtlCol="0" anchor="t"/>
          <a:lstStyle/>
          <a:p>
            <a:pPr marL="0" indent="0">
              <a:buNone/>
            </a:pPr>
            <a:r>
              <a:rPr lang="en-US" sz="800" kern="0" spc="100" dirty="0">
                <a:solidFill>
                  <a:srgbClr val="F2DFD0"/>
                </a:solidFill>
                <a:latin typeface="Consolas" pitchFamily="34" charset="0"/>
                <a:ea typeface="Consolas" pitchFamily="34" charset="-122"/>
                <a:cs typeface="Consolas" pitchFamily="34" charset="-120"/>
              </a:rPr>
              <a:t>RIPPLE TRACE</a:t>
            </a:r>
            <a:endParaRPr lang="en-US" sz="800" dirty="0"/>
          </a:p>
        </p:txBody>
      </p:sp>
      <p:sp>
        <p:nvSpPr>
          <p:cNvPr id="22" name="S3_step4"/>
          <p:cNvSpPr/>
          <p:nvPr/>
        </p:nvSpPr>
        <p:spPr>
          <a:xfrm>
            <a:off x="6888358" y="2286000"/>
            <a:ext cx="1463040" cy="1600200"/>
          </a:xfrm>
          <a:prstGeom prst="roundRect">
            <a:avLst>
              <a:gd name="adj" fmla="val 4375"/>
            </a:avLst>
          </a:prstGeom>
          <a:solidFill>
            <a:srgbClr val="1F7B78"/>
          </a:solidFill>
          <a:ln w="6350">
            <a:solidFill>
              <a:srgbClr val="1F7B78"/>
            </a:solidFill>
            <a:prstDash val="solid"/>
          </a:ln>
        </p:spPr>
      </p:sp>
      <p:sp>
        <p:nvSpPr>
          <p:cNvPr id="23" name="Text 20"/>
          <p:cNvSpPr txBox="1"/>
          <p:nvPr/>
        </p:nvSpPr>
        <p:spPr>
          <a:xfrm>
            <a:off x="7016374" y="2377440"/>
            <a:ext cx="548640" cy="201168"/>
          </a:xfrm>
          <a:prstGeom prst="rect">
            <a:avLst/>
          </a:prstGeom>
          <a:noFill/>
          <a:ln/>
        </p:spPr>
        <p:txBody>
          <a:bodyPr wrap="square" lIns="0" tIns="0" rIns="0" bIns="0" rtlCol="0" anchor="t"/>
          <a:lstStyle/>
          <a:p>
            <a:pPr marL="0" indent="0">
              <a:buNone/>
            </a:pPr>
            <a:r>
              <a:rPr lang="en-US" sz="1000" dirty="0">
                <a:solidFill>
                  <a:srgbClr val="F2DFD0"/>
                </a:solidFill>
                <a:latin typeface="Consolas" pitchFamily="34" charset="0"/>
                <a:ea typeface="Consolas" pitchFamily="34" charset="-122"/>
                <a:cs typeface="Consolas" pitchFamily="34" charset="-120"/>
              </a:rPr>
              <a:t>05</a:t>
            </a:r>
            <a:endParaRPr lang="en-US" sz="1000" dirty="0"/>
          </a:p>
        </p:txBody>
      </p:sp>
      <p:sp>
        <p:nvSpPr>
          <p:cNvPr id="24" name="Text 21"/>
          <p:cNvSpPr txBox="1"/>
          <p:nvPr/>
        </p:nvSpPr>
        <p:spPr>
          <a:xfrm>
            <a:off x="6998086" y="2651760"/>
            <a:ext cx="1298448" cy="822960"/>
          </a:xfrm>
          <a:prstGeom prst="rect">
            <a:avLst/>
          </a:prstGeom>
          <a:noFill/>
          <a:ln/>
        </p:spPr>
        <p:txBody>
          <a:bodyPr wrap="square" lIns="0" tIns="0" rIns="0" bIns="0" rtlCol="0" anchor="t"/>
          <a:lstStyle/>
          <a:p>
            <a:pPr marL="0" indent="0">
              <a:buNone/>
            </a:pPr>
            <a:r>
              <a:rPr lang="en-US" sz="1400" b="1" dirty="0">
                <a:solidFill>
                  <a:srgbClr val="FFFFFF"/>
                </a:solidFill>
                <a:latin typeface="Palatino Linotype" pitchFamily="34" charset="0"/>
                <a:ea typeface="Palatino Linotype" pitchFamily="34" charset="-122"/>
                <a:cs typeface="Palatino Linotype" pitchFamily="34" charset="-120"/>
              </a:rPr>
              <a:t>Optimize a plan</a:t>
            </a:r>
            <a:endParaRPr lang="en-US" sz="1400" dirty="0"/>
          </a:p>
        </p:txBody>
      </p:sp>
      <p:sp>
        <p:nvSpPr>
          <p:cNvPr id="25" name="Text 22"/>
          <p:cNvSpPr txBox="1"/>
          <p:nvPr/>
        </p:nvSpPr>
        <p:spPr>
          <a:xfrm>
            <a:off x="7016374" y="3520440"/>
            <a:ext cx="1280160" cy="274320"/>
          </a:xfrm>
          <a:prstGeom prst="rect">
            <a:avLst/>
          </a:prstGeom>
          <a:noFill/>
          <a:ln/>
        </p:spPr>
        <p:txBody>
          <a:bodyPr wrap="square" lIns="0" tIns="0" rIns="0" bIns="0" rtlCol="0" anchor="t"/>
          <a:lstStyle/>
          <a:p>
            <a:pPr marL="0" indent="0">
              <a:buNone/>
            </a:pPr>
            <a:r>
              <a:rPr lang="en-US" sz="800" kern="0" spc="100" dirty="0">
                <a:solidFill>
                  <a:srgbClr val="F2DFD0"/>
                </a:solidFill>
                <a:latin typeface="Consolas" pitchFamily="34" charset="0"/>
                <a:ea typeface="Consolas" pitchFamily="34" charset="-122"/>
                <a:cs typeface="Consolas" pitchFamily="34" charset="-120"/>
              </a:rPr>
              <a:t>REFLOW STUDIO</a:t>
            </a:r>
            <a:endParaRPr lang="en-US" sz="800" dirty="0"/>
          </a:p>
        </p:txBody>
      </p:sp>
      <p:sp>
        <p:nvSpPr>
          <p:cNvPr id="26" name="S3_step5"/>
          <p:cNvSpPr/>
          <p:nvPr/>
        </p:nvSpPr>
        <p:spPr>
          <a:xfrm>
            <a:off x="8473288" y="2286000"/>
            <a:ext cx="1463040" cy="1600200"/>
          </a:xfrm>
          <a:prstGeom prst="roundRect">
            <a:avLst>
              <a:gd name="adj" fmla="val 4375"/>
            </a:avLst>
          </a:prstGeom>
          <a:solidFill>
            <a:srgbClr val="1B2D4D"/>
          </a:solidFill>
          <a:ln w="6350">
            <a:solidFill>
              <a:srgbClr val="1B2D4D"/>
            </a:solidFill>
            <a:prstDash val="solid"/>
          </a:ln>
        </p:spPr>
      </p:sp>
      <p:sp>
        <p:nvSpPr>
          <p:cNvPr id="27" name="Text 24"/>
          <p:cNvSpPr txBox="1"/>
          <p:nvPr/>
        </p:nvSpPr>
        <p:spPr>
          <a:xfrm>
            <a:off x="8601304" y="2377440"/>
            <a:ext cx="548640" cy="201168"/>
          </a:xfrm>
          <a:prstGeom prst="rect">
            <a:avLst/>
          </a:prstGeom>
          <a:noFill/>
          <a:ln/>
        </p:spPr>
        <p:txBody>
          <a:bodyPr wrap="square" lIns="0" tIns="0" rIns="0" bIns="0" rtlCol="0" anchor="t"/>
          <a:lstStyle/>
          <a:p>
            <a:pPr marL="0" indent="0">
              <a:buNone/>
            </a:pPr>
            <a:r>
              <a:rPr lang="en-US" sz="1000" dirty="0">
                <a:solidFill>
                  <a:srgbClr val="F2DFD0"/>
                </a:solidFill>
                <a:latin typeface="Consolas" pitchFamily="34" charset="0"/>
                <a:ea typeface="Consolas" pitchFamily="34" charset="-122"/>
                <a:cs typeface="Consolas" pitchFamily="34" charset="-120"/>
              </a:rPr>
              <a:t>06</a:t>
            </a:r>
            <a:endParaRPr lang="en-US" sz="1000" dirty="0"/>
          </a:p>
        </p:txBody>
      </p:sp>
      <p:sp>
        <p:nvSpPr>
          <p:cNvPr id="28" name="Text 25"/>
          <p:cNvSpPr txBox="1"/>
          <p:nvPr/>
        </p:nvSpPr>
        <p:spPr>
          <a:xfrm>
            <a:off x="8583016" y="2651760"/>
            <a:ext cx="1298448" cy="822960"/>
          </a:xfrm>
          <a:prstGeom prst="rect">
            <a:avLst/>
          </a:prstGeom>
          <a:noFill/>
          <a:ln/>
        </p:spPr>
        <p:txBody>
          <a:bodyPr wrap="square" lIns="0" tIns="0" rIns="0" bIns="0" rtlCol="0" anchor="t"/>
          <a:lstStyle/>
          <a:p>
            <a:pPr marL="0" indent="0">
              <a:buNone/>
            </a:pPr>
            <a:r>
              <a:rPr lang="en-US" sz="1400" b="1" dirty="0">
                <a:solidFill>
                  <a:srgbClr val="FFFFFF"/>
                </a:solidFill>
                <a:latin typeface="Palatino Linotype" pitchFamily="34" charset="0"/>
                <a:ea typeface="Palatino Linotype" pitchFamily="34" charset="-122"/>
                <a:cs typeface="Palatino Linotype" pitchFamily="34" charset="-120"/>
              </a:rPr>
              <a:t>Review and approve</a:t>
            </a:r>
            <a:endParaRPr lang="en-US" sz="1400" dirty="0"/>
          </a:p>
        </p:txBody>
      </p:sp>
      <p:sp>
        <p:nvSpPr>
          <p:cNvPr id="29" name="Text 26"/>
          <p:cNvSpPr txBox="1"/>
          <p:nvPr/>
        </p:nvSpPr>
        <p:spPr>
          <a:xfrm>
            <a:off x="8601304" y="3520440"/>
            <a:ext cx="1280160" cy="274320"/>
          </a:xfrm>
          <a:prstGeom prst="rect">
            <a:avLst/>
          </a:prstGeom>
          <a:noFill/>
          <a:ln/>
        </p:spPr>
        <p:txBody>
          <a:bodyPr wrap="square" lIns="0" tIns="0" rIns="0" bIns="0" rtlCol="0" anchor="t"/>
          <a:lstStyle/>
          <a:p>
            <a:pPr marL="0" indent="0">
              <a:buNone/>
            </a:pPr>
            <a:r>
              <a:rPr lang="en-US" sz="800" kern="0" spc="100" dirty="0">
                <a:solidFill>
                  <a:srgbClr val="F2DFD0"/>
                </a:solidFill>
                <a:latin typeface="Consolas" pitchFamily="34" charset="0"/>
                <a:ea typeface="Consolas" pitchFamily="34" charset="-122"/>
                <a:cs typeface="Consolas" pitchFamily="34" charset="-120"/>
              </a:rPr>
              <a:t>ACTION DESK</a:t>
            </a:r>
            <a:endParaRPr lang="en-US" sz="800" dirty="0"/>
          </a:p>
        </p:txBody>
      </p:sp>
      <p:sp>
        <p:nvSpPr>
          <p:cNvPr id="30" name="S3_step6"/>
          <p:cNvSpPr/>
          <p:nvPr/>
        </p:nvSpPr>
        <p:spPr>
          <a:xfrm>
            <a:off x="10058217" y="2286000"/>
            <a:ext cx="1463040" cy="1600200"/>
          </a:xfrm>
          <a:prstGeom prst="roundRect">
            <a:avLst>
              <a:gd name="adj" fmla="val 4375"/>
            </a:avLst>
          </a:prstGeom>
          <a:solidFill>
            <a:srgbClr val="1F7B78"/>
          </a:solidFill>
          <a:ln w="6350">
            <a:solidFill>
              <a:srgbClr val="1F7B78"/>
            </a:solidFill>
            <a:prstDash val="solid"/>
          </a:ln>
        </p:spPr>
      </p:sp>
      <p:sp>
        <p:nvSpPr>
          <p:cNvPr id="31" name="Text 28"/>
          <p:cNvSpPr txBox="1"/>
          <p:nvPr/>
        </p:nvSpPr>
        <p:spPr>
          <a:xfrm>
            <a:off x="10186233" y="2377440"/>
            <a:ext cx="548640" cy="201168"/>
          </a:xfrm>
          <a:prstGeom prst="rect">
            <a:avLst/>
          </a:prstGeom>
          <a:noFill/>
          <a:ln/>
        </p:spPr>
        <p:txBody>
          <a:bodyPr wrap="square" lIns="0" tIns="0" rIns="0" bIns="0" rtlCol="0" anchor="t"/>
          <a:lstStyle/>
          <a:p>
            <a:pPr marL="0" indent="0">
              <a:buNone/>
            </a:pPr>
            <a:r>
              <a:rPr lang="en-US" sz="1000" dirty="0">
                <a:solidFill>
                  <a:srgbClr val="F2DFD0"/>
                </a:solidFill>
                <a:latin typeface="Consolas" pitchFamily="34" charset="0"/>
                <a:ea typeface="Consolas" pitchFamily="34" charset="-122"/>
                <a:cs typeface="Consolas" pitchFamily="34" charset="-120"/>
              </a:rPr>
              <a:t>07</a:t>
            </a:r>
            <a:endParaRPr lang="en-US" sz="1000" dirty="0"/>
          </a:p>
        </p:txBody>
      </p:sp>
      <p:sp>
        <p:nvSpPr>
          <p:cNvPr id="32" name="Text 29"/>
          <p:cNvSpPr txBox="1"/>
          <p:nvPr/>
        </p:nvSpPr>
        <p:spPr>
          <a:xfrm>
            <a:off x="10167945" y="2651760"/>
            <a:ext cx="1298448" cy="822960"/>
          </a:xfrm>
          <a:prstGeom prst="rect">
            <a:avLst/>
          </a:prstGeom>
          <a:noFill/>
          <a:ln/>
        </p:spPr>
        <p:txBody>
          <a:bodyPr wrap="square" lIns="0" tIns="0" rIns="0" bIns="0" rtlCol="0" anchor="t"/>
          <a:lstStyle/>
          <a:p>
            <a:pPr marL="0" indent="0">
              <a:buNone/>
            </a:pPr>
            <a:r>
              <a:rPr lang="en-US" sz="1400" b="1" dirty="0">
                <a:solidFill>
                  <a:srgbClr val="FFFFFF"/>
                </a:solidFill>
                <a:latin typeface="Palatino Linotype" pitchFamily="34" charset="0"/>
                <a:ea typeface="Palatino Linotype" pitchFamily="34" charset="-122"/>
                <a:cs typeface="Palatino Linotype" pitchFamily="34" charset="-120"/>
              </a:rPr>
              <a:t>Measure the result</a:t>
            </a:r>
            <a:endParaRPr lang="en-US" sz="1400" dirty="0"/>
          </a:p>
        </p:txBody>
      </p:sp>
      <p:sp>
        <p:nvSpPr>
          <p:cNvPr id="33" name="Text 30"/>
          <p:cNvSpPr txBox="1"/>
          <p:nvPr/>
        </p:nvSpPr>
        <p:spPr>
          <a:xfrm>
            <a:off x="10186233" y="3520440"/>
            <a:ext cx="1280160" cy="274320"/>
          </a:xfrm>
          <a:prstGeom prst="rect">
            <a:avLst/>
          </a:prstGeom>
          <a:noFill/>
          <a:ln/>
        </p:spPr>
        <p:txBody>
          <a:bodyPr wrap="square" lIns="0" tIns="0" rIns="0" bIns="0" rtlCol="0" anchor="t"/>
          <a:lstStyle/>
          <a:p>
            <a:pPr marL="0" indent="0">
              <a:buNone/>
            </a:pPr>
            <a:r>
              <a:rPr lang="en-US" sz="800" kern="0" spc="100" dirty="0">
                <a:solidFill>
                  <a:srgbClr val="F2DFD0"/>
                </a:solidFill>
                <a:latin typeface="Consolas" pitchFamily="34" charset="0"/>
                <a:ea typeface="Consolas" pitchFamily="34" charset="-122"/>
                <a:cs typeface="Consolas" pitchFamily="34" charset="-120"/>
              </a:rPr>
              <a:t>MINUTES LEDGER</a:t>
            </a:r>
            <a:endParaRPr lang="en-US" sz="800" dirty="0"/>
          </a:p>
        </p:txBody>
      </p:sp>
      <p:sp>
        <p:nvSpPr>
          <p:cNvPr id="34" name="Shape 31"/>
          <p:cNvSpPr/>
          <p:nvPr/>
        </p:nvSpPr>
        <p:spPr>
          <a:xfrm>
            <a:off x="548640" y="4206240"/>
            <a:ext cx="11091672" cy="1783080"/>
          </a:xfrm>
          <a:prstGeom prst="roundRect">
            <a:avLst>
              <a:gd name="adj" fmla="val 4103"/>
            </a:avLst>
          </a:prstGeom>
          <a:solidFill>
            <a:srgbClr val="EEE8DA"/>
          </a:solidFill>
          <a:ln w="9525">
            <a:solidFill>
              <a:srgbClr val="DDD5C3"/>
            </a:solidFill>
            <a:prstDash val="solid"/>
          </a:ln>
        </p:spPr>
      </p:sp>
      <p:sp>
        <p:nvSpPr>
          <p:cNvPr id="35" name="Text 32"/>
          <p:cNvSpPr txBox="1"/>
          <p:nvPr/>
        </p:nvSpPr>
        <p:spPr>
          <a:xfrm>
            <a:off x="777240" y="4315968"/>
            <a:ext cx="7315200" cy="201168"/>
          </a:xfrm>
          <a:prstGeom prst="rect">
            <a:avLst/>
          </a:prstGeom>
          <a:noFill/>
          <a:ln/>
        </p:spPr>
        <p:txBody>
          <a:bodyPr wrap="square" lIns="0" tIns="0" rIns="0" bIns="0" rtlCol="0" anchor="t"/>
          <a:lstStyle/>
          <a:p>
            <a:pPr marL="0" indent="0">
              <a:buNone/>
            </a:pPr>
            <a:r>
              <a:rPr lang="en-US" sz="900" kern="0" spc="150" dirty="0">
                <a:solidFill>
                  <a:srgbClr val="B4642F"/>
                </a:solidFill>
                <a:latin typeface="Consolas" pitchFamily="34" charset="0"/>
                <a:ea typeface="Consolas" pitchFamily="34" charset="-122"/>
                <a:cs typeface="Consolas" pitchFamily="34" charset="-120"/>
              </a:rPr>
              <a:t>ONE DETERMINISTIC SIMULATION STATE · EVERY SCREEN READS THE SAME DATA</a:t>
            </a:r>
            <a:endParaRPr lang="en-US" sz="900" dirty="0"/>
          </a:p>
        </p:txBody>
      </p:sp>
      <p:sp>
        <p:nvSpPr>
          <p:cNvPr id="36" name="Shape 33"/>
          <p:cNvSpPr/>
          <p:nvPr/>
        </p:nvSpPr>
        <p:spPr>
          <a:xfrm>
            <a:off x="777240" y="4617720"/>
            <a:ext cx="1645920" cy="1143000"/>
          </a:xfrm>
          <a:prstGeom prst="roundRect">
            <a:avLst>
              <a:gd name="adj" fmla="val 4800"/>
            </a:avLst>
          </a:prstGeom>
          <a:solidFill>
            <a:srgbClr val="FBF9F4"/>
          </a:solidFill>
          <a:ln w="15875">
            <a:solidFill>
              <a:srgbClr val="3A4A66"/>
            </a:solidFill>
            <a:prstDash val="solid"/>
          </a:ln>
        </p:spPr>
      </p:sp>
      <p:sp>
        <p:nvSpPr>
          <p:cNvPr id="37" name="Text 34"/>
          <p:cNvSpPr txBox="1"/>
          <p:nvPr/>
        </p:nvSpPr>
        <p:spPr>
          <a:xfrm>
            <a:off x="868680" y="4690872"/>
            <a:ext cx="1463040" cy="457200"/>
          </a:xfrm>
          <a:prstGeom prst="rect">
            <a:avLst/>
          </a:prstGeom>
          <a:noFill/>
          <a:ln/>
        </p:spPr>
        <p:txBody>
          <a:bodyPr wrap="square" lIns="0" tIns="0" rIns="0" bIns="0" rtlCol="0" anchor="t"/>
          <a:lstStyle/>
          <a:p>
            <a:pPr marL="0" indent="0">
              <a:buNone/>
            </a:pPr>
            <a:r>
              <a:rPr lang="en-US" sz="1250" b="1" dirty="0">
                <a:solidFill>
                  <a:srgbClr val="3A4A66"/>
                </a:solidFill>
                <a:latin typeface="Palatino Linotype" pitchFamily="34" charset="0"/>
                <a:ea typeface="Palatino Linotype" pitchFamily="34" charset="-122"/>
                <a:cs typeface="Palatino Linotype" pitchFamily="34" charset="-120"/>
              </a:rPr>
              <a:t>Synthetic clinic</a:t>
            </a:r>
            <a:endParaRPr lang="en-US" sz="1250" dirty="0"/>
          </a:p>
        </p:txBody>
      </p:sp>
      <p:sp>
        <p:nvSpPr>
          <p:cNvPr id="38" name="Text 35"/>
          <p:cNvSpPr txBox="1"/>
          <p:nvPr/>
        </p:nvSpPr>
        <p:spPr>
          <a:xfrm>
            <a:off x="868680" y="5193792"/>
            <a:ext cx="1463040" cy="502920"/>
          </a:xfrm>
          <a:prstGeom prst="rect">
            <a:avLst/>
          </a:prstGeom>
          <a:noFill/>
          <a:ln/>
        </p:spPr>
        <p:txBody>
          <a:bodyPr wrap="square" lIns="0" tIns="0" rIns="0" bIns="0" rtlCol="0" anchor="t"/>
          <a:lstStyle/>
          <a:p>
            <a:pPr marL="0" indent="0">
              <a:buNone/>
            </a:pPr>
            <a:r>
              <a:rPr lang="en-US" sz="950" dirty="0">
                <a:solidFill>
                  <a:srgbClr val="3A4A66"/>
                </a:solidFill>
                <a:latin typeface="Segoe UI" pitchFamily="34" charset="0"/>
                <a:ea typeface="Segoe UI" pitchFamily="34" charset="-122"/>
                <a:cs typeface="Segoe UI" pitchFamily="34" charset="-120"/>
              </a:rPr>
              <a:t>seeded patients, 9 resources</a:t>
            </a:r>
            <a:endParaRPr lang="en-US" sz="950" dirty="0"/>
          </a:p>
        </p:txBody>
      </p:sp>
      <p:sp>
        <p:nvSpPr>
          <p:cNvPr id="39" name="Text 36"/>
          <p:cNvSpPr txBox="1"/>
          <p:nvPr/>
        </p:nvSpPr>
        <p:spPr>
          <a:xfrm>
            <a:off x="2404872" y="4919472"/>
            <a:ext cx="182880" cy="365760"/>
          </a:xfrm>
          <a:prstGeom prst="rect">
            <a:avLst/>
          </a:prstGeom>
          <a:noFill/>
          <a:ln/>
        </p:spPr>
        <p:txBody>
          <a:bodyPr wrap="square" lIns="0" tIns="0" rIns="0" bIns="0" rtlCol="0" anchor="t"/>
          <a:lstStyle/>
          <a:p>
            <a:pPr marL="0" indent="0" algn="ctr">
              <a:buNone/>
            </a:pPr>
            <a:r>
              <a:rPr lang="en-US" sz="2000" dirty="0">
                <a:solidFill>
                  <a:srgbClr val="A39C88"/>
                </a:solidFill>
                <a:latin typeface="Palatino Linotype" pitchFamily="34" charset="0"/>
                <a:ea typeface="Palatino Linotype" pitchFamily="34" charset="-122"/>
                <a:cs typeface="Palatino Linotype" pitchFamily="34" charset="-120"/>
              </a:rPr>
              <a:t>›</a:t>
            </a:r>
            <a:endParaRPr lang="en-US" sz="2000" dirty="0"/>
          </a:p>
        </p:txBody>
      </p:sp>
      <p:sp>
        <p:nvSpPr>
          <p:cNvPr id="40" name="Shape 37"/>
          <p:cNvSpPr/>
          <p:nvPr/>
        </p:nvSpPr>
        <p:spPr>
          <a:xfrm>
            <a:off x="2560320" y="4617720"/>
            <a:ext cx="1645920" cy="1143000"/>
          </a:xfrm>
          <a:prstGeom prst="roundRect">
            <a:avLst>
              <a:gd name="adj" fmla="val 4800"/>
            </a:avLst>
          </a:prstGeom>
          <a:solidFill>
            <a:srgbClr val="FBF9F4"/>
          </a:solidFill>
          <a:ln w="15875">
            <a:solidFill>
              <a:srgbClr val="1B2D4D"/>
            </a:solidFill>
            <a:prstDash val="solid"/>
          </a:ln>
        </p:spPr>
      </p:sp>
      <p:sp>
        <p:nvSpPr>
          <p:cNvPr id="41" name="Text 38"/>
          <p:cNvSpPr txBox="1"/>
          <p:nvPr/>
        </p:nvSpPr>
        <p:spPr>
          <a:xfrm>
            <a:off x="2651760" y="4690872"/>
            <a:ext cx="1463040" cy="457200"/>
          </a:xfrm>
          <a:prstGeom prst="rect">
            <a:avLst/>
          </a:prstGeom>
          <a:noFill/>
          <a:ln/>
        </p:spPr>
        <p:txBody>
          <a:bodyPr wrap="square" lIns="0" tIns="0" rIns="0" bIns="0" rtlCol="0" anchor="t"/>
          <a:lstStyle/>
          <a:p>
            <a:pPr marL="0" indent="0">
              <a:buNone/>
            </a:pPr>
            <a:r>
              <a:rPr lang="en-US" sz="1250" b="1" dirty="0">
                <a:solidFill>
                  <a:srgbClr val="1B2D4D"/>
                </a:solidFill>
                <a:latin typeface="Palatino Linotype" pitchFamily="34" charset="0"/>
                <a:ea typeface="Palatino Linotype" pitchFamily="34" charset="-122"/>
                <a:cs typeface="Palatino Linotype" pitchFamily="34" charset="-120"/>
              </a:rPr>
              <a:t>Discrete-event simulation</a:t>
            </a:r>
            <a:endParaRPr lang="en-US" sz="1250" dirty="0"/>
          </a:p>
        </p:txBody>
      </p:sp>
      <p:sp>
        <p:nvSpPr>
          <p:cNvPr id="42" name="Text 39"/>
          <p:cNvSpPr txBox="1"/>
          <p:nvPr/>
        </p:nvSpPr>
        <p:spPr>
          <a:xfrm>
            <a:off x="2651760" y="5193792"/>
            <a:ext cx="1463040" cy="502920"/>
          </a:xfrm>
          <a:prstGeom prst="rect">
            <a:avLst/>
          </a:prstGeom>
          <a:noFill/>
          <a:ln/>
        </p:spPr>
        <p:txBody>
          <a:bodyPr wrap="square" lIns="0" tIns="0" rIns="0" bIns="0" rtlCol="0" anchor="t"/>
          <a:lstStyle/>
          <a:p>
            <a:pPr marL="0" indent="0">
              <a:buNone/>
            </a:pPr>
            <a:r>
              <a:rPr lang="en-US" sz="950" dirty="0">
                <a:solidFill>
                  <a:srgbClr val="3A4A66"/>
                </a:solidFill>
                <a:latin typeface="Segoe UI" pitchFamily="34" charset="0"/>
                <a:ea typeface="Segoe UI" pitchFamily="34" charset="-122"/>
                <a:cs typeface="Segoe UI" pitchFamily="34" charset="-120"/>
              </a:rPr>
              <a:t>queues, services, outages, event log</a:t>
            </a:r>
            <a:endParaRPr lang="en-US" sz="950" dirty="0"/>
          </a:p>
        </p:txBody>
      </p:sp>
      <p:sp>
        <p:nvSpPr>
          <p:cNvPr id="43" name="Text 40"/>
          <p:cNvSpPr txBox="1"/>
          <p:nvPr/>
        </p:nvSpPr>
        <p:spPr>
          <a:xfrm>
            <a:off x="4187952" y="4919472"/>
            <a:ext cx="182880" cy="365760"/>
          </a:xfrm>
          <a:prstGeom prst="rect">
            <a:avLst/>
          </a:prstGeom>
          <a:noFill/>
          <a:ln/>
        </p:spPr>
        <p:txBody>
          <a:bodyPr wrap="square" lIns="0" tIns="0" rIns="0" bIns="0" rtlCol="0" anchor="t"/>
          <a:lstStyle/>
          <a:p>
            <a:pPr marL="0" indent="0" algn="ctr">
              <a:buNone/>
            </a:pPr>
            <a:r>
              <a:rPr lang="en-US" sz="2000" dirty="0">
                <a:solidFill>
                  <a:srgbClr val="A39C88"/>
                </a:solidFill>
                <a:latin typeface="Palatino Linotype" pitchFamily="34" charset="0"/>
                <a:ea typeface="Palatino Linotype" pitchFamily="34" charset="-122"/>
                <a:cs typeface="Palatino Linotype" pitchFamily="34" charset="-120"/>
              </a:rPr>
              <a:t>›</a:t>
            </a:r>
            <a:endParaRPr lang="en-US" sz="2000" dirty="0"/>
          </a:p>
        </p:txBody>
      </p:sp>
      <p:sp>
        <p:nvSpPr>
          <p:cNvPr id="44" name="Shape 41"/>
          <p:cNvSpPr/>
          <p:nvPr/>
        </p:nvSpPr>
        <p:spPr>
          <a:xfrm>
            <a:off x="4343400" y="4617720"/>
            <a:ext cx="1645920" cy="1143000"/>
          </a:xfrm>
          <a:prstGeom prst="roundRect">
            <a:avLst>
              <a:gd name="adj" fmla="val 4800"/>
            </a:avLst>
          </a:prstGeom>
          <a:solidFill>
            <a:srgbClr val="FBF9F4"/>
          </a:solidFill>
          <a:ln w="15875">
            <a:solidFill>
              <a:srgbClr val="7B7566"/>
            </a:solidFill>
            <a:prstDash val="solid"/>
          </a:ln>
        </p:spPr>
      </p:sp>
      <p:sp>
        <p:nvSpPr>
          <p:cNvPr id="45" name="Text 42"/>
          <p:cNvSpPr txBox="1"/>
          <p:nvPr/>
        </p:nvSpPr>
        <p:spPr>
          <a:xfrm>
            <a:off x="4434840" y="4690872"/>
            <a:ext cx="1463040" cy="457200"/>
          </a:xfrm>
          <a:prstGeom prst="rect">
            <a:avLst/>
          </a:prstGeom>
          <a:noFill/>
          <a:ln/>
        </p:spPr>
        <p:txBody>
          <a:bodyPr wrap="square" lIns="0" tIns="0" rIns="0" bIns="0" rtlCol="0" anchor="t"/>
          <a:lstStyle/>
          <a:p>
            <a:pPr marL="0" indent="0">
              <a:buNone/>
            </a:pPr>
            <a:r>
              <a:rPr lang="en-US" sz="1250" b="1" dirty="0">
                <a:solidFill>
                  <a:srgbClr val="3A4A66"/>
                </a:solidFill>
                <a:latin typeface="Palatino Linotype" pitchFamily="34" charset="0"/>
                <a:ea typeface="Palatino Linotype" pitchFamily="34" charset="-122"/>
                <a:cs typeface="Palatino Linotype" pitchFamily="34" charset="-120"/>
              </a:rPr>
              <a:t>Forecast baseline</a:t>
            </a:r>
            <a:endParaRPr lang="en-US" sz="1250" dirty="0"/>
          </a:p>
        </p:txBody>
      </p:sp>
      <p:sp>
        <p:nvSpPr>
          <p:cNvPr id="46" name="Text 43"/>
          <p:cNvSpPr txBox="1"/>
          <p:nvPr/>
        </p:nvSpPr>
        <p:spPr>
          <a:xfrm>
            <a:off x="4434840" y="5193792"/>
            <a:ext cx="1463040" cy="502920"/>
          </a:xfrm>
          <a:prstGeom prst="rect">
            <a:avLst/>
          </a:prstGeom>
          <a:noFill/>
          <a:ln/>
        </p:spPr>
        <p:txBody>
          <a:bodyPr wrap="square" lIns="0" tIns="0" rIns="0" bIns="0" rtlCol="0" anchor="t"/>
          <a:lstStyle/>
          <a:p>
            <a:pPr marL="0" indent="0">
              <a:buNone/>
            </a:pPr>
            <a:r>
              <a:rPr lang="en-US" sz="950" dirty="0">
                <a:solidFill>
                  <a:srgbClr val="3A4A66"/>
                </a:solidFill>
                <a:latin typeface="Segoe UI" pitchFamily="34" charset="0"/>
                <a:ea typeface="Segoe UI" pitchFamily="34" charset="-122"/>
                <a:cs typeface="Segoe UI" pitchFamily="34" charset="-120"/>
              </a:rPr>
              <a:t>hourly arrivals, evaluated</a:t>
            </a:r>
            <a:endParaRPr lang="en-US" sz="950" dirty="0"/>
          </a:p>
        </p:txBody>
      </p:sp>
      <p:sp>
        <p:nvSpPr>
          <p:cNvPr id="47" name="Text 44"/>
          <p:cNvSpPr txBox="1"/>
          <p:nvPr/>
        </p:nvSpPr>
        <p:spPr>
          <a:xfrm>
            <a:off x="5971032" y="4919472"/>
            <a:ext cx="182880" cy="365760"/>
          </a:xfrm>
          <a:prstGeom prst="rect">
            <a:avLst/>
          </a:prstGeom>
          <a:noFill/>
          <a:ln/>
        </p:spPr>
        <p:txBody>
          <a:bodyPr wrap="square" lIns="0" tIns="0" rIns="0" bIns="0" rtlCol="0" anchor="t"/>
          <a:lstStyle/>
          <a:p>
            <a:pPr marL="0" indent="0" algn="ctr">
              <a:buNone/>
            </a:pPr>
            <a:r>
              <a:rPr lang="en-US" sz="2000" dirty="0">
                <a:solidFill>
                  <a:srgbClr val="A39C88"/>
                </a:solidFill>
                <a:latin typeface="Palatino Linotype" pitchFamily="34" charset="0"/>
                <a:ea typeface="Palatino Linotype" pitchFamily="34" charset="-122"/>
                <a:cs typeface="Palatino Linotype" pitchFamily="34" charset="-120"/>
              </a:rPr>
              <a:t>›</a:t>
            </a:r>
            <a:endParaRPr lang="en-US" sz="2000" dirty="0"/>
          </a:p>
        </p:txBody>
      </p:sp>
      <p:sp>
        <p:nvSpPr>
          <p:cNvPr id="48" name="Shape 45"/>
          <p:cNvSpPr/>
          <p:nvPr/>
        </p:nvSpPr>
        <p:spPr>
          <a:xfrm>
            <a:off x="6126480" y="4617720"/>
            <a:ext cx="1645920" cy="1143000"/>
          </a:xfrm>
          <a:prstGeom prst="roundRect">
            <a:avLst>
              <a:gd name="adj" fmla="val 4800"/>
            </a:avLst>
          </a:prstGeom>
          <a:solidFill>
            <a:srgbClr val="FBF9F4"/>
          </a:solidFill>
          <a:ln w="15875">
            <a:solidFill>
              <a:srgbClr val="1F7B78"/>
            </a:solidFill>
            <a:prstDash val="solid"/>
          </a:ln>
        </p:spPr>
      </p:sp>
      <p:sp>
        <p:nvSpPr>
          <p:cNvPr id="49" name="Text 46"/>
          <p:cNvSpPr txBox="1"/>
          <p:nvPr/>
        </p:nvSpPr>
        <p:spPr>
          <a:xfrm>
            <a:off x="6217920" y="4690872"/>
            <a:ext cx="1463040" cy="457200"/>
          </a:xfrm>
          <a:prstGeom prst="rect">
            <a:avLst/>
          </a:prstGeom>
          <a:noFill/>
          <a:ln/>
        </p:spPr>
        <p:txBody>
          <a:bodyPr wrap="square" lIns="0" tIns="0" rIns="0" bIns="0" rtlCol="0" anchor="t"/>
          <a:lstStyle/>
          <a:p>
            <a:pPr marL="0" indent="0">
              <a:buNone/>
            </a:pPr>
            <a:r>
              <a:rPr lang="en-US" sz="1250" b="1" dirty="0">
                <a:solidFill>
                  <a:srgbClr val="1F7B78"/>
                </a:solidFill>
                <a:latin typeface="Palatino Linotype" pitchFamily="34" charset="0"/>
                <a:ea typeface="Palatino Linotype" pitchFamily="34" charset="-122"/>
                <a:cs typeface="Palatino Linotype" pitchFamily="34" charset="-120"/>
              </a:rPr>
              <a:t>Reflow</a:t>
            </a:r>
            <a:endParaRPr lang="en-US" sz="1250" dirty="0"/>
          </a:p>
        </p:txBody>
      </p:sp>
      <p:sp>
        <p:nvSpPr>
          <p:cNvPr id="50" name="Text 47"/>
          <p:cNvSpPr txBox="1"/>
          <p:nvPr/>
        </p:nvSpPr>
        <p:spPr>
          <a:xfrm>
            <a:off x="6217920" y="5193792"/>
            <a:ext cx="1463040" cy="502920"/>
          </a:xfrm>
          <a:prstGeom prst="rect">
            <a:avLst/>
          </a:prstGeom>
          <a:noFill/>
          <a:ln/>
        </p:spPr>
        <p:txBody>
          <a:bodyPr wrap="square" lIns="0" tIns="0" rIns="0" bIns="0" rtlCol="0" anchor="t"/>
          <a:lstStyle/>
          <a:p>
            <a:pPr marL="0" indent="0">
              <a:buNone/>
            </a:pPr>
            <a:r>
              <a:rPr lang="en-US" sz="950" dirty="0">
                <a:solidFill>
                  <a:srgbClr val="3A4A66"/>
                </a:solidFill>
                <a:latin typeface="Segoe UI" pitchFamily="34" charset="0"/>
                <a:ea typeface="Segoe UI" pitchFamily="34" charset="-122"/>
                <a:cs typeface="Segoe UI" pitchFamily="34" charset="-120"/>
              </a:rPr>
              <a:t>constraint-aware local search</a:t>
            </a:r>
            <a:endParaRPr lang="en-US" sz="950" dirty="0"/>
          </a:p>
        </p:txBody>
      </p:sp>
      <p:sp>
        <p:nvSpPr>
          <p:cNvPr id="51" name="Text 48"/>
          <p:cNvSpPr txBox="1"/>
          <p:nvPr/>
        </p:nvSpPr>
        <p:spPr>
          <a:xfrm>
            <a:off x="7754112" y="4919472"/>
            <a:ext cx="182880" cy="365760"/>
          </a:xfrm>
          <a:prstGeom prst="rect">
            <a:avLst/>
          </a:prstGeom>
          <a:noFill/>
          <a:ln/>
        </p:spPr>
        <p:txBody>
          <a:bodyPr wrap="square" lIns="0" tIns="0" rIns="0" bIns="0" rtlCol="0" anchor="t"/>
          <a:lstStyle/>
          <a:p>
            <a:pPr marL="0" indent="0" algn="ctr">
              <a:buNone/>
            </a:pPr>
            <a:r>
              <a:rPr lang="en-US" sz="2000" dirty="0">
                <a:solidFill>
                  <a:srgbClr val="A39C88"/>
                </a:solidFill>
                <a:latin typeface="Palatino Linotype" pitchFamily="34" charset="0"/>
                <a:ea typeface="Palatino Linotype" pitchFamily="34" charset="-122"/>
                <a:cs typeface="Palatino Linotype" pitchFamily="34" charset="-120"/>
              </a:rPr>
              <a:t>›</a:t>
            </a:r>
            <a:endParaRPr lang="en-US" sz="2000" dirty="0"/>
          </a:p>
        </p:txBody>
      </p:sp>
      <p:sp>
        <p:nvSpPr>
          <p:cNvPr id="52" name="Shape 49"/>
          <p:cNvSpPr/>
          <p:nvPr/>
        </p:nvSpPr>
        <p:spPr>
          <a:xfrm>
            <a:off x="7909560" y="4617720"/>
            <a:ext cx="1645920" cy="1143000"/>
          </a:xfrm>
          <a:prstGeom prst="roundRect">
            <a:avLst>
              <a:gd name="adj" fmla="val 4800"/>
            </a:avLst>
          </a:prstGeom>
          <a:solidFill>
            <a:srgbClr val="FBF9F4"/>
          </a:solidFill>
          <a:ln w="15875">
            <a:solidFill>
              <a:srgbClr val="7B7566"/>
            </a:solidFill>
            <a:prstDash val="solid"/>
          </a:ln>
        </p:spPr>
      </p:sp>
      <p:sp>
        <p:nvSpPr>
          <p:cNvPr id="53" name="Text 50"/>
          <p:cNvSpPr txBox="1"/>
          <p:nvPr/>
        </p:nvSpPr>
        <p:spPr>
          <a:xfrm>
            <a:off x="8001000" y="4690872"/>
            <a:ext cx="1463040" cy="457200"/>
          </a:xfrm>
          <a:prstGeom prst="rect">
            <a:avLst/>
          </a:prstGeom>
          <a:noFill/>
          <a:ln/>
        </p:spPr>
        <p:txBody>
          <a:bodyPr wrap="square" lIns="0" tIns="0" rIns="0" bIns="0" rtlCol="0" anchor="t"/>
          <a:lstStyle/>
          <a:p>
            <a:pPr marL="0" indent="0">
              <a:buNone/>
            </a:pPr>
            <a:r>
              <a:rPr lang="en-US" sz="1250" b="1" dirty="0">
                <a:solidFill>
                  <a:srgbClr val="3A4A66"/>
                </a:solidFill>
                <a:latin typeface="Palatino Linotype" pitchFamily="34" charset="0"/>
                <a:ea typeface="Palatino Linotype" pitchFamily="34" charset="-122"/>
                <a:cs typeface="Palatino Linotype" pitchFamily="34" charset="-120"/>
              </a:rPr>
              <a:t>Explanations</a:t>
            </a:r>
            <a:endParaRPr lang="en-US" sz="1250" dirty="0"/>
          </a:p>
        </p:txBody>
      </p:sp>
      <p:sp>
        <p:nvSpPr>
          <p:cNvPr id="54" name="Text 51"/>
          <p:cNvSpPr txBox="1"/>
          <p:nvPr/>
        </p:nvSpPr>
        <p:spPr>
          <a:xfrm>
            <a:off x="8001000" y="5193792"/>
            <a:ext cx="1463040" cy="502920"/>
          </a:xfrm>
          <a:prstGeom prst="rect">
            <a:avLst/>
          </a:prstGeom>
          <a:noFill/>
          <a:ln/>
        </p:spPr>
        <p:txBody>
          <a:bodyPr wrap="square" lIns="0" tIns="0" rIns="0" bIns="0" rtlCol="0" anchor="t"/>
          <a:lstStyle/>
          <a:p>
            <a:pPr marL="0" indent="0">
              <a:buNone/>
            </a:pPr>
            <a:r>
              <a:rPr lang="en-US" sz="950" dirty="0">
                <a:solidFill>
                  <a:srgbClr val="3A4A66"/>
                </a:solidFill>
                <a:latin typeface="Segoe UI" pitchFamily="34" charset="0"/>
                <a:ea typeface="Segoe UI" pitchFamily="34" charset="-122"/>
                <a:cs typeface="Segoe UI" pitchFamily="34" charset="-120"/>
              </a:rPr>
              <a:t>from the event log, no language model</a:t>
            </a:r>
            <a:endParaRPr lang="en-US" sz="950" dirty="0"/>
          </a:p>
        </p:txBody>
      </p:sp>
      <p:sp>
        <p:nvSpPr>
          <p:cNvPr id="55" name="Text 52"/>
          <p:cNvSpPr txBox="1"/>
          <p:nvPr/>
        </p:nvSpPr>
        <p:spPr>
          <a:xfrm>
            <a:off x="9537192" y="4919472"/>
            <a:ext cx="182880" cy="365760"/>
          </a:xfrm>
          <a:prstGeom prst="rect">
            <a:avLst/>
          </a:prstGeom>
          <a:noFill/>
          <a:ln/>
        </p:spPr>
        <p:txBody>
          <a:bodyPr wrap="square" lIns="0" tIns="0" rIns="0" bIns="0" rtlCol="0" anchor="t"/>
          <a:lstStyle/>
          <a:p>
            <a:pPr marL="0" indent="0" algn="ctr">
              <a:buNone/>
            </a:pPr>
            <a:r>
              <a:rPr lang="en-US" sz="2000" dirty="0">
                <a:solidFill>
                  <a:srgbClr val="A39C88"/>
                </a:solidFill>
                <a:latin typeface="Palatino Linotype" pitchFamily="34" charset="0"/>
                <a:ea typeface="Palatino Linotype" pitchFamily="34" charset="-122"/>
                <a:cs typeface="Palatino Linotype" pitchFamily="34" charset="-120"/>
              </a:rPr>
              <a:t>›</a:t>
            </a:r>
            <a:endParaRPr lang="en-US" sz="2000" dirty="0"/>
          </a:p>
        </p:txBody>
      </p:sp>
      <p:sp>
        <p:nvSpPr>
          <p:cNvPr id="56" name="Shape 53"/>
          <p:cNvSpPr/>
          <p:nvPr/>
        </p:nvSpPr>
        <p:spPr>
          <a:xfrm>
            <a:off x="9692640" y="4617720"/>
            <a:ext cx="1645920" cy="1143000"/>
          </a:xfrm>
          <a:prstGeom prst="roundRect">
            <a:avLst>
              <a:gd name="adj" fmla="val 4800"/>
            </a:avLst>
          </a:prstGeom>
          <a:solidFill>
            <a:srgbClr val="FBF9F4"/>
          </a:solidFill>
          <a:ln w="15875">
            <a:solidFill>
              <a:srgbClr val="B4642F"/>
            </a:solidFill>
            <a:prstDash val="solid"/>
          </a:ln>
        </p:spPr>
      </p:sp>
      <p:sp>
        <p:nvSpPr>
          <p:cNvPr id="57" name="Text 54"/>
          <p:cNvSpPr txBox="1"/>
          <p:nvPr/>
        </p:nvSpPr>
        <p:spPr>
          <a:xfrm>
            <a:off x="9784080" y="4690872"/>
            <a:ext cx="1463040" cy="457200"/>
          </a:xfrm>
          <a:prstGeom prst="rect">
            <a:avLst/>
          </a:prstGeom>
          <a:noFill/>
          <a:ln/>
        </p:spPr>
        <p:txBody>
          <a:bodyPr wrap="square" lIns="0" tIns="0" rIns="0" bIns="0" rtlCol="0" anchor="t"/>
          <a:lstStyle/>
          <a:p>
            <a:pPr marL="0" indent="0">
              <a:buNone/>
            </a:pPr>
            <a:r>
              <a:rPr lang="en-US" sz="1250" b="1" dirty="0">
                <a:solidFill>
                  <a:srgbClr val="B4642F"/>
                </a:solidFill>
                <a:latin typeface="Palatino Linotype" pitchFamily="34" charset="0"/>
                <a:ea typeface="Palatino Linotype" pitchFamily="34" charset="-122"/>
                <a:cs typeface="Palatino Linotype" pitchFamily="34" charset="-120"/>
              </a:rPr>
              <a:t>Person approves</a:t>
            </a:r>
            <a:endParaRPr lang="en-US" sz="1250" dirty="0"/>
          </a:p>
        </p:txBody>
      </p:sp>
      <p:sp>
        <p:nvSpPr>
          <p:cNvPr id="58" name="Text 55"/>
          <p:cNvSpPr txBox="1"/>
          <p:nvPr/>
        </p:nvSpPr>
        <p:spPr>
          <a:xfrm>
            <a:off x="9784080" y="5193792"/>
            <a:ext cx="1463040" cy="502920"/>
          </a:xfrm>
          <a:prstGeom prst="rect">
            <a:avLst/>
          </a:prstGeom>
          <a:noFill/>
          <a:ln/>
        </p:spPr>
        <p:txBody>
          <a:bodyPr wrap="square" lIns="0" tIns="0" rIns="0" bIns="0" rtlCol="0" anchor="t"/>
          <a:lstStyle/>
          <a:p>
            <a:pPr marL="0" indent="0">
              <a:buNone/>
            </a:pPr>
            <a:r>
              <a:rPr lang="en-US" sz="950" dirty="0">
                <a:solidFill>
                  <a:srgbClr val="3A4A66"/>
                </a:solidFill>
                <a:latin typeface="Segoe UI" pitchFamily="34" charset="0"/>
                <a:ea typeface="Segoe UI" pitchFamily="34" charset="-122"/>
                <a:cs typeface="Segoe UI" pitchFamily="34" charset="-120"/>
              </a:rPr>
              <a:t>then the Ledger measures</a:t>
            </a:r>
            <a:endParaRPr lang="en-US" sz="950" dirty="0"/>
          </a:p>
        </p:txBody>
      </p:sp>
      <p:sp>
        <p:nvSpPr>
          <p:cNvPr id="59" name="Text 56"/>
          <p:cNvSpPr txBox="1"/>
          <p:nvPr/>
        </p:nvSpPr>
        <p:spPr>
          <a:xfrm>
            <a:off x="548640" y="6199632"/>
            <a:ext cx="11064240" cy="256032"/>
          </a:xfrm>
          <a:prstGeom prst="rect">
            <a:avLst/>
          </a:prstGeom>
          <a:noFill/>
          <a:ln/>
        </p:spPr>
        <p:txBody>
          <a:bodyPr wrap="square" lIns="0" tIns="0" rIns="0" bIns="0" rtlCol="0" anchor="t"/>
          <a:lstStyle/>
          <a:p>
            <a:pPr marL="0" indent="0">
              <a:buNone/>
            </a:pPr>
            <a:r>
              <a:rPr lang="en-US" sz="850" dirty="0">
                <a:solidFill>
                  <a:srgbClr val="7B7566"/>
                </a:solidFill>
                <a:latin typeface="Segoe UI" pitchFamily="34" charset="0"/>
                <a:ea typeface="Segoe UI" pitchFamily="34" charset="-122"/>
                <a:cs typeface="Segoe UI" pitchFamily="34" charset="-120"/>
              </a:rPr>
              <a:t>No trained machine-learning model is used. Methods: simulation, a forecasting baseline evaluated against two simpler ones, and a heuristic optimizer. Source: SAYR About, methods &amp; credits.</a:t>
            </a:r>
            <a:endParaRPr lang="en-US" sz="850" dirty="0"/>
          </a:p>
        </p:txBody>
      </p:sp>
      <p:sp>
        <p:nvSpPr>
          <p:cNvPr id="4" name="Slide Number Placeholder 0"/>
          <p:cNvSpPr>
            <a:spLocks noGrp="1"/>
          </p:cNvSpPr>
          <p:nvPr>
            <p:ph type="sldNum" sz="quarter" idx="4294967295"/>
          </p:nvPr>
        </p:nvSpPr>
        <p:spPr>
          <a:xfrm>
            <a:off x="11064240" y="6492240"/>
            <a:ext cx="576072"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B7566"/>
                </a:solidFill>
                <a:latin typeface="Consolas"/>
                <a:ea typeface="Consolas"/>
                <a:cs typeface="Consolas"/>
              </a:defRPr>
            </a:lvl1pPr>
          </a:lstStyle>
          <a:p>
            <a:pPr algn="r"/>
            <a:fld id="{F7021451-1387-4CA6-816F-3879F97B5CBC}" type="slidenum">
              <a:rPr lang="en-US" b="0"/>
              <a:t>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p:tgtEl>
                                          <p:spTgt spid="6"/>
                                        </p:tgtEl>
                                      </p:cBhvr>
                                    </p:animEffect>
                                  </p:childTnLst>
                                </p:cTn>
                              </p:par>
                            </p:childTnLst>
                          </p:cTn>
                        </p:par>
                        <p:par>
                          <p:cTn id="8" fill="hold">
                            <p:stCondLst>
                              <p:cond delay="350"/>
                            </p:stCondLst>
                            <p:childTnLst>
                              <p:par>
                                <p:cTn id="9" presetID="1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350"/>
                                        <p:tgtEl>
                                          <p:spTgt spid="10"/>
                                        </p:tgtEl>
                                      </p:cBhvr>
                                    </p:animEffect>
                                  </p:childTnLst>
                                </p:cTn>
                              </p:par>
                            </p:childTnLst>
                          </p:cTn>
                        </p:par>
                        <p:par>
                          <p:cTn id="12" fill="hold">
                            <p:stCondLst>
                              <p:cond delay="700"/>
                            </p:stCondLst>
                            <p:childTnLst>
                              <p:par>
                                <p:cTn id="13" presetID="10" presetClass="entr" presetSubtype="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350"/>
                                        <p:tgtEl>
                                          <p:spTgt spid="14"/>
                                        </p:tgtEl>
                                      </p:cBhvr>
                                    </p:animEffect>
                                  </p:childTnLst>
                                </p:cTn>
                              </p:par>
                            </p:childTnLst>
                          </p:cTn>
                        </p:par>
                        <p:par>
                          <p:cTn id="16" fill="hold">
                            <p:stCondLst>
                              <p:cond delay="1050"/>
                            </p:stCondLst>
                            <p:childTnLst>
                              <p:par>
                                <p:cTn id="17" presetID="10" presetClass="entr" presetSubtype="0" fill="hold"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350"/>
                                        <p:tgtEl>
                                          <p:spTgt spid="18"/>
                                        </p:tgtEl>
                                      </p:cBhvr>
                                    </p:animEffect>
                                  </p:childTnLst>
                                </p:cTn>
                              </p:par>
                            </p:childTnLst>
                          </p:cTn>
                        </p:par>
                        <p:par>
                          <p:cTn id="20" fill="hold">
                            <p:stCondLst>
                              <p:cond delay="1400"/>
                            </p:stCondLst>
                            <p:childTnLst>
                              <p:par>
                                <p:cTn id="21" presetID="10" presetClass="entr" presetSubtype="0" fill="hold" nodeType="after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350"/>
                                        <p:tgtEl>
                                          <p:spTgt spid="22"/>
                                        </p:tgtEl>
                                      </p:cBhvr>
                                    </p:animEffect>
                                  </p:childTnLst>
                                </p:cTn>
                              </p:par>
                            </p:childTnLst>
                          </p:cTn>
                        </p:par>
                        <p:par>
                          <p:cTn id="24" fill="hold">
                            <p:stCondLst>
                              <p:cond delay="1750"/>
                            </p:stCondLst>
                            <p:childTnLst>
                              <p:par>
                                <p:cTn id="25" presetID="10" presetClass="entr" presetSubtype="0" fill="hold"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350"/>
                                        <p:tgtEl>
                                          <p:spTgt spid="26"/>
                                        </p:tgtEl>
                                      </p:cBhvr>
                                    </p:animEffect>
                                  </p:childTnLst>
                                </p:cTn>
                              </p:par>
                            </p:childTnLst>
                          </p:cTn>
                        </p:par>
                        <p:par>
                          <p:cTn id="28" fill="hold">
                            <p:stCondLst>
                              <p:cond delay="2100"/>
                            </p:stCondLst>
                            <p:childTnLst>
                              <p:par>
                                <p:cTn id="29" presetID="10" presetClass="entr" presetSubtype="0" fill="hold" nodeType="after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3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685800"/>
          </a:xfrm>
          <a:prstGeom prst="rect">
            <a:avLst/>
          </a:prstGeom>
          <a:noFill/>
          <a:ln/>
        </p:spPr>
        <p:txBody>
          <a:bodyPr wrap="square" lIns="0" tIns="0" rIns="0" bIns="0" rtlCol="0" anchor="t"/>
          <a:lstStyle/>
          <a:p>
            <a:pPr marL="0" indent="0" algn="l">
              <a:buNone/>
            </a:pPr>
            <a:r>
              <a:rPr lang="en-US" sz="3000" dirty="0">
                <a:solidFill>
                  <a:srgbClr val="15233B"/>
                </a:solidFill>
                <a:latin typeface="Palatino Linotype" pitchFamily="34" charset="0"/>
                <a:ea typeface="Palatino Linotype" pitchFamily="34" charset="-122"/>
                <a:cs typeface="Palatino Linotype" pitchFamily="34" charset="-120"/>
              </a:rPr>
              <a:t>A digital twin of the clinic</a:t>
            </a:r>
            <a:endParaRPr lang="en-US" sz="3000" dirty="0"/>
          </a:p>
        </p:txBody>
      </p:sp>
      <p:sp>
        <p:nvSpPr>
          <p:cNvPr id="3" name="Text 1"/>
          <p:cNvSpPr txBox="1"/>
          <p:nvPr/>
        </p:nvSpPr>
        <p:spPr>
          <a:xfrm>
            <a:off x="548640" y="310896"/>
            <a:ext cx="8229600" cy="228600"/>
          </a:xfrm>
          <a:prstGeom prst="rect">
            <a:avLst/>
          </a:prstGeom>
          <a:noFill/>
          <a:ln/>
        </p:spPr>
        <p:txBody>
          <a:bodyPr wrap="square" lIns="0" tIns="0" rIns="0" bIns="0" rtlCol="0" anchor="t"/>
          <a:lstStyle/>
          <a:p>
            <a:pPr marL="0" indent="0">
              <a:buNone/>
            </a:pPr>
            <a:r>
              <a:rPr lang="en-US" sz="1050" kern="0" spc="200" dirty="0">
                <a:solidFill>
                  <a:srgbClr val="B4642F"/>
                </a:solidFill>
                <a:latin typeface="Consolas" pitchFamily="34" charset="0"/>
                <a:ea typeface="Consolas" pitchFamily="34" charset="-122"/>
                <a:cs typeface="Consolas" pitchFamily="34" charset="-120"/>
              </a:rPr>
              <a:t>THE SIMULATION  ·  WOW 1: THE SYSTEM BREAKS</a:t>
            </a:r>
            <a:endParaRPr lang="en-US" sz="1050" dirty="0"/>
          </a:p>
        </p:txBody>
      </p:sp>
      <p:sp>
        <p:nvSpPr>
          <p:cNvPr id="5" name="Shape 2"/>
          <p:cNvSpPr/>
          <p:nvPr/>
        </p:nvSpPr>
        <p:spPr>
          <a:xfrm>
            <a:off x="502920" y="1325880"/>
            <a:ext cx="6629400" cy="4612111"/>
          </a:xfrm>
          <a:prstGeom prst="roundRect">
            <a:avLst>
              <a:gd name="adj" fmla="val 1388"/>
            </a:avLst>
          </a:prstGeom>
          <a:solidFill>
            <a:srgbClr val="FBF9F4"/>
          </a:solidFill>
          <a:ln w="9525">
            <a:solidFill>
              <a:srgbClr val="CBC2AB"/>
            </a:solidFill>
            <a:prstDash val="solid"/>
          </a:ln>
        </p:spPr>
      </p:sp>
      <p:pic>
        <p:nvPicPr>
          <p:cNvPr id="6" name="S4_shot" descr="SAYR Control Room at 11:45 with Clinician B unavailable"/>
          <p:cNvPicPr>
            <a:picLocks noChangeAspect="1"/>
          </p:cNvPicPr>
          <p:nvPr/>
        </p:nvPicPr>
        <p:blipFill>
          <a:blip r:embed="rId3"/>
          <a:stretch>
            <a:fillRect/>
          </a:stretch>
        </p:blipFill>
        <p:spPr>
          <a:xfrm>
            <a:off x="548640" y="1371600"/>
            <a:ext cx="6537960" cy="4520671"/>
          </a:xfrm>
          <a:prstGeom prst="rect">
            <a:avLst/>
          </a:prstGeom>
        </p:spPr>
      </p:pic>
      <p:sp>
        <p:nvSpPr>
          <p:cNvPr id="7" name="S4_c1"/>
          <p:cNvSpPr/>
          <p:nvPr/>
        </p:nvSpPr>
        <p:spPr>
          <a:xfrm>
            <a:off x="2409719" y="3531044"/>
            <a:ext cx="256032" cy="256032"/>
          </a:xfrm>
          <a:prstGeom prst="ellipse">
            <a:avLst/>
          </a:prstGeom>
          <a:solidFill>
            <a:srgbClr val="B4642F"/>
          </a:solidFill>
          <a:ln w="15875">
            <a:solidFill>
              <a:srgbClr val="FBF9F4"/>
            </a:solidFill>
            <a:prstDash val="solid"/>
          </a:ln>
        </p:spPr>
      </p:sp>
      <p:sp>
        <p:nvSpPr>
          <p:cNvPr id="8" name="Text 4"/>
          <p:cNvSpPr txBox="1"/>
          <p:nvPr/>
        </p:nvSpPr>
        <p:spPr>
          <a:xfrm>
            <a:off x="2409719" y="3531044"/>
            <a:ext cx="25603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1</a:t>
            </a:r>
            <a:endParaRPr lang="en-US" sz="950" dirty="0"/>
          </a:p>
        </p:txBody>
      </p:sp>
      <p:sp>
        <p:nvSpPr>
          <p:cNvPr id="9" name="S4_c2"/>
          <p:cNvSpPr/>
          <p:nvPr/>
        </p:nvSpPr>
        <p:spPr>
          <a:xfrm>
            <a:off x="768716" y="3696802"/>
            <a:ext cx="256032" cy="256032"/>
          </a:xfrm>
          <a:prstGeom prst="ellipse">
            <a:avLst/>
          </a:prstGeom>
          <a:solidFill>
            <a:srgbClr val="B4642F"/>
          </a:solidFill>
          <a:ln w="15875">
            <a:solidFill>
              <a:srgbClr val="FBF9F4"/>
            </a:solidFill>
            <a:prstDash val="solid"/>
          </a:ln>
        </p:spPr>
      </p:sp>
      <p:sp>
        <p:nvSpPr>
          <p:cNvPr id="10" name="Text 6"/>
          <p:cNvSpPr txBox="1"/>
          <p:nvPr/>
        </p:nvSpPr>
        <p:spPr>
          <a:xfrm>
            <a:off x="768716" y="3696802"/>
            <a:ext cx="25603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2</a:t>
            </a:r>
            <a:endParaRPr lang="en-US" sz="950" dirty="0"/>
          </a:p>
        </p:txBody>
      </p:sp>
      <p:sp>
        <p:nvSpPr>
          <p:cNvPr id="11" name="S4_c3"/>
          <p:cNvSpPr/>
          <p:nvPr/>
        </p:nvSpPr>
        <p:spPr>
          <a:xfrm>
            <a:off x="2890417" y="3603977"/>
            <a:ext cx="256032" cy="256032"/>
          </a:xfrm>
          <a:prstGeom prst="ellipse">
            <a:avLst/>
          </a:prstGeom>
          <a:solidFill>
            <a:srgbClr val="B4642F"/>
          </a:solidFill>
          <a:ln w="15875">
            <a:solidFill>
              <a:srgbClr val="FBF9F4"/>
            </a:solidFill>
            <a:prstDash val="solid"/>
          </a:ln>
        </p:spPr>
      </p:sp>
      <p:sp>
        <p:nvSpPr>
          <p:cNvPr id="12" name="Text 8"/>
          <p:cNvSpPr txBox="1"/>
          <p:nvPr/>
        </p:nvSpPr>
        <p:spPr>
          <a:xfrm>
            <a:off x="2890417" y="3603977"/>
            <a:ext cx="25603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3</a:t>
            </a:r>
            <a:endParaRPr lang="en-US" sz="950" dirty="0"/>
          </a:p>
        </p:txBody>
      </p:sp>
      <p:sp>
        <p:nvSpPr>
          <p:cNvPr id="13" name="S4_c4"/>
          <p:cNvSpPr/>
          <p:nvPr/>
        </p:nvSpPr>
        <p:spPr>
          <a:xfrm>
            <a:off x="2850635" y="2858066"/>
            <a:ext cx="256032" cy="256032"/>
          </a:xfrm>
          <a:prstGeom prst="ellipse">
            <a:avLst/>
          </a:prstGeom>
          <a:solidFill>
            <a:srgbClr val="B4642F"/>
          </a:solidFill>
          <a:ln w="15875">
            <a:solidFill>
              <a:srgbClr val="FBF9F4"/>
            </a:solidFill>
            <a:prstDash val="solid"/>
          </a:ln>
        </p:spPr>
      </p:sp>
      <p:sp>
        <p:nvSpPr>
          <p:cNvPr id="14" name="Text 10"/>
          <p:cNvSpPr txBox="1"/>
          <p:nvPr/>
        </p:nvSpPr>
        <p:spPr>
          <a:xfrm>
            <a:off x="2850635" y="2858066"/>
            <a:ext cx="25603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4</a:t>
            </a:r>
            <a:endParaRPr lang="en-US" sz="950" dirty="0"/>
          </a:p>
        </p:txBody>
      </p:sp>
      <p:sp>
        <p:nvSpPr>
          <p:cNvPr id="15" name="S4_c5"/>
          <p:cNvSpPr/>
          <p:nvPr/>
        </p:nvSpPr>
        <p:spPr>
          <a:xfrm>
            <a:off x="1232838" y="3812832"/>
            <a:ext cx="256032" cy="256032"/>
          </a:xfrm>
          <a:prstGeom prst="ellipse">
            <a:avLst/>
          </a:prstGeom>
          <a:solidFill>
            <a:srgbClr val="B4642F"/>
          </a:solidFill>
          <a:ln w="15875">
            <a:solidFill>
              <a:srgbClr val="FBF9F4"/>
            </a:solidFill>
            <a:prstDash val="solid"/>
          </a:ln>
        </p:spPr>
      </p:sp>
      <p:sp>
        <p:nvSpPr>
          <p:cNvPr id="16" name="Text 12"/>
          <p:cNvSpPr txBox="1"/>
          <p:nvPr/>
        </p:nvSpPr>
        <p:spPr>
          <a:xfrm>
            <a:off x="1232838" y="3812832"/>
            <a:ext cx="25603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5</a:t>
            </a:r>
            <a:endParaRPr lang="en-US" sz="950" dirty="0"/>
          </a:p>
        </p:txBody>
      </p:sp>
      <p:sp>
        <p:nvSpPr>
          <p:cNvPr id="17" name="S4_c6"/>
          <p:cNvSpPr/>
          <p:nvPr/>
        </p:nvSpPr>
        <p:spPr>
          <a:xfrm>
            <a:off x="520079" y="5022865"/>
            <a:ext cx="256032" cy="256032"/>
          </a:xfrm>
          <a:prstGeom prst="ellipse">
            <a:avLst/>
          </a:prstGeom>
          <a:solidFill>
            <a:srgbClr val="B4642F"/>
          </a:solidFill>
          <a:ln w="15875">
            <a:solidFill>
              <a:srgbClr val="FBF9F4"/>
            </a:solidFill>
            <a:prstDash val="solid"/>
          </a:ln>
        </p:spPr>
      </p:sp>
      <p:sp>
        <p:nvSpPr>
          <p:cNvPr id="18" name="Text 14"/>
          <p:cNvSpPr txBox="1"/>
          <p:nvPr/>
        </p:nvSpPr>
        <p:spPr>
          <a:xfrm>
            <a:off x="520079" y="5022865"/>
            <a:ext cx="25603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6</a:t>
            </a:r>
            <a:endParaRPr lang="en-US" sz="950" dirty="0"/>
          </a:p>
        </p:txBody>
      </p:sp>
      <p:sp>
        <p:nvSpPr>
          <p:cNvPr id="19" name="Text 15"/>
          <p:cNvSpPr txBox="1"/>
          <p:nvPr/>
        </p:nvSpPr>
        <p:spPr>
          <a:xfrm>
            <a:off x="7818120" y="1371600"/>
            <a:ext cx="3657600" cy="201168"/>
          </a:xfrm>
          <a:prstGeom prst="rect">
            <a:avLst/>
          </a:prstGeom>
          <a:noFill/>
          <a:ln/>
        </p:spPr>
        <p:txBody>
          <a:bodyPr wrap="square" lIns="0" tIns="0" rIns="0" bIns="0" rtlCol="0" anchor="t"/>
          <a:lstStyle/>
          <a:p>
            <a:pPr marL="0" indent="0">
              <a:buNone/>
            </a:pPr>
            <a:r>
              <a:rPr lang="en-US" sz="900" kern="0" spc="150" dirty="0">
                <a:solidFill>
                  <a:srgbClr val="B4642F"/>
                </a:solidFill>
                <a:latin typeface="Consolas" pitchFamily="34" charset="0"/>
                <a:ea typeface="Consolas" pitchFamily="34" charset="-122"/>
                <a:cs typeface="Consolas" pitchFamily="34" charset="-120"/>
              </a:rPr>
              <a:t>READING THE CANVAS</a:t>
            </a:r>
            <a:endParaRPr lang="en-US" sz="900" dirty="0"/>
          </a:p>
        </p:txBody>
      </p:sp>
      <p:sp>
        <p:nvSpPr>
          <p:cNvPr id="20" name="Shape 16"/>
          <p:cNvSpPr/>
          <p:nvPr/>
        </p:nvSpPr>
        <p:spPr>
          <a:xfrm>
            <a:off x="7845552" y="1664208"/>
            <a:ext cx="256032" cy="256032"/>
          </a:xfrm>
          <a:prstGeom prst="ellipse">
            <a:avLst/>
          </a:prstGeom>
          <a:solidFill>
            <a:srgbClr val="B4642F"/>
          </a:solidFill>
          <a:ln w="15875">
            <a:solidFill>
              <a:srgbClr val="FBF9F4"/>
            </a:solidFill>
            <a:prstDash val="solid"/>
          </a:ln>
        </p:spPr>
      </p:sp>
      <p:sp>
        <p:nvSpPr>
          <p:cNvPr id="21" name="Text 17"/>
          <p:cNvSpPr txBox="1"/>
          <p:nvPr/>
        </p:nvSpPr>
        <p:spPr>
          <a:xfrm>
            <a:off x="7845552" y="1664208"/>
            <a:ext cx="25603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1</a:t>
            </a:r>
            <a:endParaRPr lang="en-US" sz="950" dirty="0"/>
          </a:p>
        </p:txBody>
      </p:sp>
      <p:sp>
        <p:nvSpPr>
          <p:cNvPr id="22" name="Text 18"/>
          <p:cNvSpPr txBox="1"/>
          <p:nvPr/>
        </p:nvSpPr>
        <p:spPr>
          <a:xfrm>
            <a:off x="8211312" y="1664208"/>
            <a:ext cx="3474720" cy="411480"/>
          </a:xfrm>
          <a:prstGeom prst="rect">
            <a:avLst/>
          </a:prstGeom>
          <a:noFill/>
          <a:ln/>
        </p:spPr>
        <p:txBody>
          <a:bodyPr wrap="square" lIns="0" tIns="0" rIns="0" bIns="0" rtlCol="0" anchor="t"/>
          <a:lstStyle/>
          <a:p>
            <a:pPr marL="0" indent="0">
              <a:buNone/>
            </a:pPr>
            <a:r>
              <a:rPr lang="en-US" sz="1300" b="1" dirty="0">
                <a:solidFill>
                  <a:srgbClr val="15233B"/>
                </a:solidFill>
                <a:latin typeface="Palatino Linotype" pitchFamily="34" charset="0"/>
                <a:ea typeface="Palatino Linotype" pitchFamily="34" charset="-122"/>
                <a:cs typeface="Palatino Linotype" pitchFamily="34" charset="-120"/>
              </a:rPr>
              <a:t>Patient pathways</a:t>
            </a:r>
            <a:r>
              <a:rPr lang="en-US" sz="1000" dirty="0">
                <a:solidFill>
                  <a:srgbClr val="3A4A66"/>
                </a:solidFill>
                <a:latin typeface="Segoe UI" pitchFamily="34" charset="0"/>
                <a:ea typeface="Segoe UI" pitchFamily="34" charset="-122"/>
                <a:cs typeface="Segoe UI" pitchFamily="34" charset="-120"/>
              </a:rPr>
              <a:t>  dotted links from a patient's stage to the next</a:t>
            </a:r>
            <a:endParaRPr lang="en-US" sz="1400" dirty="0"/>
          </a:p>
        </p:txBody>
      </p:sp>
      <p:sp>
        <p:nvSpPr>
          <p:cNvPr id="23" name="Shape 19"/>
          <p:cNvSpPr/>
          <p:nvPr/>
        </p:nvSpPr>
        <p:spPr>
          <a:xfrm>
            <a:off x="7845552" y="2121408"/>
            <a:ext cx="256032" cy="256032"/>
          </a:xfrm>
          <a:prstGeom prst="ellipse">
            <a:avLst/>
          </a:prstGeom>
          <a:solidFill>
            <a:srgbClr val="B4642F"/>
          </a:solidFill>
          <a:ln w="15875">
            <a:solidFill>
              <a:srgbClr val="FBF9F4"/>
            </a:solidFill>
            <a:prstDash val="solid"/>
          </a:ln>
        </p:spPr>
      </p:sp>
      <p:sp>
        <p:nvSpPr>
          <p:cNvPr id="24" name="Text 20"/>
          <p:cNvSpPr txBox="1"/>
          <p:nvPr/>
        </p:nvSpPr>
        <p:spPr>
          <a:xfrm>
            <a:off x="7845552" y="2121408"/>
            <a:ext cx="25603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2</a:t>
            </a:r>
            <a:endParaRPr lang="en-US" sz="950" dirty="0"/>
          </a:p>
        </p:txBody>
      </p:sp>
      <p:sp>
        <p:nvSpPr>
          <p:cNvPr id="25" name="Text 21"/>
          <p:cNvSpPr txBox="1"/>
          <p:nvPr/>
        </p:nvSpPr>
        <p:spPr>
          <a:xfrm>
            <a:off x="8211312" y="2121408"/>
            <a:ext cx="3474720" cy="411480"/>
          </a:xfrm>
          <a:prstGeom prst="rect">
            <a:avLst/>
          </a:prstGeom>
          <a:noFill/>
          <a:ln/>
        </p:spPr>
        <p:txBody>
          <a:bodyPr wrap="square" lIns="0" tIns="0" rIns="0" bIns="0" rtlCol="0" anchor="t"/>
          <a:lstStyle/>
          <a:p>
            <a:pPr marL="0" indent="0">
              <a:buNone/>
            </a:pPr>
            <a:r>
              <a:rPr lang="en-US" sz="1300" b="1" dirty="0">
                <a:solidFill>
                  <a:srgbClr val="15233B"/>
                </a:solidFill>
                <a:latin typeface="Palatino Linotype" pitchFamily="34" charset="0"/>
                <a:ea typeface="Palatino Linotype" pitchFamily="34" charset="-122"/>
                <a:cs typeface="Palatino Linotype" pitchFamily="34" charset="-120"/>
              </a:rPr>
              <a:t>Resource lanes</a:t>
            </a:r>
            <a:r>
              <a:rPr lang="en-US" sz="1000" dirty="0">
                <a:solidFill>
                  <a:srgbClr val="3A4A66"/>
                </a:solidFill>
                <a:latin typeface="Segoe UI" pitchFamily="34" charset="0"/>
                <a:ea typeface="Segoe UI" pitchFamily="34" charset="-122"/>
                <a:cs typeface="Segoe UI" pitchFamily="34" charset="-120"/>
              </a:rPr>
              <a:t>  nine lanes; the hatched block is the outage</a:t>
            </a:r>
            <a:endParaRPr lang="en-US" sz="1400" dirty="0"/>
          </a:p>
        </p:txBody>
      </p:sp>
      <p:sp>
        <p:nvSpPr>
          <p:cNvPr id="26" name="Shape 22"/>
          <p:cNvSpPr/>
          <p:nvPr/>
        </p:nvSpPr>
        <p:spPr>
          <a:xfrm>
            <a:off x="7845552" y="2578608"/>
            <a:ext cx="256032" cy="256032"/>
          </a:xfrm>
          <a:prstGeom prst="ellipse">
            <a:avLst/>
          </a:prstGeom>
          <a:solidFill>
            <a:srgbClr val="B4642F"/>
          </a:solidFill>
          <a:ln w="15875">
            <a:solidFill>
              <a:srgbClr val="FBF9F4"/>
            </a:solidFill>
            <a:prstDash val="solid"/>
          </a:ln>
        </p:spPr>
      </p:sp>
      <p:sp>
        <p:nvSpPr>
          <p:cNvPr id="27" name="Text 23"/>
          <p:cNvSpPr txBox="1"/>
          <p:nvPr/>
        </p:nvSpPr>
        <p:spPr>
          <a:xfrm>
            <a:off x="7845552" y="2578608"/>
            <a:ext cx="25603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3</a:t>
            </a:r>
            <a:endParaRPr lang="en-US" sz="950" dirty="0"/>
          </a:p>
        </p:txBody>
      </p:sp>
      <p:sp>
        <p:nvSpPr>
          <p:cNvPr id="28" name="Text 24"/>
          <p:cNvSpPr txBox="1"/>
          <p:nvPr/>
        </p:nvSpPr>
        <p:spPr>
          <a:xfrm>
            <a:off x="8211312" y="2578608"/>
            <a:ext cx="3474720" cy="411480"/>
          </a:xfrm>
          <a:prstGeom prst="rect">
            <a:avLst/>
          </a:prstGeom>
          <a:noFill/>
          <a:ln/>
        </p:spPr>
        <p:txBody>
          <a:bodyPr wrap="square" lIns="0" tIns="0" rIns="0" bIns="0" rtlCol="0" anchor="t"/>
          <a:lstStyle/>
          <a:p>
            <a:pPr marL="0" indent="0">
              <a:buNone/>
            </a:pPr>
            <a:r>
              <a:rPr lang="en-US" sz="1300" b="1" dirty="0">
                <a:solidFill>
                  <a:srgbClr val="15233B"/>
                </a:solidFill>
                <a:latin typeface="Palatino Linotype" pitchFamily="34" charset="0"/>
                <a:ea typeface="Palatino Linotype" pitchFamily="34" charset="-122"/>
                <a:cs typeface="Palatino Linotype" pitchFamily="34" charset="-120"/>
              </a:rPr>
              <a:t>Queues</a:t>
            </a:r>
            <a:r>
              <a:rPr lang="en-US" sz="1000" dirty="0">
                <a:solidFill>
                  <a:srgbClr val="3A4A66"/>
                </a:solidFill>
                <a:latin typeface="Segoe UI" pitchFamily="34" charset="0"/>
                <a:ea typeface="Segoe UI" pitchFamily="34" charset="-122"/>
                <a:cs typeface="Segoe UI" pitchFamily="34" charset="-120"/>
              </a:rPr>
              <a:t>  chips stacked in front of the clock, longest first</a:t>
            </a:r>
            <a:endParaRPr lang="en-US" sz="1400" dirty="0"/>
          </a:p>
        </p:txBody>
      </p:sp>
      <p:sp>
        <p:nvSpPr>
          <p:cNvPr id="29" name="Shape 25"/>
          <p:cNvSpPr/>
          <p:nvPr/>
        </p:nvSpPr>
        <p:spPr>
          <a:xfrm>
            <a:off x="7845552" y="3035808"/>
            <a:ext cx="256032" cy="256032"/>
          </a:xfrm>
          <a:prstGeom prst="ellipse">
            <a:avLst/>
          </a:prstGeom>
          <a:solidFill>
            <a:srgbClr val="B4642F"/>
          </a:solidFill>
          <a:ln w="15875">
            <a:solidFill>
              <a:srgbClr val="FBF9F4"/>
            </a:solidFill>
            <a:prstDash val="solid"/>
          </a:ln>
        </p:spPr>
      </p:sp>
      <p:sp>
        <p:nvSpPr>
          <p:cNvPr id="30" name="Text 26"/>
          <p:cNvSpPr txBox="1"/>
          <p:nvPr/>
        </p:nvSpPr>
        <p:spPr>
          <a:xfrm>
            <a:off x="7845552" y="3035808"/>
            <a:ext cx="25603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4</a:t>
            </a:r>
            <a:endParaRPr lang="en-US" sz="950" dirty="0"/>
          </a:p>
        </p:txBody>
      </p:sp>
      <p:sp>
        <p:nvSpPr>
          <p:cNvPr id="31" name="Text 27"/>
          <p:cNvSpPr txBox="1"/>
          <p:nvPr/>
        </p:nvSpPr>
        <p:spPr>
          <a:xfrm>
            <a:off x="8211312" y="3035808"/>
            <a:ext cx="3474720" cy="411480"/>
          </a:xfrm>
          <a:prstGeom prst="rect">
            <a:avLst/>
          </a:prstGeom>
          <a:noFill/>
          <a:ln/>
        </p:spPr>
        <p:txBody>
          <a:bodyPr wrap="square" lIns="0" tIns="0" rIns="0" bIns="0" rtlCol="0" anchor="t"/>
          <a:lstStyle/>
          <a:p>
            <a:pPr marL="0" indent="0">
              <a:buNone/>
            </a:pPr>
            <a:r>
              <a:rPr lang="en-US" sz="1300" b="1" dirty="0">
                <a:solidFill>
                  <a:srgbClr val="15233B"/>
                </a:solidFill>
                <a:latin typeface="Palatino Linotype" pitchFamily="34" charset="0"/>
                <a:ea typeface="Palatino Linotype" pitchFamily="34" charset="-122"/>
                <a:cs typeface="Palatino Linotype" pitchFamily="34" charset="-120"/>
              </a:rPr>
              <a:t>Clock</a:t>
            </a:r>
            <a:r>
              <a:rPr lang="en-US" sz="1000" dirty="0">
                <a:solidFill>
                  <a:srgbClr val="3A4A66"/>
                </a:solidFill>
                <a:latin typeface="Segoe UI" pitchFamily="34" charset="0"/>
                <a:ea typeface="Segoe UI" pitchFamily="34" charset="-122"/>
                <a:cs typeface="Segoe UI" pitchFamily="34" charset="-120"/>
              </a:rPr>
              <a:t>  movable; the sim recalculates from it</a:t>
            </a:r>
            <a:endParaRPr lang="en-US" sz="1400" dirty="0"/>
          </a:p>
        </p:txBody>
      </p:sp>
      <p:sp>
        <p:nvSpPr>
          <p:cNvPr id="32" name="Shape 28"/>
          <p:cNvSpPr/>
          <p:nvPr/>
        </p:nvSpPr>
        <p:spPr>
          <a:xfrm>
            <a:off x="7845552" y="3493008"/>
            <a:ext cx="256032" cy="256032"/>
          </a:xfrm>
          <a:prstGeom prst="ellipse">
            <a:avLst/>
          </a:prstGeom>
          <a:solidFill>
            <a:srgbClr val="B4642F"/>
          </a:solidFill>
          <a:ln w="15875">
            <a:solidFill>
              <a:srgbClr val="FBF9F4"/>
            </a:solidFill>
            <a:prstDash val="solid"/>
          </a:ln>
        </p:spPr>
      </p:sp>
      <p:sp>
        <p:nvSpPr>
          <p:cNvPr id="33" name="Text 29"/>
          <p:cNvSpPr txBox="1"/>
          <p:nvPr/>
        </p:nvSpPr>
        <p:spPr>
          <a:xfrm>
            <a:off x="7845552" y="3493008"/>
            <a:ext cx="25603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5</a:t>
            </a:r>
            <a:endParaRPr lang="en-US" sz="950" dirty="0"/>
          </a:p>
        </p:txBody>
      </p:sp>
      <p:sp>
        <p:nvSpPr>
          <p:cNvPr id="34" name="Text 30"/>
          <p:cNvSpPr txBox="1"/>
          <p:nvPr/>
        </p:nvSpPr>
        <p:spPr>
          <a:xfrm>
            <a:off x="8211312" y="3493008"/>
            <a:ext cx="3474720" cy="411480"/>
          </a:xfrm>
          <a:prstGeom prst="rect">
            <a:avLst/>
          </a:prstGeom>
          <a:noFill/>
          <a:ln/>
        </p:spPr>
        <p:txBody>
          <a:bodyPr wrap="square" lIns="0" tIns="0" rIns="0" bIns="0" rtlCol="0" anchor="t"/>
          <a:lstStyle/>
          <a:p>
            <a:pPr marL="0" indent="0">
              <a:buNone/>
            </a:pPr>
            <a:r>
              <a:rPr lang="en-US" sz="1300" b="1" dirty="0">
                <a:solidFill>
                  <a:srgbClr val="15233B"/>
                </a:solidFill>
                <a:latin typeface="Palatino Linotype" pitchFamily="34" charset="0"/>
                <a:ea typeface="Palatino Linotype" pitchFamily="34" charset="-122"/>
                <a:cs typeface="Palatino Linotype" pitchFamily="34" charset="-120"/>
              </a:rPr>
              <a:t>Utilisation</a:t>
            </a:r>
            <a:r>
              <a:rPr lang="en-US" sz="1000" dirty="0">
                <a:solidFill>
                  <a:srgbClr val="3A4A66"/>
                </a:solidFill>
                <a:latin typeface="Segoe UI" pitchFamily="34" charset="0"/>
                <a:ea typeface="Segoe UI" pitchFamily="34" charset="-122"/>
                <a:cs typeface="Segoe UI" pitchFamily="34" charset="-120"/>
              </a:rPr>
              <a:t>  small bar on each lane: busy share so far</a:t>
            </a:r>
            <a:endParaRPr lang="en-US" sz="1400" dirty="0"/>
          </a:p>
        </p:txBody>
      </p:sp>
      <p:sp>
        <p:nvSpPr>
          <p:cNvPr id="35" name="Shape 31"/>
          <p:cNvSpPr/>
          <p:nvPr/>
        </p:nvSpPr>
        <p:spPr>
          <a:xfrm>
            <a:off x="7845552" y="3950208"/>
            <a:ext cx="256032" cy="256032"/>
          </a:xfrm>
          <a:prstGeom prst="ellipse">
            <a:avLst/>
          </a:prstGeom>
          <a:solidFill>
            <a:srgbClr val="B4642F"/>
          </a:solidFill>
          <a:ln w="15875">
            <a:solidFill>
              <a:srgbClr val="FBF9F4"/>
            </a:solidFill>
            <a:prstDash val="solid"/>
          </a:ln>
        </p:spPr>
      </p:sp>
      <p:sp>
        <p:nvSpPr>
          <p:cNvPr id="36" name="Text 32"/>
          <p:cNvSpPr txBox="1"/>
          <p:nvPr/>
        </p:nvSpPr>
        <p:spPr>
          <a:xfrm>
            <a:off x="7845552" y="3950208"/>
            <a:ext cx="25603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6</a:t>
            </a:r>
            <a:endParaRPr lang="en-US" sz="950" dirty="0"/>
          </a:p>
        </p:txBody>
      </p:sp>
      <p:sp>
        <p:nvSpPr>
          <p:cNvPr id="37" name="Text 33"/>
          <p:cNvSpPr txBox="1"/>
          <p:nvPr/>
        </p:nvSpPr>
        <p:spPr>
          <a:xfrm>
            <a:off x="8211312" y="3950208"/>
            <a:ext cx="3474720" cy="411480"/>
          </a:xfrm>
          <a:prstGeom prst="rect">
            <a:avLst/>
          </a:prstGeom>
          <a:noFill/>
          <a:ln/>
        </p:spPr>
        <p:txBody>
          <a:bodyPr wrap="square" lIns="0" tIns="0" rIns="0" bIns="0" rtlCol="0" anchor="t"/>
          <a:lstStyle/>
          <a:p>
            <a:pPr marL="0" indent="0">
              <a:buNone/>
            </a:pPr>
            <a:r>
              <a:rPr lang="en-US" sz="1300" b="1" dirty="0">
                <a:solidFill>
                  <a:srgbClr val="15233B"/>
                </a:solidFill>
                <a:latin typeface="Palatino Linotype" pitchFamily="34" charset="0"/>
                <a:ea typeface="Palatino Linotype" pitchFamily="34" charset="-122"/>
                <a:cs typeface="Palatino Linotype" pitchFamily="34" charset="-120"/>
              </a:rPr>
              <a:t>Operational events</a:t>
            </a:r>
            <a:r>
              <a:rPr lang="en-US" sz="1000" dirty="0">
                <a:solidFill>
                  <a:srgbClr val="3A4A66"/>
                </a:solidFill>
                <a:latin typeface="Segoe UI" pitchFamily="34" charset="0"/>
                <a:ea typeface="Segoe UI" pitchFamily="34" charset="-122"/>
                <a:cs typeface="Segoe UI" pitchFamily="34" charset="-120"/>
              </a:rPr>
              <a:t>  timeline written from the event log</a:t>
            </a:r>
            <a:endParaRPr lang="en-US" sz="1400" dirty="0"/>
          </a:p>
        </p:txBody>
      </p:sp>
      <p:sp>
        <p:nvSpPr>
          <p:cNvPr id="38" name="Shape 34"/>
          <p:cNvSpPr/>
          <p:nvPr/>
        </p:nvSpPr>
        <p:spPr>
          <a:xfrm>
            <a:off x="7818120" y="4526280"/>
            <a:ext cx="3822192" cy="1554480"/>
          </a:xfrm>
          <a:prstGeom prst="roundRect">
            <a:avLst>
              <a:gd name="adj" fmla="val 4118"/>
            </a:avLst>
          </a:prstGeom>
          <a:solidFill>
            <a:srgbClr val="FBF9F4"/>
          </a:solidFill>
          <a:ln w="9525">
            <a:solidFill>
              <a:srgbClr val="DDD5C3"/>
            </a:solidFill>
            <a:prstDash val="solid"/>
          </a:ln>
        </p:spPr>
      </p:sp>
      <p:sp>
        <p:nvSpPr>
          <p:cNvPr id="39" name="Text 35"/>
          <p:cNvSpPr txBox="1"/>
          <p:nvPr/>
        </p:nvSpPr>
        <p:spPr>
          <a:xfrm>
            <a:off x="8001000" y="4617720"/>
            <a:ext cx="3566160" cy="201168"/>
          </a:xfrm>
          <a:prstGeom prst="rect">
            <a:avLst/>
          </a:prstGeom>
          <a:noFill/>
          <a:ln/>
        </p:spPr>
        <p:txBody>
          <a:bodyPr wrap="square" lIns="0" tIns="0" rIns="0" bIns="0" rtlCol="0" anchor="t"/>
          <a:lstStyle/>
          <a:p>
            <a:pPr marL="0" indent="0">
              <a:buNone/>
            </a:pPr>
            <a:r>
              <a:rPr lang="en-US" sz="850" kern="0" spc="100" dirty="0">
                <a:solidFill>
                  <a:srgbClr val="B4642F"/>
                </a:solidFill>
                <a:latin typeface="Consolas" pitchFamily="34" charset="0"/>
                <a:ea typeface="Consolas" pitchFamily="34" charset="-122"/>
                <a:cs typeface="Consolas" pitchFamily="34" charset="-120"/>
              </a:rPr>
              <a:t>DISCRETE-EVENT SIMULATION, IN PLAIN WORDS</a:t>
            </a:r>
            <a:endParaRPr lang="en-US" sz="850" dirty="0"/>
          </a:p>
        </p:txBody>
      </p:sp>
      <p:sp>
        <p:nvSpPr>
          <p:cNvPr id="40" name="Text 36"/>
          <p:cNvSpPr txBox="1"/>
          <p:nvPr/>
        </p:nvSpPr>
        <p:spPr>
          <a:xfrm>
            <a:off x="8001000" y="4846320"/>
            <a:ext cx="3520440" cy="1188720"/>
          </a:xfrm>
          <a:prstGeom prst="rect">
            <a:avLst/>
          </a:prstGeom>
          <a:noFill/>
          <a:ln/>
        </p:spPr>
        <p:txBody>
          <a:bodyPr wrap="square" lIns="0" tIns="0" rIns="0" bIns="0" rtlCol="0" anchor="t"/>
          <a:lstStyle/>
          <a:p>
            <a:pPr marL="0" indent="0">
              <a:buNone/>
            </a:pPr>
            <a:r>
              <a:rPr lang="en-US" sz="1050" dirty="0">
                <a:solidFill>
                  <a:srgbClr val="3A4A66"/>
                </a:solidFill>
                <a:latin typeface="Segoe UI" pitchFamily="34" charset="0"/>
                <a:ea typeface="Segoe UI" pitchFamily="34" charset="-122"/>
                <a:cs typeface="Segoe UI" pitchFamily="34" charset="-120"/>
              </a:rPr>
              <a:t>The simulator jumps from event to event (arrive, wait, start, finish, transfer, outage) and logs each one. A fixed seed regenerates the same day, so differences come from what we change.</a:t>
            </a:r>
            <a:endParaRPr lang="en-US" sz="1050" dirty="0"/>
          </a:p>
        </p:txBody>
      </p:sp>
      <p:sp>
        <p:nvSpPr>
          <p:cNvPr id="41" name="Text 37"/>
          <p:cNvSpPr txBox="1"/>
          <p:nvPr/>
        </p:nvSpPr>
        <p:spPr>
          <a:xfrm>
            <a:off x="548640" y="6199632"/>
            <a:ext cx="11064240" cy="256032"/>
          </a:xfrm>
          <a:prstGeom prst="rect">
            <a:avLst/>
          </a:prstGeom>
          <a:noFill/>
          <a:ln/>
        </p:spPr>
        <p:txBody>
          <a:bodyPr wrap="square" lIns="0" tIns="0" rIns="0" bIns="0" rtlCol="0" anchor="t"/>
          <a:lstStyle/>
          <a:p>
            <a:pPr marL="0" indent="0">
              <a:buNone/>
            </a:pPr>
            <a:r>
              <a:rPr lang="en-US" sz="850" dirty="0">
                <a:solidFill>
                  <a:srgbClr val="7B7566"/>
                </a:solidFill>
                <a:latin typeface="Segoe UI" pitchFamily="34" charset="0"/>
                <a:ea typeface="Segoe UI" pitchFamily="34" charset="-122"/>
                <a:cs typeface="Segoe UI" pitchFamily="34" charset="-120"/>
              </a:rPr>
              <a:t>Default clinic: 60 synthetic patients (48 scheduled, 12 walk-in); 2 registration, 2 vital-sign, 3 consultation stations (clinician + room), 1 laboratory, 1 checkout; 08:00–16:00. Shot: seed 7, staff scenario, clock 11:45.</a:t>
            </a:r>
            <a:endParaRPr lang="en-US" sz="850" dirty="0"/>
          </a:p>
        </p:txBody>
      </p:sp>
      <p:sp>
        <p:nvSpPr>
          <p:cNvPr id="4" name="Slide Number Placeholder 0"/>
          <p:cNvSpPr>
            <a:spLocks noGrp="1"/>
          </p:cNvSpPr>
          <p:nvPr>
            <p:ph type="sldNum" sz="quarter" idx="4294967295"/>
          </p:nvPr>
        </p:nvSpPr>
        <p:spPr>
          <a:xfrm>
            <a:off x="11064240" y="6492240"/>
            <a:ext cx="576072"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B7566"/>
                </a:solidFill>
                <a:latin typeface="Consolas"/>
                <a:ea typeface="Consolas"/>
                <a:cs typeface="Consolas"/>
              </a:defRPr>
            </a:lvl1pPr>
          </a:lstStyle>
          <a:p>
            <a:pPr algn="r"/>
            <a:fld id="{F7021451-1387-4CA6-816F-3879F97B5CBC}" type="slidenum">
              <a:rPr lang="en-US" b="0"/>
              <a:t>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par>
                          <p:cTn id="8" fill="hold">
                            <p:stCondLst>
                              <p:cond delay="300"/>
                            </p:stCondLst>
                            <p:childTnLst>
                              <p:par>
                                <p:cTn id="9" presetID="10"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childTnLst>
                          </p:cTn>
                        </p:par>
                        <p:par>
                          <p:cTn id="12" fill="hold">
                            <p:stCondLst>
                              <p:cond delay="6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300"/>
                                        <p:tgtEl>
                                          <p:spTgt spid="11"/>
                                        </p:tgtEl>
                                      </p:cBhvr>
                                    </p:animEffect>
                                  </p:childTnLst>
                                </p:cTn>
                              </p:par>
                            </p:childTnLst>
                          </p:cTn>
                        </p:par>
                        <p:par>
                          <p:cTn id="16" fill="hold">
                            <p:stCondLst>
                              <p:cond delay="900"/>
                            </p:stCondLst>
                            <p:childTnLst>
                              <p:par>
                                <p:cTn id="17" presetID="10" presetClass="entr" presetSubtype="0"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300"/>
                                        <p:tgtEl>
                                          <p:spTgt spid="13"/>
                                        </p:tgtEl>
                                      </p:cBhvr>
                                    </p:animEffect>
                                  </p:childTnLst>
                                </p:cTn>
                              </p:par>
                            </p:childTnLst>
                          </p:cTn>
                        </p:par>
                        <p:par>
                          <p:cTn id="20" fill="hold">
                            <p:stCondLst>
                              <p:cond delay="1200"/>
                            </p:stCondLst>
                            <p:childTnLst>
                              <p:par>
                                <p:cTn id="21" presetID="10" presetClass="entr" presetSubtype="0"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300"/>
                                        <p:tgtEl>
                                          <p:spTgt spid="15"/>
                                        </p:tgtEl>
                                      </p:cBhvr>
                                    </p:animEffect>
                                  </p:childTnLst>
                                </p:cTn>
                              </p:par>
                            </p:childTnLst>
                          </p:cTn>
                        </p:par>
                        <p:par>
                          <p:cTn id="24" fill="hold">
                            <p:stCondLst>
                              <p:cond delay="1500"/>
                            </p:stCondLst>
                            <p:childTnLst>
                              <p:par>
                                <p:cTn id="25" presetID="10" presetClass="entr" presetSubtype="0" fill="hold"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3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685800"/>
          </a:xfrm>
          <a:prstGeom prst="rect">
            <a:avLst/>
          </a:prstGeom>
          <a:noFill/>
          <a:ln/>
        </p:spPr>
        <p:txBody>
          <a:bodyPr wrap="square" lIns="0" tIns="0" rIns="0" bIns="0" rtlCol="0" anchor="t"/>
          <a:lstStyle/>
          <a:p>
            <a:pPr marL="0" indent="0" algn="l">
              <a:buNone/>
            </a:pPr>
            <a:r>
              <a:rPr lang="en-US" sz="3000" dirty="0">
                <a:solidFill>
                  <a:srgbClr val="15233B"/>
                </a:solidFill>
                <a:latin typeface="Palatino Linotype" pitchFamily="34" charset="0"/>
                <a:ea typeface="Palatino Linotype" pitchFamily="34" charset="-122"/>
                <a:cs typeface="Palatino Linotype" pitchFamily="34" charset="-120"/>
              </a:rPr>
              <a:t>The disruption experiment</a:t>
            </a:r>
            <a:endParaRPr lang="en-US" sz="3000" dirty="0"/>
          </a:p>
        </p:txBody>
      </p:sp>
      <p:sp>
        <p:nvSpPr>
          <p:cNvPr id="3" name="Text 1"/>
          <p:cNvSpPr txBox="1"/>
          <p:nvPr/>
        </p:nvSpPr>
        <p:spPr>
          <a:xfrm>
            <a:off x="548640" y="310896"/>
            <a:ext cx="8229600" cy="228600"/>
          </a:xfrm>
          <a:prstGeom prst="rect">
            <a:avLst/>
          </a:prstGeom>
          <a:noFill/>
          <a:ln/>
        </p:spPr>
        <p:txBody>
          <a:bodyPr wrap="square" lIns="0" tIns="0" rIns="0" bIns="0" rtlCol="0" anchor="t"/>
          <a:lstStyle/>
          <a:p>
            <a:pPr marL="0" indent="0">
              <a:buNone/>
            </a:pPr>
            <a:r>
              <a:rPr lang="en-US" sz="1050" kern="0" spc="200" dirty="0">
                <a:solidFill>
                  <a:srgbClr val="B4642F"/>
                </a:solidFill>
                <a:latin typeface="Consolas" pitchFamily="34" charset="0"/>
                <a:ea typeface="Consolas" pitchFamily="34" charset="-122"/>
                <a:cs typeface="Consolas" pitchFamily="34" charset="-120"/>
              </a:rPr>
              <a:t>STRESS CONTROLS</a:t>
            </a:r>
            <a:endParaRPr lang="en-US" sz="1050" dirty="0"/>
          </a:p>
        </p:txBody>
      </p:sp>
      <p:sp>
        <p:nvSpPr>
          <p:cNvPr id="5" name="Shape 2"/>
          <p:cNvSpPr/>
          <p:nvPr/>
        </p:nvSpPr>
        <p:spPr>
          <a:xfrm>
            <a:off x="502920" y="1307592"/>
            <a:ext cx="5387815" cy="4846320"/>
          </a:xfrm>
          <a:prstGeom prst="roundRect">
            <a:avLst>
              <a:gd name="adj" fmla="val 1321"/>
            </a:avLst>
          </a:prstGeom>
          <a:solidFill>
            <a:srgbClr val="FBF9F4"/>
          </a:solidFill>
          <a:ln w="9525">
            <a:solidFill>
              <a:srgbClr val="CBC2AB"/>
            </a:solidFill>
            <a:prstDash val="solid"/>
          </a:ln>
        </p:spPr>
      </p:sp>
      <p:pic>
        <p:nvPicPr>
          <p:cNvPr id="6" name="S5_shot" descr="SAYR Stress Controls with Staff unavailability selected"/>
          <p:cNvPicPr>
            <a:picLocks noChangeAspect="1"/>
          </p:cNvPicPr>
          <p:nvPr/>
        </p:nvPicPr>
        <p:blipFill>
          <a:blip r:embed="rId3"/>
          <a:stretch>
            <a:fillRect/>
          </a:stretch>
        </p:blipFill>
        <p:spPr>
          <a:xfrm>
            <a:off x="548640" y="1353312"/>
            <a:ext cx="5296375" cy="4754880"/>
          </a:xfrm>
          <a:prstGeom prst="rect">
            <a:avLst/>
          </a:prstGeom>
        </p:spPr>
      </p:pic>
      <p:sp>
        <p:nvSpPr>
          <p:cNvPr id="7" name="Text 3"/>
          <p:cNvSpPr txBox="1"/>
          <p:nvPr/>
        </p:nvSpPr>
        <p:spPr>
          <a:xfrm>
            <a:off x="6172200" y="1371600"/>
            <a:ext cx="5468112" cy="201168"/>
          </a:xfrm>
          <a:prstGeom prst="rect">
            <a:avLst/>
          </a:prstGeom>
          <a:noFill/>
          <a:ln/>
        </p:spPr>
        <p:txBody>
          <a:bodyPr wrap="square" lIns="0" tIns="0" rIns="0" bIns="0" rtlCol="0" anchor="t"/>
          <a:lstStyle/>
          <a:p>
            <a:pPr marL="0" indent="0">
              <a:buNone/>
            </a:pPr>
            <a:r>
              <a:rPr lang="en-US" sz="900" kern="0" spc="120" dirty="0">
                <a:solidFill>
                  <a:srgbClr val="B4642F"/>
                </a:solidFill>
                <a:latin typeface="Consolas" pitchFamily="34" charset="0"/>
                <a:ea typeface="Consolas" pitchFamily="34" charset="-122"/>
                <a:cs typeface="Consolas" pitchFamily="34" charset="-120"/>
              </a:rPr>
              <a:t>FOUR IMPLEMENTED SCENARIOS · ONE DAY, 08:00–16:00</a:t>
            </a:r>
            <a:endParaRPr lang="en-US" sz="900" dirty="0"/>
          </a:p>
        </p:txBody>
      </p:sp>
      <p:sp>
        <p:nvSpPr>
          <p:cNvPr id="8" name="Shape 4"/>
          <p:cNvSpPr/>
          <p:nvPr/>
        </p:nvSpPr>
        <p:spPr>
          <a:xfrm>
            <a:off x="8229600" y="1691640"/>
            <a:ext cx="0" cy="1508760"/>
          </a:xfrm>
          <a:prstGeom prst="line">
            <a:avLst/>
          </a:prstGeom>
          <a:noFill/>
          <a:ln w="6350">
            <a:solidFill>
              <a:srgbClr val="CBC2AB"/>
            </a:solidFill>
            <a:prstDash val="solid"/>
          </a:ln>
        </p:spPr>
      </p:sp>
      <p:sp>
        <p:nvSpPr>
          <p:cNvPr id="9" name="Text 5"/>
          <p:cNvSpPr txBox="1"/>
          <p:nvPr/>
        </p:nvSpPr>
        <p:spPr>
          <a:xfrm>
            <a:off x="7955280" y="3218688"/>
            <a:ext cx="548640" cy="146304"/>
          </a:xfrm>
          <a:prstGeom prst="rect">
            <a:avLst/>
          </a:prstGeom>
          <a:noFill/>
          <a:ln/>
        </p:spPr>
        <p:txBody>
          <a:bodyPr wrap="square" lIns="0" tIns="0" rIns="0" bIns="0" rtlCol="0" anchor="t"/>
          <a:lstStyle/>
          <a:p>
            <a:pPr marL="0" indent="0" algn="ctr">
              <a:buNone/>
            </a:pPr>
            <a:r>
              <a:rPr lang="en-US" sz="750" dirty="0">
                <a:solidFill>
                  <a:srgbClr val="7B7566"/>
                </a:solidFill>
                <a:latin typeface="Consolas" pitchFamily="34" charset="0"/>
                <a:ea typeface="Consolas" pitchFamily="34" charset="-122"/>
                <a:cs typeface="Consolas" pitchFamily="34" charset="-120"/>
              </a:rPr>
              <a:t>8:00</a:t>
            </a:r>
            <a:endParaRPr lang="en-US" sz="750" dirty="0"/>
          </a:p>
        </p:txBody>
      </p:sp>
      <p:sp>
        <p:nvSpPr>
          <p:cNvPr id="10" name="Shape 6"/>
          <p:cNvSpPr/>
          <p:nvPr/>
        </p:nvSpPr>
        <p:spPr>
          <a:xfrm>
            <a:off x="9052560" y="1691640"/>
            <a:ext cx="0" cy="1508760"/>
          </a:xfrm>
          <a:prstGeom prst="line">
            <a:avLst/>
          </a:prstGeom>
          <a:noFill/>
          <a:ln w="6350">
            <a:solidFill>
              <a:srgbClr val="CBC2AB"/>
            </a:solidFill>
            <a:prstDash val="solid"/>
          </a:ln>
        </p:spPr>
      </p:sp>
      <p:sp>
        <p:nvSpPr>
          <p:cNvPr id="11" name="Text 7"/>
          <p:cNvSpPr txBox="1"/>
          <p:nvPr/>
        </p:nvSpPr>
        <p:spPr>
          <a:xfrm>
            <a:off x="8778240" y="3218688"/>
            <a:ext cx="548640" cy="146304"/>
          </a:xfrm>
          <a:prstGeom prst="rect">
            <a:avLst/>
          </a:prstGeom>
          <a:noFill/>
          <a:ln/>
        </p:spPr>
        <p:txBody>
          <a:bodyPr wrap="square" lIns="0" tIns="0" rIns="0" bIns="0" rtlCol="0" anchor="t"/>
          <a:lstStyle/>
          <a:p>
            <a:pPr marL="0" indent="0" algn="ctr">
              <a:buNone/>
            </a:pPr>
            <a:r>
              <a:rPr lang="en-US" sz="750" dirty="0">
                <a:solidFill>
                  <a:srgbClr val="7B7566"/>
                </a:solidFill>
                <a:latin typeface="Consolas" pitchFamily="34" charset="0"/>
                <a:ea typeface="Consolas" pitchFamily="34" charset="-122"/>
                <a:cs typeface="Consolas" pitchFamily="34" charset="-120"/>
              </a:rPr>
              <a:t>10:00</a:t>
            </a:r>
            <a:endParaRPr lang="en-US" sz="750" dirty="0"/>
          </a:p>
        </p:txBody>
      </p:sp>
      <p:sp>
        <p:nvSpPr>
          <p:cNvPr id="12" name="Shape 8"/>
          <p:cNvSpPr/>
          <p:nvPr/>
        </p:nvSpPr>
        <p:spPr>
          <a:xfrm>
            <a:off x="9875520" y="1691640"/>
            <a:ext cx="0" cy="1508760"/>
          </a:xfrm>
          <a:prstGeom prst="line">
            <a:avLst/>
          </a:prstGeom>
          <a:noFill/>
          <a:ln w="6350">
            <a:solidFill>
              <a:srgbClr val="CBC2AB"/>
            </a:solidFill>
            <a:prstDash val="solid"/>
          </a:ln>
        </p:spPr>
      </p:sp>
      <p:sp>
        <p:nvSpPr>
          <p:cNvPr id="13" name="Text 9"/>
          <p:cNvSpPr txBox="1"/>
          <p:nvPr/>
        </p:nvSpPr>
        <p:spPr>
          <a:xfrm>
            <a:off x="9601200" y="3218688"/>
            <a:ext cx="548640" cy="146304"/>
          </a:xfrm>
          <a:prstGeom prst="rect">
            <a:avLst/>
          </a:prstGeom>
          <a:noFill/>
          <a:ln/>
        </p:spPr>
        <p:txBody>
          <a:bodyPr wrap="square" lIns="0" tIns="0" rIns="0" bIns="0" rtlCol="0" anchor="t"/>
          <a:lstStyle/>
          <a:p>
            <a:pPr marL="0" indent="0" algn="ctr">
              <a:buNone/>
            </a:pPr>
            <a:r>
              <a:rPr lang="en-US" sz="750" dirty="0">
                <a:solidFill>
                  <a:srgbClr val="7B7566"/>
                </a:solidFill>
                <a:latin typeface="Consolas" pitchFamily="34" charset="0"/>
                <a:ea typeface="Consolas" pitchFamily="34" charset="-122"/>
                <a:cs typeface="Consolas" pitchFamily="34" charset="-120"/>
              </a:rPr>
              <a:t>12:00</a:t>
            </a:r>
            <a:endParaRPr lang="en-US" sz="750" dirty="0"/>
          </a:p>
        </p:txBody>
      </p:sp>
      <p:sp>
        <p:nvSpPr>
          <p:cNvPr id="14" name="Shape 10"/>
          <p:cNvSpPr/>
          <p:nvPr/>
        </p:nvSpPr>
        <p:spPr>
          <a:xfrm>
            <a:off x="10698480" y="1691640"/>
            <a:ext cx="0" cy="1508760"/>
          </a:xfrm>
          <a:prstGeom prst="line">
            <a:avLst/>
          </a:prstGeom>
          <a:noFill/>
          <a:ln w="6350">
            <a:solidFill>
              <a:srgbClr val="CBC2AB"/>
            </a:solidFill>
            <a:prstDash val="solid"/>
          </a:ln>
        </p:spPr>
      </p:sp>
      <p:sp>
        <p:nvSpPr>
          <p:cNvPr id="15" name="Text 11"/>
          <p:cNvSpPr txBox="1"/>
          <p:nvPr/>
        </p:nvSpPr>
        <p:spPr>
          <a:xfrm>
            <a:off x="10424160" y="3218688"/>
            <a:ext cx="548640" cy="146304"/>
          </a:xfrm>
          <a:prstGeom prst="rect">
            <a:avLst/>
          </a:prstGeom>
          <a:noFill/>
          <a:ln/>
        </p:spPr>
        <p:txBody>
          <a:bodyPr wrap="square" lIns="0" tIns="0" rIns="0" bIns="0" rtlCol="0" anchor="t"/>
          <a:lstStyle/>
          <a:p>
            <a:pPr marL="0" indent="0" algn="ctr">
              <a:buNone/>
            </a:pPr>
            <a:r>
              <a:rPr lang="en-US" sz="750" dirty="0">
                <a:solidFill>
                  <a:srgbClr val="7B7566"/>
                </a:solidFill>
                <a:latin typeface="Consolas" pitchFamily="34" charset="0"/>
                <a:ea typeface="Consolas" pitchFamily="34" charset="-122"/>
                <a:cs typeface="Consolas" pitchFamily="34" charset="-120"/>
              </a:rPr>
              <a:t>14:00</a:t>
            </a:r>
            <a:endParaRPr lang="en-US" sz="750" dirty="0"/>
          </a:p>
        </p:txBody>
      </p:sp>
      <p:sp>
        <p:nvSpPr>
          <p:cNvPr id="16" name="Shape 12"/>
          <p:cNvSpPr/>
          <p:nvPr/>
        </p:nvSpPr>
        <p:spPr>
          <a:xfrm>
            <a:off x="11521440" y="1691640"/>
            <a:ext cx="0" cy="1508760"/>
          </a:xfrm>
          <a:prstGeom prst="line">
            <a:avLst/>
          </a:prstGeom>
          <a:noFill/>
          <a:ln w="6350">
            <a:solidFill>
              <a:srgbClr val="CBC2AB"/>
            </a:solidFill>
            <a:prstDash val="solid"/>
          </a:ln>
        </p:spPr>
      </p:sp>
      <p:sp>
        <p:nvSpPr>
          <p:cNvPr id="17" name="Text 13"/>
          <p:cNvSpPr txBox="1"/>
          <p:nvPr/>
        </p:nvSpPr>
        <p:spPr>
          <a:xfrm>
            <a:off x="11247120" y="3218688"/>
            <a:ext cx="548640" cy="146304"/>
          </a:xfrm>
          <a:prstGeom prst="rect">
            <a:avLst/>
          </a:prstGeom>
          <a:noFill/>
          <a:ln/>
        </p:spPr>
        <p:txBody>
          <a:bodyPr wrap="square" lIns="0" tIns="0" rIns="0" bIns="0" rtlCol="0" anchor="t"/>
          <a:lstStyle/>
          <a:p>
            <a:pPr marL="0" indent="0" algn="ctr">
              <a:buNone/>
            </a:pPr>
            <a:r>
              <a:rPr lang="en-US" sz="750" dirty="0">
                <a:solidFill>
                  <a:srgbClr val="7B7566"/>
                </a:solidFill>
                <a:latin typeface="Consolas" pitchFamily="34" charset="0"/>
                <a:ea typeface="Consolas" pitchFamily="34" charset="-122"/>
                <a:cs typeface="Consolas" pitchFamily="34" charset="-120"/>
              </a:rPr>
              <a:t>16:00</a:t>
            </a:r>
            <a:endParaRPr lang="en-US" sz="750" dirty="0"/>
          </a:p>
        </p:txBody>
      </p:sp>
      <p:sp>
        <p:nvSpPr>
          <p:cNvPr id="18" name="Text 14"/>
          <p:cNvSpPr txBox="1"/>
          <p:nvPr/>
        </p:nvSpPr>
        <p:spPr>
          <a:xfrm>
            <a:off x="6172200" y="1773936"/>
            <a:ext cx="2011680" cy="274320"/>
          </a:xfrm>
          <a:prstGeom prst="rect">
            <a:avLst/>
          </a:prstGeom>
          <a:noFill/>
          <a:ln/>
        </p:spPr>
        <p:txBody>
          <a:bodyPr wrap="square" lIns="0" tIns="0" rIns="0" bIns="0" rtlCol="0" anchor="t"/>
          <a:lstStyle/>
          <a:p>
            <a:pPr marL="0" indent="0">
              <a:buNone/>
            </a:pPr>
            <a:r>
              <a:rPr lang="en-US" sz="1400" b="1" dirty="0">
                <a:solidFill>
                  <a:srgbClr val="B4642F"/>
                </a:solidFill>
                <a:latin typeface="Palatino Linotype" pitchFamily="34" charset="0"/>
                <a:ea typeface="Palatino Linotype" pitchFamily="34" charset="-122"/>
                <a:cs typeface="Palatino Linotype" pitchFamily="34" charset="-120"/>
              </a:rPr>
              <a:t>Staff unavailability</a:t>
            </a:r>
            <a:endParaRPr lang="en-US" sz="1400" dirty="0"/>
          </a:p>
        </p:txBody>
      </p:sp>
      <p:sp>
        <p:nvSpPr>
          <p:cNvPr id="19" name="S5_bar0"/>
          <p:cNvSpPr/>
          <p:nvPr/>
        </p:nvSpPr>
        <p:spPr>
          <a:xfrm>
            <a:off x="9258300" y="1755648"/>
            <a:ext cx="1234440" cy="292608"/>
          </a:xfrm>
          <a:prstGeom prst="roundRect">
            <a:avLst>
              <a:gd name="adj" fmla="val 9375"/>
            </a:avLst>
          </a:prstGeom>
          <a:solidFill>
            <a:srgbClr val="B4642F"/>
          </a:solidFill>
          <a:ln/>
        </p:spPr>
      </p:sp>
      <p:sp>
        <p:nvSpPr>
          <p:cNvPr id="20" name="Text 16"/>
          <p:cNvSpPr txBox="1"/>
          <p:nvPr/>
        </p:nvSpPr>
        <p:spPr>
          <a:xfrm>
            <a:off x="9331452" y="1819656"/>
            <a:ext cx="1097280" cy="164592"/>
          </a:xfrm>
          <a:prstGeom prst="rect">
            <a:avLst/>
          </a:prstGeom>
          <a:noFill/>
          <a:ln/>
        </p:spPr>
        <p:txBody>
          <a:bodyPr wrap="square" lIns="0" tIns="0" rIns="0" bIns="0" rtlCol="0" anchor="t"/>
          <a:lstStyle/>
          <a:p>
            <a:pPr marL="0" indent="0">
              <a:buNone/>
            </a:pPr>
            <a:r>
              <a:rPr lang="en-US" sz="750" b="1" kern="0" spc="100" dirty="0">
                <a:solidFill>
                  <a:srgbClr val="FFFFFF"/>
                </a:solidFill>
                <a:latin typeface="Consolas" pitchFamily="34" charset="0"/>
                <a:ea typeface="Consolas" pitchFamily="34" charset="-122"/>
                <a:cs typeface="Consolas" pitchFamily="34" charset="-120"/>
              </a:rPr>
              <a:t>FEATURED</a:t>
            </a:r>
            <a:endParaRPr lang="en-US" sz="750" dirty="0"/>
          </a:p>
        </p:txBody>
      </p:sp>
      <p:sp>
        <p:nvSpPr>
          <p:cNvPr id="21" name="Text 17"/>
          <p:cNvSpPr txBox="1"/>
          <p:nvPr/>
        </p:nvSpPr>
        <p:spPr>
          <a:xfrm>
            <a:off x="6172200" y="2139696"/>
            <a:ext cx="2011680" cy="274320"/>
          </a:xfrm>
          <a:prstGeom prst="rect">
            <a:avLst/>
          </a:prstGeom>
          <a:noFill/>
          <a:ln/>
        </p:spPr>
        <p:txBody>
          <a:bodyPr wrap="square" lIns="0" tIns="0" rIns="0" bIns="0" rtlCol="0" anchor="t"/>
          <a:lstStyle/>
          <a:p>
            <a:pPr marL="0" indent="0">
              <a:buNone/>
            </a:pPr>
            <a:r>
              <a:rPr lang="en-US" sz="1200" dirty="0">
                <a:solidFill>
                  <a:srgbClr val="3A4A66"/>
                </a:solidFill>
                <a:latin typeface="Palatino Linotype" pitchFamily="34" charset="0"/>
                <a:ea typeface="Palatino Linotype" pitchFamily="34" charset="-122"/>
                <a:cs typeface="Palatino Linotype" pitchFamily="34" charset="-120"/>
              </a:rPr>
              <a:t>Walk-in surge</a:t>
            </a:r>
            <a:endParaRPr lang="en-US" sz="1200" dirty="0"/>
          </a:p>
        </p:txBody>
      </p:sp>
      <p:sp>
        <p:nvSpPr>
          <p:cNvPr id="22" name="S5_bar1"/>
          <p:cNvSpPr/>
          <p:nvPr/>
        </p:nvSpPr>
        <p:spPr>
          <a:xfrm>
            <a:off x="9464040" y="2176272"/>
            <a:ext cx="91440" cy="182880"/>
          </a:xfrm>
          <a:prstGeom prst="roundRect">
            <a:avLst>
              <a:gd name="adj" fmla="val 30000"/>
            </a:avLst>
          </a:prstGeom>
          <a:solidFill>
            <a:srgbClr val="2A4068">
              <a:alpha val="80000"/>
            </a:srgbClr>
          </a:solidFill>
          <a:ln/>
        </p:spPr>
      </p:sp>
      <p:sp>
        <p:nvSpPr>
          <p:cNvPr id="23" name="Text 19"/>
          <p:cNvSpPr txBox="1"/>
          <p:nvPr/>
        </p:nvSpPr>
        <p:spPr>
          <a:xfrm>
            <a:off x="9656064" y="2185416"/>
            <a:ext cx="2194560" cy="182880"/>
          </a:xfrm>
          <a:prstGeom prst="rect">
            <a:avLst/>
          </a:prstGeom>
          <a:noFill/>
          <a:ln/>
        </p:spPr>
        <p:txBody>
          <a:bodyPr wrap="square" lIns="0" tIns="0" rIns="0" bIns="0" rtlCol="0" anchor="t"/>
          <a:lstStyle/>
          <a:p>
            <a:pPr marL="0" indent="0">
              <a:buNone/>
            </a:pPr>
            <a:r>
              <a:rPr lang="en-US" sz="850" dirty="0">
                <a:solidFill>
                  <a:srgbClr val="7B7566"/>
                </a:solidFill>
                <a:latin typeface="Segoe UI" pitchFamily="34" charset="0"/>
                <a:ea typeface="Segoe UI" pitchFamily="34" charset="-122"/>
                <a:cs typeface="Segoe UI" pitchFamily="34" charset="-120"/>
              </a:rPr>
              <a:t>8 patients around 11:00</a:t>
            </a:r>
            <a:endParaRPr lang="en-US" sz="850" dirty="0"/>
          </a:p>
        </p:txBody>
      </p:sp>
      <p:sp>
        <p:nvSpPr>
          <p:cNvPr id="24" name="Text 20"/>
          <p:cNvSpPr txBox="1"/>
          <p:nvPr/>
        </p:nvSpPr>
        <p:spPr>
          <a:xfrm>
            <a:off x="6172200" y="2505456"/>
            <a:ext cx="2011680" cy="274320"/>
          </a:xfrm>
          <a:prstGeom prst="rect">
            <a:avLst/>
          </a:prstGeom>
          <a:noFill/>
          <a:ln/>
        </p:spPr>
        <p:txBody>
          <a:bodyPr wrap="square" lIns="0" tIns="0" rIns="0" bIns="0" rtlCol="0" anchor="t"/>
          <a:lstStyle/>
          <a:p>
            <a:pPr marL="0" indent="0">
              <a:buNone/>
            </a:pPr>
            <a:r>
              <a:rPr lang="en-US" sz="1200" dirty="0">
                <a:solidFill>
                  <a:srgbClr val="3A4A66"/>
                </a:solidFill>
                <a:latin typeface="Palatino Linotype" pitchFamily="34" charset="0"/>
                <a:ea typeface="Palatino Linotype" pitchFamily="34" charset="-122"/>
                <a:cs typeface="Palatino Linotype" pitchFamily="34" charset="-120"/>
              </a:rPr>
              <a:t>Laboratory slowdown</a:t>
            </a:r>
            <a:endParaRPr lang="en-US" sz="1200" dirty="0"/>
          </a:p>
        </p:txBody>
      </p:sp>
      <p:sp>
        <p:nvSpPr>
          <p:cNvPr id="25" name="S5_bar2"/>
          <p:cNvSpPr/>
          <p:nvPr/>
        </p:nvSpPr>
        <p:spPr>
          <a:xfrm>
            <a:off x="9875520" y="2542032"/>
            <a:ext cx="1645920" cy="182880"/>
          </a:xfrm>
          <a:prstGeom prst="roundRect">
            <a:avLst>
              <a:gd name="adj" fmla="val 15000"/>
            </a:avLst>
          </a:prstGeom>
          <a:solidFill>
            <a:srgbClr val="7B7566">
              <a:alpha val="80000"/>
            </a:srgbClr>
          </a:solidFill>
          <a:ln/>
        </p:spPr>
      </p:sp>
      <p:sp>
        <p:nvSpPr>
          <p:cNvPr id="26" name="Text 22"/>
          <p:cNvSpPr txBox="1"/>
          <p:nvPr/>
        </p:nvSpPr>
        <p:spPr>
          <a:xfrm>
            <a:off x="9948672" y="2551176"/>
            <a:ext cx="2194560" cy="182880"/>
          </a:xfrm>
          <a:prstGeom prst="rect">
            <a:avLst/>
          </a:prstGeom>
          <a:noFill/>
          <a:ln/>
        </p:spPr>
        <p:txBody>
          <a:bodyPr wrap="square" lIns="0" tIns="0" rIns="0" bIns="0" rtlCol="0" anchor="t"/>
          <a:lstStyle/>
          <a:p>
            <a:pPr marL="0" indent="0">
              <a:buNone/>
            </a:pPr>
            <a:r>
              <a:rPr lang="en-US" sz="850" dirty="0">
                <a:solidFill>
                  <a:srgbClr val="FFFFFF"/>
                </a:solidFill>
                <a:latin typeface="Segoe UI" pitchFamily="34" charset="0"/>
                <a:ea typeface="Segoe UI" pitchFamily="34" charset="-122"/>
                <a:cs typeface="Segoe UI" pitchFamily="34" charset="-120"/>
              </a:rPr>
              <a:t>+50% from 12:00</a:t>
            </a:r>
            <a:endParaRPr lang="en-US" sz="850" dirty="0"/>
          </a:p>
        </p:txBody>
      </p:sp>
      <p:sp>
        <p:nvSpPr>
          <p:cNvPr id="27" name="Text 23"/>
          <p:cNvSpPr txBox="1"/>
          <p:nvPr/>
        </p:nvSpPr>
        <p:spPr>
          <a:xfrm>
            <a:off x="6172200" y="2871216"/>
            <a:ext cx="2011680" cy="274320"/>
          </a:xfrm>
          <a:prstGeom prst="rect">
            <a:avLst/>
          </a:prstGeom>
          <a:noFill/>
          <a:ln/>
        </p:spPr>
        <p:txBody>
          <a:bodyPr wrap="square" lIns="0" tIns="0" rIns="0" bIns="0" rtlCol="0" anchor="t"/>
          <a:lstStyle/>
          <a:p>
            <a:pPr marL="0" indent="0">
              <a:buNone/>
            </a:pPr>
            <a:r>
              <a:rPr lang="en-US" sz="1200" dirty="0">
                <a:solidFill>
                  <a:srgbClr val="3A4A66"/>
                </a:solidFill>
                <a:latin typeface="Palatino Linotype" pitchFamily="34" charset="0"/>
                <a:ea typeface="Palatino Linotype" pitchFamily="34" charset="-122"/>
                <a:cs typeface="Palatino Linotype" pitchFamily="34" charset="-120"/>
              </a:rPr>
              <a:t>Room closure</a:t>
            </a:r>
            <a:endParaRPr lang="en-US" sz="1200" dirty="0"/>
          </a:p>
        </p:txBody>
      </p:sp>
      <p:sp>
        <p:nvSpPr>
          <p:cNvPr id="28" name="S5_bar3"/>
          <p:cNvSpPr/>
          <p:nvPr/>
        </p:nvSpPr>
        <p:spPr>
          <a:xfrm>
            <a:off x="10287000" y="2907792"/>
            <a:ext cx="1234440" cy="182880"/>
          </a:xfrm>
          <a:prstGeom prst="roundRect">
            <a:avLst>
              <a:gd name="adj" fmla="val 15000"/>
            </a:avLst>
          </a:prstGeom>
          <a:solidFill>
            <a:srgbClr val="7B7566">
              <a:alpha val="80000"/>
            </a:srgbClr>
          </a:solidFill>
          <a:ln/>
        </p:spPr>
      </p:sp>
      <p:sp>
        <p:nvSpPr>
          <p:cNvPr id="29" name="Text 25"/>
          <p:cNvSpPr txBox="1"/>
          <p:nvPr/>
        </p:nvSpPr>
        <p:spPr>
          <a:xfrm>
            <a:off x="10360152" y="2916936"/>
            <a:ext cx="2194560" cy="182880"/>
          </a:xfrm>
          <a:prstGeom prst="rect">
            <a:avLst/>
          </a:prstGeom>
          <a:noFill/>
          <a:ln/>
        </p:spPr>
        <p:txBody>
          <a:bodyPr wrap="square" lIns="0" tIns="0" rIns="0" bIns="0" rtlCol="0" anchor="t"/>
          <a:lstStyle/>
          <a:p>
            <a:pPr marL="0" indent="0">
              <a:buNone/>
            </a:pPr>
            <a:r>
              <a:rPr lang="en-US" sz="850" dirty="0">
                <a:solidFill>
                  <a:srgbClr val="FFFFFF"/>
                </a:solidFill>
                <a:latin typeface="Segoe UI" pitchFamily="34" charset="0"/>
                <a:ea typeface="Segoe UI" pitchFamily="34" charset="-122"/>
                <a:cs typeface="Segoe UI" pitchFamily="34" charset="-120"/>
              </a:rPr>
              <a:t>from 13:00 to end</a:t>
            </a:r>
            <a:endParaRPr lang="en-US" sz="850" dirty="0"/>
          </a:p>
        </p:txBody>
      </p:sp>
      <p:graphicFrame>
        <p:nvGraphicFramePr>
          <p:cNvPr id="4" name="S5_table"/>
          <p:cNvGraphicFramePr>
            <a:graphicFrameLocks noGrp="1"/>
          </p:cNvGraphicFramePr>
          <p:nvPr>
            <p:extLst>
              <p:ext uri="{D42A27DB-BD31-4B8C-83A1-F6EECF244321}">
                <p14:modId xmlns:p14="http://schemas.microsoft.com/office/powerpoint/2010/main" val="1579011935"/>
              </p:ext>
            </p:extLst>
          </p:nvPr>
        </p:nvGraphicFramePr>
        <p:xfrm>
          <a:off x="6172200" y="3566160"/>
          <a:ext cx="5468112" cy="914400"/>
        </p:xfrm>
        <a:graphic>
          <a:graphicData uri="http://schemas.openxmlformats.org/drawingml/2006/table">
            <a:tbl>
              <a:tblPr/>
              <a:tblGrid>
                <a:gridCol w="29260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353312">
                  <a:extLst>
                    <a:ext uri="{9D8B030D-6E8A-4147-A177-3AD203B41FA5}">
                      <a16:colId xmlns:a16="http://schemas.microsoft.com/office/drawing/2014/main" val="20002"/>
                    </a:ext>
                  </a:extLst>
                </a:gridCol>
              </a:tblGrid>
              <a:tr h="329184">
                <a:tc>
                  <a:txBody>
                    <a:bodyPr/>
                    <a:lstStyle/>
                    <a:p>
                      <a:pPr marL="0" indent="0" algn="l">
                        <a:buNone/>
                      </a:pPr>
                      <a:r>
                        <a:rPr lang="en-US" sz="850" b="1" dirty="0">
                          <a:solidFill>
                            <a:srgbClr val="7B7566"/>
                          </a:solidFill>
                          <a:latin typeface="Consolas" pitchFamily="34" charset="0"/>
                          <a:ea typeface="Consolas" pitchFamily="34" charset="-122"/>
                          <a:cs typeface="Consolas" pitchFamily="34" charset="-120"/>
                        </a:rPr>
                        <a:t>SAME 60 PATIENTS · SEED 7</a:t>
                      </a:r>
                      <a:endParaRPr lang="en-US" sz="850" dirty="0">
                        <a:latin typeface="Consolas" charset="0"/>
                        <a:ea typeface="Consolas" charset="0"/>
                        <a:cs typeface="Consolas" charset="0"/>
                      </a:endParaRPr>
                    </a:p>
                  </a:txBody>
                  <a:tcPr marL="73152" marR="73152" marT="0" marB="0" anchor="ctr">
                    <a:lnL w="0" cap="flat" cmpd="sng" algn="ctr">
                      <a:noFill/>
                    </a:lnL>
                    <a:lnR w="0" cap="flat" cmpd="sng" algn="ctr">
                      <a:noFill/>
                    </a:lnR>
                    <a:lnT w="0" cap="flat" cmpd="sng" algn="ctr">
                      <a:noFill/>
                    </a:lnT>
                    <a:lnB w="9525" cap="flat" cmpd="sng" algn="ctr">
                      <a:solidFill>
                        <a:srgbClr val="CBC2AB"/>
                      </a:solidFill>
                      <a:prstDash val="solid"/>
                      <a:round/>
                      <a:headEnd type="none" w="med" len="med"/>
                      <a:tailEnd type="none" w="med" len="med"/>
                    </a:lnB>
                    <a:solidFill>
                      <a:srgbClr val="EEE8DA"/>
                    </a:solidFill>
                  </a:tcPr>
                </a:tc>
                <a:tc>
                  <a:txBody>
                    <a:bodyPr/>
                    <a:lstStyle/>
                    <a:p>
                      <a:pPr marL="0" indent="0" algn="r">
                        <a:buNone/>
                      </a:pPr>
                      <a:r>
                        <a:rPr lang="en-US" sz="850" b="1" dirty="0">
                          <a:solidFill>
                            <a:srgbClr val="7B7566"/>
                          </a:solidFill>
                          <a:latin typeface="Consolas" pitchFamily="34" charset="0"/>
                          <a:ea typeface="Consolas" pitchFamily="34" charset="-122"/>
                          <a:cs typeface="Consolas" pitchFamily="34" charset="-120"/>
                        </a:rPr>
                        <a:t>NORMAL</a:t>
                      </a:r>
                      <a:endParaRPr lang="en-US" sz="850" dirty="0">
                        <a:latin typeface="Consolas" charset="0"/>
                        <a:ea typeface="Consolas" charset="0"/>
                        <a:cs typeface="Consolas" charset="0"/>
                      </a:endParaRPr>
                    </a:p>
                  </a:txBody>
                  <a:tcPr marL="73152" marR="73152" marT="0" marB="0" anchor="ctr">
                    <a:lnL w="0" cap="flat" cmpd="sng" algn="ctr">
                      <a:noFill/>
                    </a:lnL>
                    <a:lnR w="0" cap="flat" cmpd="sng" algn="ctr">
                      <a:noFill/>
                    </a:lnR>
                    <a:lnT w="0" cap="flat" cmpd="sng" algn="ctr">
                      <a:noFill/>
                    </a:lnT>
                    <a:lnB w="9525" cap="flat" cmpd="sng" algn="ctr">
                      <a:solidFill>
                        <a:srgbClr val="CBC2AB"/>
                      </a:solidFill>
                      <a:prstDash val="solid"/>
                      <a:round/>
                      <a:headEnd type="none" w="med" len="med"/>
                      <a:tailEnd type="none" w="med" len="med"/>
                    </a:lnB>
                    <a:solidFill>
                      <a:srgbClr val="EEE8DA"/>
                    </a:solidFill>
                  </a:tcPr>
                </a:tc>
                <a:tc>
                  <a:txBody>
                    <a:bodyPr/>
                    <a:lstStyle/>
                    <a:p>
                      <a:pPr marL="0" indent="0" algn="r">
                        <a:buNone/>
                      </a:pPr>
                      <a:r>
                        <a:rPr lang="en-US" sz="850" b="1" dirty="0">
                          <a:solidFill>
                            <a:srgbClr val="7B7566"/>
                          </a:solidFill>
                          <a:latin typeface="Consolas" pitchFamily="34" charset="0"/>
                          <a:ea typeface="Consolas" pitchFamily="34" charset="-122"/>
                          <a:cs typeface="Consolas" pitchFamily="34" charset="-120"/>
                        </a:rPr>
                        <a:t>STAFF OUT</a:t>
                      </a:r>
                      <a:endParaRPr lang="en-US" sz="850" dirty="0">
                        <a:latin typeface="Consolas" charset="0"/>
                        <a:ea typeface="Consolas" charset="0"/>
                        <a:cs typeface="Consolas" charset="0"/>
                      </a:endParaRPr>
                    </a:p>
                  </a:txBody>
                  <a:tcPr marL="73152" marR="73152" marT="0" marB="0" anchor="ctr">
                    <a:lnL w="0" cap="flat" cmpd="sng" algn="ctr">
                      <a:noFill/>
                    </a:lnL>
                    <a:lnR w="0" cap="flat" cmpd="sng" algn="ctr">
                      <a:noFill/>
                    </a:lnR>
                    <a:lnT w="0" cap="flat" cmpd="sng" algn="ctr">
                      <a:noFill/>
                    </a:lnT>
                    <a:lnB w="9525" cap="flat" cmpd="sng" algn="ctr">
                      <a:solidFill>
                        <a:srgbClr val="CBC2AB"/>
                      </a:solidFill>
                      <a:prstDash val="solid"/>
                      <a:round/>
                      <a:headEnd type="none" w="med" len="med"/>
                      <a:tailEnd type="none" w="med" len="med"/>
                    </a:lnB>
                    <a:solidFill>
                      <a:srgbClr val="EEE8DA"/>
                    </a:solidFill>
                  </a:tcPr>
                </a:tc>
                <a:extLst>
                  <a:ext uri="{0D108BD9-81ED-4DB2-BD59-A6C34878D82A}">
                    <a16:rowId xmlns:a16="http://schemas.microsoft.com/office/drawing/2014/main" val="10000"/>
                  </a:ext>
                </a:extLst>
              </a:tr>
              <a:tr h="329184">
                <a:tc>
                  <a:txBody>
                    <a:bodyPr/>
                    <a:lstStyle/>
                    <a:p>
                      <a:pPr marL="0" indent="0" algn="l">
                        <a:buNone/>
                      </a:pPr>
                      <a:r>
                        <a:rPr lang="en-US" sz="1200" dirty="0">
                          <a:solidFill>
                            <a:srgbClr val="15233B"/>
                          </a:solidFill>
                          <a:latin typeface="Segoe UI" pitchFamily="34" charset="0"/>
                          <a:ea typeface="Segoe UI" pitchFamily="34" charset="-122"/>
                          <a:cs typeface="Segoe UI" pitchFamily="34" charset="-120"/>
                        </a:rPr>
                        <a:t>Total waiting (min)</a:t>
                      </a:r>
                      <a:endParaRPr lang="en-US" sz="1200" dirty="0">
                        <a:latin typeface="Segoe UI" charset="0"/>
                        <a:ea typeface="Segoe UI" charset="0"/>
                        <a:cs typeface="Segoe UI" charset="0"/>
                      </a:endParaRPr>
                    </a:p>
                  </a:txBody>
                  <a:tcPr marL="73152" marR="73152" marT="0" marB="0" anchor="ctr">
                    <a:lnL w="0" cap="flat" cmpd="sng" algn="ctr">
                      <a:noFill/>
                    </a:lnL>
                    <a:lnR w="0" cap="flat" cmpd="sng" algn="ctr">
                      <a:noFill/>
                    </a:lnR>
                    <a:lnT w="9525" cap="flat" cmpd="sng" algn="ctr">
                      <a:solidFill>
                        <a:srgbClr val="CBC2AB"/>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200" dirty="0">
                          <a:solidFill>
                            <a:srgbClr val="15233B"/>
                          </a:solidFill>
                          <a:latin typeface="Segoe UI" pitchFamily="34" charset="0"/>
                          <a:ea typeface="Segoe UI" pitchFamily="34" charset="-122"/>
                          <a:cs typeface="Segoe UI" pitchFamily="34" charset="-120"/>
                        </a:rPr>
                        <a:t>1,056</a:t>
                      </a:r>
                      <a:endParaRPr lang="en-US" sz="1200" dirty="0">
                        <a:latin typeface="Segoe UI" charset="0"/>
                        <a:ea typeface="Segoe UI" charset="0"/>
                        <a:cs typeface="Segoe UI" charset="0"/>
                      </a:endParaRPr>
                    </a:p>
                  </a:txBody>
                  <a:tcPr marL="73152" marR="73152" marT="0" marB="0" anchor="ctr">
                    <a:lnL w="0" cap="flat" cmpd="sng" algn="ctr">
                      <a:noFill/>
                    </a:lnL>
                    <a:lnR w="0" cap="flat" cmpd="sng" algn="ctr">
                      <a:noFill/>
                    </a:lnR>
                    <a:lnT w="9525" cap="flat" cmpd="sng" algn="ctr">
                      <a:solidFill>
                        <a:srgbClr val="CBC2AB"/>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200" b="1" dirty="0">
                          <a:solidFill>
                            <a:srgbClr val="B4642F"/>
                          </a:solidFill>
                          <a:latin typeface="Segoe UI" pitchFamily="34" charset="0"/>
                          <a:ea typeface="Segoe UI" pitchFamily="34" charset="-122"/>
                          <a:cs typeface="Segoe UI" pitchFamily="34" charset="-120"/>
                        </a:rPr>
                        <a:t>1,946</a:t>
                      </a:r>
                      <a:endParaRPr lang="en-US" sz="1200" dirty="0">
                        <a:latin typeface="Segoe UI" charset="0"/>
                        <a:ea typeface="Segoe UI" charset="0"/>
                        <a:cs typeface="Segoe UI" charset="0"/>
                      </a:endParaRPr>
                    </a:p>
                  </a:txBody>
                  <a:tcPr marL="73152" marR="73152" marT="0" marB="0" anchor="ctr">
                    <a:lnL w="0" cap="flat" cmpd="sng" algn="ctr">
                      <a:noFill/>
                    </a:lnL>
                    <a:lnR w="0" cap="flat" cmpd="sng" algn="ctr">
                      <a:noFill/>
                    </a:lnR>
                    <a:lnT w="9525" cap="flat" cmpd="sng" algn="ctr">
                      <a:solidFill>
                        <a:srgbClr val="CBC2AB"/>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lgn="l">
                        <a:buNone/>
                      </a:pPr>
                      <a:r>
                        <a:rPr lang="en-US" sz="1200" dirty="0">
                          <a:solidFill>
                            <a:srgbClr val="15233B"/>
                          </a:solidFill>
                          <a:latin typeface="Segoe UI" pitchFamily="34" charset="0"/>
                          <a:ea typeface="Segoe UI" pitchFamily="34" charset="-122"/>
                          <a:cs typeface="Segoe UI" pitchFamily="34" charset="-120"/>
                        </a:rPr>
                        <a:t>Median wait (min)</a:t>
                      </a:r>
                      <a:endParaRPr lang="en-US" sz="1200" dirty="0">
                        <a:latin typeface="Segoe UI" charset="0"/>
                        <a:ea typeface="Segoe UI" charset="0"/>
                        <a:cs typeface="Segoe UI" charset="0"/>
                      </a:endParaRPr>
                    </a:p>
                  </a:txBody>
                  <a:tcPr marL="73152" marR="73152"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200" dirty="0">
                          <a:solidFill>
                            <a:srgbClr val="15233B"/>
                          </a:solidFill>
                          <a:latin typeface="Segoe UI" pitchFamily="34" charset="0"/>
                          <a:ea typeface="Segoe UI" pitchFamily="34" charset="-122"/>
                          <a:cs typeface="Segoe UI" pitchFamily="34" charset="-120"/>
                        </a:rPr>
                        <a:t>17</a:t>
                      </a:r>
                      <a:endParaRPr lang="en-US" sz="1200" dirty="0">
                        <a:latin typeface="Segoe UI" charset="0"/>
                        <a:ea typeface="Segoe UI" charset="0"/>
                        <a:cs typeface="Segoe UI" charset="0"/>
                      </a:endParaRPr>
                    </a:p>
                  </a:txBody>
                  <a:tcPr marL="73152" marR="73152"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200" b="1" dirty="0">
                          <a:solidFill>
                            <a:srgbClr val="B4642F"/>
                          </a:solidFill>
                          <a:latin typeface="Segoe UI" pitchFamily="34" charset="0"/>
                          <a:ea typeface="Segoe UI" pitchFamily="34" charset="-122"/>
                          <a:cs typeface="Segoe UI" pitchFamily="34" charset="-120"/>
                        </a:rPr>
                        <a:t>28</a:t>
                      </a:r>
                      <a:endParaRPr lang="en-US" sz="1200" dirty="0">
                        <a:latin typeface="Segoe UI" charset="0"/>
                        <a:ea typeface="Segoe UI" charset="0"/>
                        <a:cs typeface="Segoe UI" charset="0"/>
                      </a:endParaRPr>
                    </a:p>
                  </a:txBody>
                  <a:tcPr marL="73152" marR="73152"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lgn="l">
                        <a:buNone/>
                      </a:pPr>
                      <a:r>
                        <a:rPr lang="en-US" sz="1200" dirty="0">
                          <a:solidFill>
                            <a:srgbClr val="15233B"/>
                          </a:solidFill>
                          <a:latin typeface="Segoe UI" pitchFamily="34" charset="0"/>
                          <a:ea typeface="Segoe UI" pitchFamily="34" charset="-122"/>
                          <a:cs typeface="Segoe UI" pitchFamily="34" charset="-120"/>
                        </a:rPr>
                        <a:t>90th-percentile wait (min)</a:t>
                      </a:r>
                      <a:endParaRPr lang="en-US" sz="1200" dirty="0">
                        <a:latin typeface="Segoe UI" charset="0"/>
                        <a:ea typeface="Segoe UI" charset="0"/>
                        <a:cs typeface="Segoe UI" charset="0"/>
                      </a:endParaRPr>
                    </a:p>
                  </a:txBody>
                  <a:tcPr marL="73152" marR="73152"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200" dirty="0">
                          <a:solidFill>
                            <a:srgbClr val="15233B"/>
                          </a:solidFill>
                          <a:latin typeface="Segoe UI" pitchFamily="34" charset="0"/>
                          <a:ea typeface="Segoe UI" pitchFamily="34" charset="-122"/>
                          <a:cs typeface="Segoe UI" pitchFamily="34" charset="-120"/>
                        </a:rPr>
                        <a:t>42</a:t>
                      </a:r>
                      <a:endParaRPr lang="en-US" sz="1200" dirty="0">
                        <a:latin typeface="Segoe UI" charset="0"/>
                        <a:ea typeface="Segoe UI" charset="0"/>
                        <a:cs typeface="Segoe UI" charset="0"/>
                      </a:endParaRPr>
                    </a:p>
                  </a:txBody>
                  <a:tcPr marL="73152" marR="73152"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200" b="1" dirty="0">
                          <a:solidFill>
                            <a:srgbClr val="B4642F"/>
                          </a:solidFill>
                          <a:latin typeface="Segoe UI" pitchFamily="34" charset="0"/>
                          <a:ea typeface="Segoe UI" pitchFamily="34" charset="-122"/>
                          <a:cs typeface="Segoe UI" pitchFamily="34" charset="-120"/>
                        </a:rPr>
                        <a:t>75</a:t>
                      </a:r>
                      <a:endParaRPr lang="en-US" sz="1200" dirty="0">
                        <a:latin typeface="Segoe UI" charset="0"/>
                        <a:ea typeface="Segoe UI" charset="0"/>
                        <a:cs typeface="Segoe UI" charset="0"/>
                      </a:endParaRPr>
                    </a:p>
                  </a:txBody>
                  <a:tcPr marL="73152" marR="73152"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lgn="l">
                        <a:buNone/>
                      </a:pPr>
                      <a:r>
                        <a:rPr lang="en-US" sz="1200" dirty="0">
                          <a:solidFill>
                            <a:srgbClr val="15233B"/>
                          </a:solidFill>
                          <a:latin typeface="Segoe UI" pitchFamily="34" charset="0"/>
                          <a:ea typeface="Segoe UI" pitchFamily="34" charset="-122"/>
                          <a:cs typeface="Segoe UI" pitchFamily="34" charset="-120"/>
                        </a:rPr>
                        <a:t>Staff overtime (min)</a:t>
                      </a:r>
                      <a:endParaRPr lang="en-US" sz="1200" dirty="0">
                        <a:latin typeface="Segoe UI" charset="0"/>
                        <a:ea typeface="Segoe UI" charset="0"/>
                        <a:cs typeface="Segoe UI" charset="0"/>
                      </a:endParaRPr>
                    </a:p>
                  </a:txBody>
                  <a:tcPr marL="73152" marR="73152"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200" dirty="0">
                          <a:solidFill>
                            <a:srgbClr val="15233B"/>
                          </a:solidFill>
                          <a:latin typeface="Segoe UI" pitchFamily="34" charset="0"/>
                          <a:ea typeface="Segoe UI" pitchFamily="34" charset="-122"/>
                          <a:cs typeface="Segoe UI" pitchFamily="34" charset="-120"/>
                        </a:rPr>
                        <a:t>0</a:t>
                      </a:r>
                      <a:endParaRPr lang="en-US" sz="1200" dirty="0">
                        <a:latin typeface="Segoe UI" charset="0"/>
                        <a:ea typeface="Segoe UI" charset="0"/>
                        <a:cs typeface="Segoe UI" charset="0"/>
                      </a:endParaRPr>
                    </a:p>
                  </a:txBody>
                  <a:tcPr marL="73152" marR="73152"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200" b="1" dirty="0">
                          <a:solidFill>
                            <a:srgbClr val="B4642F"/>
                          </a:solidFill>
                          <a:latin typeface="Segoe UI" pitchFamily="34" charset="0"/>
                          <a:ea typeface="Segoe UI" pitchFamily="34" charset="-122"/>
                          <a:cs typeface="Segoe UI" pitchFamily="34" charset="-120"/>
                        </a:rPr>
                        <a:t>24</a:t>
                      </a:r>
                      <a:endParaRPr lang="en-US" sz="1200" dirty="0">
                        <a:latin typeface="Segoe UI" charset="0"/>
                        <a:ea typeface="Segoe UI" charset="0"/>
                        <a:cs typeface="Segoe UI" charset="0"/>
                      </a:endParaRPr>
                    </a:p>
                  </a:txBody>
                  <a:tcPr marL="73152" marR="73152"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lgn="l">
                        <a:buNone/>
                      </a:pPr>
                      <a:r>
                        <a:rPr lang="en-US" sz="1200" dirty="0">
                          <a:solidFill>
                            <a:srgbClr val="15233B"/>
                          </a:solidFill>
                          <a:latin typeface="Segoe UI" pitchFamily="34" charset="0"/>
                          <a:ea typeface="Segoe UI" pitchFamily="34" charset="-122"/>
                          <a:cs typeface="Segoe UI" pitchFamily="34" charset="-120"/>
                        </a:rPr>
                        <a:t>Journeys done by 16:00</a:t>
                      </a:r>
                      <a:endParaRPr lang="en-US" sz="1200" dirty="0">
                        <a:latin typeface="Segoe UI" charset="0"/>
                        <a:ea typeface="Segoe UI" charset="0"/>
                        <a:cs typeface="Segoe UI" charset="0"/>
                      </a:endParaRPr>
                    </a:p>
                  </a:txBody>
                  <a:tcPr marL="73152" marR="73152"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200" dirty="0">
                          <a:solidFill>
                            <a:srgbClr val="15233B"/>
                          </a:solidFill>
                          <a:latin typeface="Segoe UI" pitchFamily="34" charset="0"/>
                          <a:ea typeface="Segoe UI" pitchFamily="34" charset="-122"/>
                          <a:cs typeface="Segoe UI" pitchFamily="34" charset="-120"/>
                        </a:rPr>
                        <a:t>60</a:t>
                      </a:r>
                      <a:endParaRPr lang="en-US" sz="1200" dirty="0">
                        <a:latin typeface="Segoe UI" charset="0"/>
                        <a:ea typeface="Segoe UI" charset="0"/>
                        <a:cs typeface="Segoe UI" charset="0"/>
                      </a:endParaRPr>
                    </a:p>
                  </a:txBody>
                  <a:tcPr marL="73152" marR="73152"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200" b="1" dirty="0">
                          <a:solidFill>
                            <a:srgbClr val="B4642F"/>
                          </a:solidFill>
                          <a:latin typeface="Segoe UI" pitchFamily="34" charset="0"/>
                          <a:ea typeface="Segoe UI" pitchFamily="34" charset="-122"/>
                          <a:cs typeface="Segoe UI" pitchFamily="34" charset="-120"/>
                        </a:rPr>
                        <a:t>59</a:t>
                      </a:r>
                      <a:endParaRPr lang="en-US" sz="1200" dirty="0">
                        <a:latin typeface="Segoe UI" charset="0"/>
                        <a:ea typeface="Segoe UI" charset="0"/>
                        <a:cs typeface="Segoe UI" charset="0"/>
                      </a:endParaRPr>
                    </a:p>
                  </a:txBody>
                  <a:tcPr marL="73152" marR="73152"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1" name="Text 26"/>
          <p:cNvSpPr txBox="1"/>
          <p:nvPr/>
        </p:nvSpPr>
        <p:spPr>
          <a:xfrm>
            <a:off x="6172200" y="5596128"/>
            <a:ext cx="5468112" cy="502920"/>
          </a:xfrm>
          <a:prstGeom prst="rect">
            <a:avLst/>
          </a:prstGeom>
          <a:noFill/>
          <a:ln/>
        </p:spPr>
        <p:txBody>
          <a:bodyPr wrap="square" lIns="0" tIns="0" rIns="0" bIns="0" rtlCol="0" anchor="t"/>
          <a:lstStyle/>
          <a:p>
            <a:pPr marL="0" indent="0">
              <a:buNone/>
            </a:pPr>
            <a:r>
              <a:rPr lang="en-US" sz="1450" i="1" dirty="0">
                <a:solidFill>
                  <a:srgbClr val="15233B"/>
                </a:solidFill>
                <a:latin typeface="Palatino Linotype" pitchFamily="34" charset="0"/>
                <a:ea typeface="Palatino Linotype" pitchFamily="34" charset="-122"/>
                <a:cs typeface="Palatino Linotype" pitchFamily="34" charset="-120"/>
              </a:rPr>
              <a:t>We can investigate operational pressure without experimenting on real patients.</a:t>
            </a:r>
            <a:endParaRPr lang="en-US" sz="1450" dirty="0"/>
          </a:p>
        </p:txBody>
      </p:sp>
      <p:sp>
        <p:nvSpPr>
          <p:cNvPr id="32" name="Text 27"/>
          <p:cNvSpPr txBox="1"/>
          <p:nvPr/>
        </p:nvSpPr>
        <p:spPr>
          <a:xfrm>
            <a:off x="548640" y="6199632"/>
            <a:ext cx="11064240" cy="256032"/>
          </a:xfrm>
          <a:prstGeom prst="rect">
            <a:avLst/>
          </a:prstGeom>
          <a:noFill/>
          <a:ln/>
        </p:spPr>
        <p:txBody>
          <a:bodyPr wrap="square" lIns="0" tIns="0" rIns="0" bIns="0" rtlCol="0" anchor="t"/>
          <a:lstStyle/>
          <a:p>
            <a:pPr marL="0" indent="0">
              <a:buNone/>
            </a:pPr>
            <a:r>
              <a:rPr lang="en-US" sz="850" dirty="0">
                <a:solidFill>
                  <a:srgbClr val="7B7566"/>
                </a:solidFill>
                <a:latin typeface="Segoe UI" pitchFamily="34" charset="0"/>
                <a:ea typeface="Segoe UI" pitchFamily="34" charset="-122"/>
                <a:cs typeface="Segoe UI" pitchFamily="34" charset="-120"/>
              </a:rPr>
              <a:t>Source: SAYR Stress Controls, "Disruption impact · same patients", full replays of the same day. The other three scenarios are implemented but are not quantified in this deck.</a:t>
            </a:r>
            <a:endParaRPr lang="en-US" sz="850" dirty="0"/>
          </a:p>
        </p:txBody>
      </p:sp>
      <p:sp>
        <p:nvSpPr>
          <p:cNvPr id="30" name="Slide Number Placeholder 0"/>
          <p:cNvSpPr>
            <a:spLocks noGrp="1"/>
          </p:cNvSpPr>
          <p:nvPr>
            <p:ph type="sldNum" sz="quarter" idx="4294967295"/>
          </p:nvPr>
        </p:nvSpPr>
        <p:spPr>
          <a:xfrm>
            <a:off x="11064240" y="6492240"/>
            <a:ext cx="576072"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B7566"/>
                </a:solidFill>
                <a:latin typeface="Consolas"/>
                <a:ea typeface="Consolas"/>
                <a:cs typeface="Consolas"/>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685800"/>
          </a:xfrm>
          <a:prstGeom prst="rect">
            <a:avLst/>
          </a:prstGeom>
          <a:noFill/>
          <a:ln/>
        </p:spPr>
        <p:txBody>
          <a:bodyPr wrap="square" lIns="0" tIns="0" rIns="0" bIns="0" rtlCol="0" anchor="t"/>
          <a:lstStyle/>
          <a:p>
            <a:pPr marL="0" indent="0" algn="l">
              <a:buNone/>
            </a:pPr>
            <a:r>
              <a:rPr lang="en-US" sz="3000" dirty="0">
                <a:solidFill>
                  <a:srgbClr val="15233B"/>
                </a:solidFill>
                <a:latin typeface="Palatino Linotype" pitchFamily="34" charset="0"/>
                <a:ea typeface="Palatino Linotype" pitchFamily="34" charset="-122"/>
                <a:cs typeface="Palatino Linotype" pitchFamily="34" charset="-120"/>
              </a:rPr>
              <a:t>Ripple Trace: following the consequences</a:t>
            </a:r>
            <a:endParaRPr lang="en-US" sz="3000" dirty="0"/>
          </a:p>
        </p:txBody>
      </p:sp>
      <p:sp>
        <p:nvSpPr>
          <p:cNvPr id="3" name="Text 1"/>
          <p:cNvSpPr txBox="1"/>
          <p:nvPr/>
        </p:nvSpPr>
        <p:spPr>
          <a:xfrm>
            <a:off x="548640" y="310896"/>
            <a:ext cx="8229600" cy="228600"/>
          </a:xfrm>
          <a:prstGeom prst="rect">
            <a:avLst/>
          </a:prstGeom>
          <a:noFill/>
          <a:ln/>
        </p:spPr>
        <p:txBody>
          <a:bodyPr wrap="square" lIns="0" tIns="0" rIns="0" bIns="0" rtlCol="0" anchor="t"/>
          <a:lstStyle/>
          <a:p>
            <a:pPr marL="0" indent="0">
              <a:buNone/>
            </a:pPr>
            <a:r>
              <a:rPr lang="en-US" sz="1050" kern="0" spc="200" dirty="0">
                <a:solidFill>
                  <a:srgbClr val="B4642F"/>
                </a:solidFill>
                <a:latin typeface="Consolas" pitchFamily="34" charset="0"/>
                <a:ea typeface="Consolas" pitchFamily="34" charset="-122"/>
                <a:cs typeface="Consolas" pitchFamily="34" charset="-120"/>
              </a:rPr>
              <a:t>WOW 2 · TRACE</a:t>
            </a:r>
            <a:endParaRPr lang="en-US" sz="1050" dirty="0"/>
          </a:p>
        </p:txBody>
      </p:sp>
      <p:sp>
        <p:nvSpPr>
          <p:cNvPr id="5" name="Shape 2"/>
          <p:cNvSpPr/>
          <p:nvPr/>
        </p:nvSpPr>
        <p:spPr>
          <a:xfrm>
            <a:off x="502920" y="1325880"/>
            <a:ext cx="6400800" cy="4393276"/>
          </a:xfrm>
          <a:prstGeom prst="roundRect">
            <a:avLst>
              <a:gd name="adj" fmla="val 1457"/>
            </a:avLst>
          </a:prstGeom>
          <a:solidFill>
            <a:srgbClr val="FBF9F4"/>
          </a:solidFill>
          <a:ln w="9525">
            <a:solidFill>
              <a:srgbClr val="CBC2AB"/>
            </a:solidFill>
            <a:prstDash val="solid"/>
          </a:ln>
        </p:spPr>
      </p:sp>
      <p:pic>
        <p:nvPicPr>
          <p:cNvPr id="6" name="S6_shot" descr="SAYR Ripple Trace showing the delay tree from the outage"/>
          <p:cNvPicPr>
            <a:picLocks noChangeAspect="1"/>
          </p:cNvPicPr>
          <p:nvPr/>
        </p:nvPicPr>
        <p:blipFill>
          <a:blip r:embed="rId3"/>
          <a:stretch>
            <a:fillRect/>
          </a:stretch>
        </p:blipFill>
        <p:spPr>
          <a:xfrm>
            <a:off x="548640" y="1371600"/>
            <a:ext cx="6309360" cy="4301836"/>
          </a:xfrm>
          <a:prstGeom prst="rect">
            <a:avLst/>
          </a:prstGeom>
        </p:spPr>
      </p:pic>
      <p:sp>
        <p:nvSpPr>
          <p:cNvPr id="7" name="Text 3"/>
          <p:cNvSpPr txBox="1"/>
          <p:nvPr/>
        </p:nvSpPr>
        <p:spPr>
          <a:xfrm>
            <a:off x="7132320" y="1371600"/>
            <a:ext cx="4526280" cy="365760"/>
          </a:xfrm>
          <a:prstGeom prst="rect">
            <a:avLst/>
          </a:prstGeom>
          <a:noFill/>
          <a:ln/>
        </p:spPr>
        <p:txBody>
          <a:bodyPr wrap="square" lIns="0" tIns="0" rIns="0" bIns="0" rtlCol="0" anchor="t"/>
          <a:lstStyle/>
          <a:p>
            <a:pPr marL="0" indent="0">
              <a:buNone/>
            </a:pPr>
            <a:r>
              <a:rPr lang="en-US" sz="800" kern="0" spc="80" dirty="0">
                <a:solidFill>
                  <a:srgbClr val="B4642F"/>
                </a:solidFill>
                <a:latin typeface="Consolas" pitchFamily="34" charset="0"/>
                <a:ea typeface="Consolas" pitchFamily="34" charset="-122"/>
                <a:cs typeface="Consolas" pitchFamily="34" charset="-120"/>
              </a:rPr>
              <a:t>THE CHAIN, READ FROM THE TREE · +N MIN = LATER START THAN THE SAME DAY WITHOUT THE OUTAGE</a:t>
            </a:r>
            <a:endParaRPr lang="en-US" sz="800" dirty="0"/>
          </a:p>
        </p:txBody>
      </p:sp>
      <p:sp>
        <p:nvSpPr>
          <p:cNvPr id="8" name="S6_chain0"/>
          <p:cNvSpPr/>
          <p:nvPr/>
        </p:nvSpPr>
        <p:spPr>
          <a:xfrm>
            <a:off x="7132320" y="1828800"/>
            <a:ext cx="2880360" cy="420624"/>
          </a:xfrm>
          <a:prstGeom prst="roundRect">
            <a:avLst>
              <a:gd name="adj" fmla="val 10870"/>
            </a:avLst>
          </a:prstGeom>
          <a:solidFill>
            <a:srgbClr val="B4642F"/>
          </a:solidFill>
          <a:ln w="12700">
            <a:solidFill>
              <a:srgbClr val="B4642F"/>
            </a:solidFill>
            <a:prstDash val="solid"/>
          </a:ln>
        </p:spPr>
      </p:sp>
      <p:sp>
        <p:nvSpPr>
          <p:cNvPr id="9" name="Text 5"/>
          <p:cNvSpPr txBox="1"/>
          <p:nvPr/>
        </p:nvSpPr>
        <p:spPr>
          <a:xfrm>
            <a:off x="7242048" y="185623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nsolas" pitchFamily="34" charset="0"/>
                <a:ea typeface="Consolas" pitchFamily="34" charset="-122"/>
                <a:cs typeface="Consolas" pitchFamily="34" charset="-120"/>
              </a:rPr>
              <a:t>Clinician B unavailable</a:t>
            </a:r>
            <a:endParaRPr lang="en-US" sz="1400" dirty="0"/>
          </a:p>
          <a:p>
            <a:pPr marL="0" indent="0">
              <a:buNone/>
            </a:pPr>
            <a:r>
              <a:rPr lang="en-US" sz="850" dirty="0">
                <a:solidFill>
                  <a:srgbClr val="F2DFD0"/>
                </a:solidFill>
                <a:latin typeface="Segoe UI" pitchFamily="34" charset="0"/>
                <a:ea typeface="Segoe UI" pitchFamily="34" charset="-122"/>
                <a:cs typeface="Segoe UI" pitchFamily="34" charset="-120"/>
              </a:rPr>
              <a:t>10:30–13:30 · station GP-2 lost</a:t>
            </a:r>
            <a:endParaRPr lang="en-US" sz="1400" dirty="0"/>
          </a:p>
        </p:txBody>
      </p:sp>
      <p:sp>
        <p:nvSpPr>
          <p:cNvPr id="10" name="Shape 6"/>
          <p:cNvSpPr/>
          <p:nvPr/>
        </p:nvSpPr>
        <p:spPr>
          <a:xfrm>
            <a:off x="8321040" y="2249424"/>
            <a:ext cx="0" cy="128016"/>
          </a:xfrm>
          <a:prstGeom prst="line">
            <a:avLst/>
          </a:prstGeom>
          <a:noFill/>
          <a:ln w="19050">
            <a:solidFill>
              <a:srgbClr val="CF8250"/>
            </a:solidFill>
            <a:prstDash val="solid"/>
            <a:tailEnd type="triangle"/>
          </a:ln>
        </p:spPr>
      </p:sp>
      <p:sp>
        <p:nvSpPr>
          <p:cNvPr id="11" name="S6_chain1"/>
          <p:cNvSpPr/>
          <p:nvPr/>
        </p:nvSpPr>
        <p:spPr>
          <a:xfrm>
            <a:off x="7132320" y="2377440"/>
            <a:ext cx="2880360" cy="420624"/>
          </a:xfrm>
          <a:prstGeom prst="roundRect">
            <a:avLst>
              <a:gd name="adj" fmla="val 10870"/>
            </a:avLst>
          </a:prstGeom>
          <a:solidFill>
            <a:srgbClr val="FBF9F4"/>
          </a:solidFill>
          <a:ln w="12700">
            <a:solidFill>
              <a:srgbClr val="CF8250"/>
            </a:solidFill>
            <a:prstDash val="solid"/>
          </a:ln>
        </p:spPr>
      </p:sp>
      <p:sp>
        <p:nvSpPr>
          <p:cNvPr id="12" name="Text 8"/>
          <p:cNvSpPr txBox="1"/>
          <p:nvPr/>
        </p:nvSpPr>
        <p:spPr>
          <a:xfrm>
            <a:off x="7242048" y="2404872"/>
            <a:ext cx="2743200" cy="384048"/>
          </a:xfrm>
          <a:prstGeom prst="rect">
            <a:avLst/>
          </a:prstGeom>
          <a:noFill/>
          <a:ln/>
        </p:spPr>
        <p:txBody>
          <a:bodyPr wrap="square" lIns="0" tIns="0" rIns="0" bIns="0" rtlCol="0" anchor="ctr"/>
          <a:lstStyle/>
          <a:p>
            <a:pPr marL="0" indent="0">
              <a:buNone/>
            </a:pPr>
            <a:r>
              <a:rPr lang="en-US" sz="950" b="1" dirty="0">
                <a:solidFill>
                  <a:srgbClr val="15233B"/>
                </a:solidFill>
                <a:latin typeface="Consolas" pitchFamily="34" charset="0"/>
                <a:ea typeface="Consolas" pitchFamily="34" charset="-122"/>
                <a:cs typeface="Consolas" pitchFamily="34" charset="-120"/>
              </a:rPr>
              <a:t>J-025 · GP-3 · 10:59</a:t>
            </a:r>
            <a:endParaRPr lang="en-US" sz="1400" dirty="0"/>
          </a:p>
          <a:p>
            <a:pPr marL="0" indent="0">
              <a:buNone/>
            </a:pPr>
            <a:r>
              <a:rPr lang="en-US" sz="850" dirty="0">
                <a:solidFill>
                  <a:srgbClr val="3A4A66"/>
                </a:solidFill>
                <a:latin typeface="Segoe UI" pitchFamily="34" charset="0"/>
                <a:ea typeface="Segoe UI" pitchFamily="34" charset="-122"/>
                <a:cs typeface="Segoe UI" pitchFamily="34" charset="-120"/>
              </a:rPr>
              <a:t>+6 min · waited for a station</a:t>
            </a:r>
            <a:endParaRPr lang="en-US" sz="1400" dirty="0"/>
          </a:p>
        </p:txBody>
      </p:sp>
      <p:sp>
        <p:nvSpPr>
          <p:cNvPr id="13" name="Shape 9"/>
          <p:cNvSpPr/>
          <p:nvPr/>
        </p:nvSpPr>
        <p:spPr>
          <a:xfrm>
            <a:off x="8321040" y="2798064"/>
            <a:ext cx="0" cy="128016"/>
          </a:xfrm>
          <a:prstGeom prst="line">
            <a:avLst/>
          </a:prstGeom>
          <a:noFill/>
          <a:ln w="19050">
            <a:solidFill>
              <a:srgbClr val="CF8250"/>
            </a:solidFill>
            <a:prstDash val="solid"/>
            <a:tailEnd type="triangle"/>
          </a:ln>
        </p:spPr>
      </p:sp>
      <p:sp>
        <p:nvSpPr>
          <p:cNvPr id="14" name="S6_chain2"/>
          <p:cNvSpPr/>
          <p:nvPr/>
        </p:nvSpPr>
        <p:spPr>
          <a:xfrm>
            <a:off x="7132320" y="2926080"/>
            <a:ext cx="2880360" cy="420624"/>
          </a:xfrm>
          <a:prstGeom prst="roundRect">
            <a:avLst>
              <a:gd name="adj" fmla="val 10870"/>
            </a:avLst>
          </a:prstGeom>
          <a:solidFill>
            <a:srgbClr val="FBF9F4"/>
          </a:solidFill>
          <a:ln w="12700">
            <a:solidFill>
              <a:srgbClr val="CF8250"/>
            </a:solidFill>
            <a:prstDash val="solid"/>
          </a:ln>
        </p:spPr>
      </p:sp>
      <p:sp>
        <p:nvSpPr>
          <p:cNvPr id="15" name="Text 11"/>
          <p:cNvSpPr txBox="1"/>
          <p:nvPr/>
        </p:nvSpPr>
        <p:spPr>
          <a:xfrm>
            <a:off x="7242048" y="2953512"/>
            <a:ext cx="2743200" cy="384048"/>
          </a:xfrm>
          <a:prstGeom prst="rect">
            <a:avLst/>
          </a:prstGeom>
          <a:noFill/>
          <a:ln/>
        </p:spPr>
        <p:txBody>
          <a:bodyPr wrap="square" lIns="0" tIns="0" rIns="0" bIns="0" rtlCol="0" anchor="ctr"/>
          <a:lstStyle/>
          <a:p>
            <a:pPr marL="0" indent="0">
              <a:buNone/>
            </a:pPr>
            <a:r>
              <a:rPr lang="en-US" sz="950" b="1" dirty="0">
                <a:solidFill>
                  <a:srgbClr val="15233B"/>
                </a:solidFill>
                <a:latin typeface="Consolas" pitchFamily="34" charset="0"/>
                <a:ea typeface="Consolas" pitchFamily="34" charset="-122"/>
                <a:cs typeface="Consolas" pitchFamily="34" charset="-120"/>
              </a:rPr>
              <a:t>J-011 · GP-3 · 11:07</a:t>
            </a:r>
            <a:endParaRPr lang="en-US" sz="1400" dirty="0"/>
          </a:p>
          <a:p>
            <a:pPr marL="0" indent="0">
              <a:buNone/>
            </a:pPr>
            <a:r>
              <a:rPr lang="en-US" sz="850" dirty="0">
                <a:solidFill>
                  <a:srgbClr val="3A4A66"/>
                </a:solidFill>
                <a:latin typeface="Segoe UI" pitchFamily="34" charset="0"/>
                <a:ea typeface="Segoe UI" pitchFamily="34" charset="-122"/>
                <a:cs typeface="Segoe UI" pitchFamily="34" charset="-120"/>
              </a:rPr>
              <a:t>+9 min · waited for GP-3</a:t>
            </a:r>
            <a:endParaRPr lang="en-US" sz="1400" dirty="0"/>
          </a:p>
        </p:txBody>
      </p:sp>
      <p:sp>
        <p:nvSpPr>
          <p:cNvPr id="16" name="Shape 12"/>
          <p:cNvSpPr/>
          <p:nvPr/>
        </p:nvSpPr>
        <p:spPr>
          <a:xfrm>
            <a:off x="8321040" y="3346704"/>
            <a:ext cx="0" cy="128016"/>
          </a:xfrm>
          <a:prstGeom prst="line">
            <a:avLst/>
          </a:prstGeom>
          <a:noFill/>
          <a:ln w="19050">
            <a:solidFill>
              <a:srgbClr val="CF8250"/>
            </a:solidFill>
            <a:prstDash val="solid"/>
            <a:tailEnd type="triangle"/>
          </a:ln>
        </p:spPr>
      </p:sp>
      <p:sp>
        <p:nvSpPr>
          <p:cNvPr id="17" name="S6_chain3"/>
          <p:cNvSpPr/>
          <p:nvPr/>
        </p:nvSpPr>
        <p:spPr>
          <a:xfrm>
            <a:off x="7132320" y="3474720"/>
            <a:ext cx="2880360" cy="420624"/>
          </a:xfrm>
          <a:prstGeom prst="roundRect">
            <a:avLst>
              <a:gd name="adj" fmla="val 10870"/>
            </a:avLst>
          </a:prstGeom>
          <a:solidFill>
            <a:srgbClr val="FBF9F4"/>
          </a:solidFill>
          <a:ln w="12700">
            <a:solidFill>
              <a:srgbClr val="CF8250"/>
            </a:solidFill>
            <a:prstDash val="solid"/>
          </a:ln>
        </p:spPr>
      </p:sp>
      <p:sp>
        <p:nvSpPr>
          <p:cNvPr id="18" name="Text 14"/>
          <p:cNvSpPr txBox="1"/>
          <p:nvPr/>
        </p:nvSpPr>
        <p:spPr>
          <a:xfrm>
            <a:off x="7242048" y="3502152"/>
            <a:ext cx="2743200" cy="384048"/>
          </a:xfrm>
          <a:prstGeom prst="rect">
            <a:avLst/>
          </a:prstGeom>
          <a:noFill/>
          <a:ln/>
        </p:spPr>
        <p:txBody>
          <a:bodyPr wrap="square" lIns="0" tIns="0" rIns="0" bIns="0" rtlCol="0" anchor="ctr"/>
          <a:lstStyle/>
          <a:p>
            <a:pPr marL="0" indent="0">
              <a:buNone/>
            </a:pPr>
            <a:r>
              <a:rPr lang="en-US" sz="950" b="1" dirty="0">
                <a:solidFill>
                  <a:srgbClr val="15233B"/>
                </a:solidFill>
                <a:latin typeface="Consolas" pitchFamily="34" charset="0"/>
                <a:ea typeface="Consolas" pitchFamily="34" charset="-122"/>
                <a:cs typeface="Consolas" pitchFamily="34" charset="-120"/>
              </a:rPr>
              <a:t>J-028 · GP-3 · 11:12</a:t>
            </a:r>
            <a:endParaRPr lang="en-US" sz="1400" dirty="0"/>
          </a:p>
          <a:p>
            <a:pPr marL="0" indent="0">
              <a:buNone/>
            </a:pPr>
            <a:r>
              <a:rPr lang="en-US" sz="850" dirty="0">
                <a:solidFill>
                  <a:srgbClr val="3A4A66"/>
                </a:solidFill>
                <a:latin typeface="Segoe UI" pitchFamily="34" charset="0"/>
                <a:ea typeface="Segoe UI" pitchFamily="34" charset="-122"/>
                <a:cs typeface="Segoe UI" pitchFamily="34" charset="-120"/>
              </a:rPr>
              <a:t>+9 min · waited for GP-3</a:t>
            </a:r>
            <a:endParaRPr lang="en-US" sz="1400" dirty="0"/>
          </a:p>
        </p:txBody>
      </p:sp>
      <p:sp>
        <p:nvSpPr>
          <p:cNvPr id="19" name="Shape 15"/>
          <p:cNvSpPr/>
          <p:nvPr/>
        </p:nvSpPr>
        <p:spPr>
          <a:xfrm>
            <a:off x="8321040" y="3895344"/>
            <a:ext cx="0" cy="128016"/>
          </a:xfrm>
          <a:prstGeom prst="line">
            <a:avLst/>
          </a:prstGeom>
          <a:noFill/>
          <a:ln w="19050">
            <a:solidFill>
              <a:srgbClr val="CF8250"/>
            </a:solidFill>
            <a:prstDash val="solid"/>
            <a:tailEnd type="triangle"/>
          </a:ln>
        </p:spPr>
      </p:sp>
      <p:sp>
        <p:nvSpPr>
          <p:cNvPr id="20" name="S6_chain4"/>
          <p:cNvSpPr/>
          <p:nvPr/>
        </p:nvSpPr>
        <p:spPr>
          <a:xfrm>
            <a:off x="7132320" y="4023360"/>
            <a:ext cx="2880360" cy="420624"/>
          </a:xfrm>
          <a:prstGeom prst="roundRect">
            <a:avLst>
              <a:gd name="adj" fmla="val 10870"/>
            </a:avLst>
          </a:prstGeom>
          <a:solidFill>
            <a:srgbClr val="FBF9F4"/>
          </a:solidFill>
          <a:ln w="12700">
            <a:solidFill>
              <a:srgbClr val="CF8250"/>
            </a:solidFill>
            <a:prstDash val="solid"/>
          </a:ln>
        </p:spPr>
      </p:sp>
      <p:sp>
        <p:nvSpPr>
          <p:cNvPr id="21" name="Text 17"/>
          <p:cNvSpPr txBox="1"/>
          <p:nvPr/>
        </p:nvSpPr>
        <p:spPr>
          <a:xfrm>
            <a:off x="7242048" y="4050792"/>
            <a:ext cx="2743200" cy="384048"/>
          </a:xfrm>
          <a:prstGeom prst="rect">
            <a:avLst/>
          </a:prstGeom>
          <a:noFill/>
          <a:ln/>
        </p:spPr>
        <p:txBody>
          <a:bodyPr wrap="square" lIns="0" tIns="0" rIns="0" bIns="0" rtlCol="0" anchor="ctr"/>
          <a:lstStyle/>
          <a:p>
            <a:pPr marL="0" indent="0">
              <a:buNone/>
            </a:pPr>
            <a:r>
              <a:rPr lang="en-US" sz="950" b="1" dirty="0">
                <a:solidFill>
                  <a:srgbClr val="15233B"/>
                </a:solidFill>
                <a:latin typeface="Consolas" pitchFamily="34" charset="0"/>
                <a:ea typeface="Consolas" pitchFamily="34" charset="-122"/>
                <a:cs typeface="Consolas" pitchFamily="34" charset="-120"/>
              </a:rPr>
              <a:t>J-029 · GP-3 · 11:24</a:t>
            </a:r>
            <a:endParaRPr lang="en-US" sz="1400" dirty="0"/>
          </a:p>
          <a:p>
            <a:pPr marL="0" indent="0">
              <a:buNone/>
            </a:pPr>
            <a:r>
              <a:rPr lang="en-US" sz="850" dirty="0">
                <a:solidFill>
                  <a:srgbClr val="3A4A66"/>
                </a:solidFill>
                <a:latin typeface="Segoe UI" pitchFamily="34" charset="0"/>
                <a:ea typeface="Segoe UI" pitchFamily="34" charset="-122"/>
                <a:cs typeface="Segoe UI" pitchFamily="34" charset="-120"/>
              </a:rPr>
              <a:t>+19 min · waited for GP-3</a:t>
            </a:r>
            <a:endParaRPr lang="en-US" sz="1400" dirty="0"/>
          </a:p>
        </p:txBody>
      </p:sp>
      <p:sp>
        <p:nvSpPr>
          <p:cNvPr id="22" name="Shape 18"/>
          <p:cNvSpPr/>
          <p:nvPr/>
        </p:nvSpPr>
        <p:spPr>
          <a:xfrm>
            <a:off x="8321040" y="4443984"/>
            <a:ext cx="0" cy="128016"/>
          </a:xfrm>
          <a:prstGeom prst="line">
            <a:avLst/>
          </a:prstGeom>
          <a:noFill/>
          <a:ln w="19050">
            <a:solidFill>
              <a:srgbClr val="CF8250"/>
            </a:solidFill>
            <a:prstDash val="solid"/>
            <a:tailEnd type="triangle"/>
          </a:ln>
        </p:spPr>
      </p:sp>
      <p:sp>
        <p:nvSpPr>
          <p:cNvPr id="23" name="S6_chain5"/>
          <p:cNvSpPr/>
          <p:nvPr/>
        </p:nvSpPr>
        <p:spPr>
          <a:xfrm>
            <a:off x="7132320" y="4572000"/>
            <a:ext cx="2880360" cy="420624"/>
          </a:xfrm>
          <a:prstGeom prst="roundRect">
            <a:avLst>
              <a:gd name="adj" fmla="val 10870"/>
            </a:avLst>
          </a:prstGeom>
          <a:solidFill>
            <a:srgbClr val="FBF9F4"/>
          </a:solidFill>
          <a:ln w="12700">
            <a:solidFill>
              <a:srgbClr val="CF8250"/>
            </a:solidFill>
            <a:prstDash val="solid"/>
          </a:ln>
        </p:spPr>
      </p:sp>
      <p:sp>
        <p:nvSpPr>
          <p:cNvPr id="24" name="Text 20"/>
          <p:cNvSpPr txBox="1"/>
          <p:nvPr/>
        </p:nvSpPr>
        <p:spPr>
          <a:xfrm>
            <a:off x="7242048" y="4599432"/>
            <a:ext cx="2743200" cy="384048"/>
          </a:xfrm>
          <a:prstGeom prst="rect">
            <a:avLst/>
          </a:prstGeom>
          <a:noFill/>
          <a:ln/>
        </p:spPr>
        <p:txBody>
          <a:bodyPr wrap="square" lIns="0" tIns="0" rIns="0" bIns="0" rtlCol="0" anchor="ctr"/>
          <a:lstStyle/>
          <a:p>
            <a:pPr marL="0" indent="0">
              <a:buNone/>
            </a:pPr>
            <a:r>
              <a:rPr lang="en-US" sz="950" b="1" dirty="0">
                <a:solidFill>
                  <a:srgbClr val="15233B"/>
                </a:solidFill>
                <a:latin typeface="Consolas" pitchFamily="34" charset="0"/>
                <a:ea typeface="Consolas" pitchFamily="34" charset="-122"/>
                <a:cs typeface="Consolas" pitchFamily="34" charset="-120"/>
              </a:rPr>
              <a:t>J-032 · GP-3 · 11:43</a:t>
            </a:r>
            <a:endParaRPr lang="en-US" sz="1400" dirty="0"/>
          </a:p>
          <a:p>
            <a:pPr marL="0" indent="0">
              <a:buNone/>
            </a:pPr>
            <a:r>
              <a:rPr lang="en-US" sz="850" dirty="0">
                <a:solidFill>
                  <a:srgbClr val="3A4A66"/>
                </a:solidFill>
                <a:latin typeface="Segoe UI" pitchFamily="34" charset="0"/>
                <a:ea typeface="Segoe UI" pitchFamily="34" charset="-122"/>
                <a:cs typeface="Segoe UI" pitchFamily="34" charset="-120"/>
              </a:rPr>
              <a:t>+19 min · waited for GP-3</a:t>
            </a:r>
            <a:endParaRPr lang="en-US" sz="1400" dirty="0"/>
          </a:p>
        </p:txBody>
      </p:sp>
      <p:sp>
        <p:nvSpPr>
          <p:cNvPr id="25" name="S6_branch"/>
          <p:cNvSpPr/>
          <p:nvPr/>
        </p:nvSpPr>
        <p:spPr>
          <a:xfrm>
            <a:off x="10287000" y="2926080"/>
            <a:ext cx="1353312" cy="420624"/>
          </a:xfrm>
          <a:prstGeom prst="roundRect">
            <a:avLst>
              <a:gd name="adj" fmla="val 10870"/>
            </a:avLst>
          </a:prstGeom>
          <a:solidFill>
            <a:srgbClr val="D9EBE8"/>
          </a:solidFill>
          <a:ln w="12700">
            <a:solidFill>
              <a:srgbClr val="1F7B78"/>
            </a:solidFill>
            <a:prstDash val="solid"/>
          </a:ln>
        </p:spPr>
      </p:sp>
      <p:sp>
        <p:nvSpPr>
          <p:cNvPr id="26" name="Text 22"/>
          <p:cNvSpPr txBox="1"/>
          <p:nvPr/>
        </p:nvSpPr>
        <p:spPr>
          <a:xfrm>
            <a:off x="10332720" y="2944368"/>
            <a:ext cx="1280160" cy="384048"/>
          </a:xfrm>
          <a:prstGeom prst="rect">
            <a:avLst/>
          </a:prstGeom>
          <a:noFill/>
          <a:ln/>
        </p:spPr>
        <p:txBody>
          <a:bodyPr wrap="square" lIns="0" tIns="0" rIns="0" bIns="0" rtlCol="0" anchor="ctr"/>
          <a:lstStyle/>
          <a:p>
            <a:pPr marL="0" indent="0">
              <a:buNone/>
            </a:pPr>
            <a:r>
              <a:rPr lang="en-US" sz="800" b="1" dirty="0">
                <a:solidFill>
                  <a:srgbClr val="1F7B78"/>
                </a:solidFill>
                <a:latin typeface="Consolas" pitchFamily="34" charset="0"/>
                <a:ea typeface="Consolas" pitchFamily="34" charset="-122"/>
                <a:cs typeface="Consolas" pitchFamily="34" charset="-120"/>
              </a:rPr>
              <a:t>J-028 · LAB-1 11:27</a:t>
            </a:r>
            <a:endParaRPr lang="en-US" sz="1400" dirty="0"/>
          </a:p>
          <a:p>
            <a:pPr marL="0" indent="0">
              <a:buNone/>
            </a:pPr>
            <a:r>
              <a:rPr lang="en-US" sz="800" dirty="0">
                <a:solidFill>
                  <a:srgbClr val="3A4A66"/>
                </a:solidFill>
                <a:latin typeface="Segoe UI" pitchFamily="34" charset="0"/>
                <a:ea typeface="Segoe UI" pitchFamily="34" charset="-122"/>
                <a:cs typeface="Segoe UI" pitchFamily="34" charset="-120"/>
              </a:rPr>
              <a:t>+8 min · previous stage</a:t>
            </a:r>
            <a:endParaRPr lang="en-US" sz="1400" dirty="0"/>
          </a:p>
        </p:txBody>
      </p:sp>
      <p:sp>
        <p:nvSpPr>
          <p:cNvPr id="27" name="S6_branchline"/>
          <p:cNvSpPr/>
          <p:nvPr/>
        </p:nvSpPr>
        <p:spPr>
          <a:xfrm>
            <a:off x="10012680" y="3136392"/>
            <a:ext cx="274320" cy="0"/>
          </a:xfrm>
          <a:prstGeom prst="line">
            <a:avLst/>
          </a:prstGeom>
          <a:noFill/>
          <a:ln w="15875">
            <a:solidFill>
              <a:srgbClr val="1F7B78"/>
            </a:solidFill>
            <a:prstDash val="solid"/>
            <a:tailEnd type="triangle"/>
          </a:ln>
        </p:spPr>
      </p:sp>
      <p:sp>
        <p:nvSpPr>
          <p:cNvPr id="28" name="Text 24"/>
          <p:cNvSpPr txBox="1"/>
          <p:nvPr/>
        </p:nvSpPr>
        <p:spPr>
          <a:xfrm>
            <a:off x="7132320" y="5230368"/>
            <a:ext cx="1097280" cy="502920"/>
          </a:xfrm>
          <a:prstGeom prst="rect">
            <a:avLst/>
          </a:prstGeom>
          <a:noFill/>
          <a:ln/>
        </p:spPr>
        <p:txBody>
          <a:bodyPr wrap="square" lIns="0" tIns="0" rIns="0" bIns="0" rtlCol="0" anchor="b"/>
          <a:lstStyle/>
          <a:p>
            <a:pPr marL="0" indent="0">
              <a:buNone/>
            </a:pPr>
            <a:r>
              <a:rPr lang="en-US" sz="3000" dirty="0">
                <a:solidFill>
                  <a:srgbClr val="15233B"/>
                </a:solidFill>
                <a:latin typeface="Palatino Linotype" pitchFamily="34" charset="0"/>
                <a:ea typeface="Palatino Linotype" pitchFamily="34" charset="-122"/>
                <a:cs typeface="Palatino Linotype" pitchFamily="34" charset="-120"/>
              </a:rPr>
              <a:t>37</a:t>
            </a:r>
            <a:endParaRPr lang="en-US" sz="3000" dirty="0"/>
          </a:p>
        </p:txBody>
      </p:sp>
      <p:sp>
        <p:nvSpPr>
          <p:cNvPr id="29" name="Text 25"/>
          <p:cNvSpPr txBox="1"/>
          <p:nvPr/>
        </p:nvSpPr>
        <p:spPr>
          <a:xfrm>
            <a:off x="7132320" y="5760720"/>
            <a:ext cx="1097280" cy="365760"/>
          </a:xfrm>
          <a:prstGeom prst="rect">
            <a:avLst/>
          </a:prstGeom>
          <a:noFill/>
          <a:ln/>
        </p:spPr>
        <p:txBody>
          <a:bodyPr wrap="square" lIns="0" tIns="0" rIns="0" bIns="0" rtlCol="0" anchor="t"/>
          <a:lstStyle/>
          <a:p>
            <a:pPr marL="0" indent="0">
              <a:buNone/>
            </a:pPr>
            <a:r>
              <a:rPr lang="en-US" sz="700" dirty="0">
                <a:solidFill>
                  <a:srgbClr val="7B7566"/>
                </a:solidFill>
                <a:latin typeface="Consolas" pitchFamily="34" charset="0"/>
                <a:ea typeface="Consolas" pitchFamily="34" charset="-122"/>
                <a:cs typeface="Consolas" pitchFamily="34" charset="-120"/>
              </a:rPr>
              <a:t>PATIENTS</a:t>
            </a:r>
            <a:endParaRPr lang="en-US" sz="700" dirty="0"/>
          </a:p>
          <a:p>
            <a:pPr marL="0" indent="0">
              <a:buNone/>
            </a:pPr>
            <a:r>
              <a:rPr lang="en-US" sz="700" dirty="0">
                <a:solidFill>
                  <a:srgbClr val="7B7566"/>
                </a:solidFill>
                <a:latin typeface="Consolas" pitchFamily="34" charset="0"/>
                <a:ea typeface="Consolas" pitchFamily="34" charset="-122"/>
                <a:cs typeface="Consolas" pitchFamily="34" charset="-120"/>
              </a:rPr>
              <a:t>DELAYED ≥ 3 MIN</a:t>
            </a:r>
            <a:endParaRPr lang="en-US" sz="700" dirty="0"/>
          </a:p>
        </p:txBody>
      </p:sp>
      <p:sp>
        <p:nvSpPr>
          <p:cNvPr id="30" name="Text 26"/>
          <p:cNvSpPr txBox="1"/>
          <p:nvPr/>
        </p:nvSpPr>
        <p:spPr>
          <a:xfrm>
            <a:off x="8266176" y="5230368"/>
            <a:ext cx="1097280" cy="502920"/>
          </a:xfrm>
          <a:prstGeom prst="rect">
            <a:avLst/>
          </a:prstGeom>
          <a:noFill/>
          <a:ln/>
        </p:spPr>
        <p:txBody>
          <a:bodyPr wrap="square" lIns="0" tIns="0" rIns="0" bIns="0" rtlCol="0" anchor="b"/>
          <a:lstStyle/>
          <a:p>
            <a:pPr marL="0" indent="0">
              <a:buNone/>
            </a:pPr>
            <a:r>
              <a:rPr lang="en-US" sz="3000" dirty="0">
                <a:solidFill>
                  <a:srgbClr val="B4642F"/>
                </a:solidFill>
                <a:latin typeface="Palatino Linotype" pitchFamily="34" charset="0"/>
                <a:ea typeface="Palatino Linotype" pitchFamily="34" charset="-122"/>
                <a:cs typeface="Palatino Linotype" pitchFamily="34" charset="-120"/>
              </a:rPr>
              <a:t>890</a:t>
            </a:r>
            <a:endParaRPr lang="en-US" sz="3000" dirty="0"/>
          </a:p>
        </p:txBody>
      </p:sp>
      <p:sp>
        <p:nvSpPr>
          <p:cNvPr id="31" name="Text 27"/>
          <p:cNvSpPr txBox="1"/>
          <p:nvPr/>
        </p:nvSpPr>
        <p:spPr>
          <a:xfrm>
            <a:off x="8266176" y="5760720"/>
            <a:ext cx="1097280" cy="365760"/>
          </a:xfrm>
          <a:prstGeom prst="rect">
            <a:avLst/>
          </a:prstGeom>
          <a:noFill/>
          <a:ln/>
        </p:spPr>
        <p:txBody>
          <a:bodyPr wrap="square" lIns="0" tIns="0" rIns="0" bIns="0" rtlCol="0" anchor="t"/>
          <a:lstStyle/>
          <a:p>
            <a:pPr marL="0" indent="0">
              <a:buNone/>
            </a:pPr>
            <a:r>
              <a:rPr lang="en-US" sz="700" dirty="0">
                <a:solidFill>
                  <a:srgbClr val="7B7566"/>
                </a:solidFill>
                <a:latin typeface="Consolas" pitchFamily="34" charset="0"/>
                <a:ea typeface="Consolas" pitchFamily="34" charset="-122"/>
                <a:cs typeface="Consolas" pitchFamily="34" charset="-120"/>
              </a:rPr>
              <a:t>WAITING MIN</a:t>
            </a:r>
            <a:endParaRPr lang="en-US" sz="700" dirty="0"/>
          </a:p>
          <a:p>
            <a:pPr marL="0" indent="0">
              <a:buNone/>
            </a:pPr>
            <a:r>
              <a:rPr lang="en-US" sz="700" dirty="0">
                <a:solidFill>
                  <a:srgbClr val="7B7566"/>
                </a:solidFill>
                <a:latin typeface="Consolas" pitchFamily="34" charset="0"/>
                <a:ea typeface="Consolas" pitchFamily="34" charset="-122"/>
                <a:cs typeface="Consolas" pitchFamily="34" charset="-120"/>
              </a:rPr>
              <a:t>CAUSED</a:t>
            </a:r>
            <a:endParaRPr lang="en-US" sz="700" dirty="0"/>
          </a:p>
        </p:txBody>
      </p:sp>
      <p:sp>
        <p:nvSpPr>
          <p:cNvPr id="32" name="Text 28"/>
          <p:cNvSpPr txBox="1"/>
          <p:nvPr/>
        </p:nvSpPr>
        <p:spPr>
          <a:xfrm>
            <a:off x="9400032" y="5230368"/>
            <a:ext cx="1097280" cy="502920"/>
          </a:xfrm>
          <a:prstGeom prst="rect">
            <a:avLst/>
          </a:prstGeom>
          <a:noFill/>
          <a:ln/>
        </p:spPr>
        <p:txBody>
          <a:bodyPr wrap="square" lIns="0" tIns="0" rIns="0" bIns="0" rtlCol="0" anchor="b"/>
          <a:lstStyle/>
          <a:p>
            <a:pPr marL="0" indent="0">
              <a:buNone/>
            </a:pPr>
            <a:r>
              <a:rPr lang="en-US" sz="3000" dirty="0">
                <a:solidFill>
                  <a:srgbClr val="15233B"/>
                </a:solidFill>
                <a:latin typeface="Palatino Linotype" pitchFamily="34" charset="0"/>
                <a:ea typeface="Palatino Linotype" pitchFamily="34" charset="-122"/>
                <a:cs typeface="Palatino Linotype" pitchFamily="34" charset="-120"/>
              </a:rPr>
              <a:t>26</a:t>
            </a:r>
            <a:endParaRPr lang="en-US" sz="3000" dirty="0"/>
          </a:p>
        </p:txBody>
      </p:sp>
      <p:sp>
        <p:nvSpPr>
          <p:cNvPr id="33" name="Text 29"/>
          <p:cNvSpPr txBox="1"/>
          <p:nvPr/>
        </p:nvSpPr>
        <p:spPr>
          <a:xfrm>
            <a:off x="9400032" y="5760720"/>
            <a:ext cx="1097280" cy="365760"/>
          </a:xfrm>
          <a:prstGeom prst="rect">
            <a:avLst/>
          </a:prstGeom>
          <a:noFill/>
          <a:ln/>
        </p:spPr>
        <p:txBody>
          <a:bodyPr wrap="square" lIns="0" tIns="0" rIns="0" bIns="0" rtlCol="0" anchor="t"/>
          <a:lstStyle/>
          <a:p>
            <a:pPr marL="0" indent="0">
              <a:buNone/>
            </a:pPr>
            <a:r>
              <a:rPr lang="en-US" sz="700" dirty="0">
                <a:solidFill>
                  <a:srgbClr val="7B7566"/>
                </a:solidFill>
                <a:latin typeface="Consolas" pitchFamily="34" charset="0"/>
                <a:ea typeface="Consolas" pitchFamily="34" charset="-122"/>
                <a:cs typeface="Consolas" pitchFamily="34" charset="-120"/>
              </a:rPr>
              <a:t>HOPS TO THE</a:t>
            </a:r>
            <a:endParaRPr lang="en-US" sz="700" dirty="0"/>
          </a:p>
          <a:p>
            <a:pPr marL="0" indent="0">
              <a:buNone/>
            </a:pPr>
            <a:r>
              <a:rPr lang="en-US" sz="700" dirty="0">
                <a:solidFill>
                  <a:srgbClr val="7B7566"/>
                </a:solidFill>
                <a:latin typeface="Consolas" pitchFamily="34" charset="0"/>
                <a:ea typeface="Consolas" pitchFamily="34" charset="-122"/>
                <a:cs typeface="Consolas" pitchFamily="34" charset="-120"/>
              </a:rPr>
              <a:t>LAST DELAY</a:t>
            </a:r>
            <a:endParaRPr lang="en-US" sz="700" dirty="0"/>
          </a:p>
        </p:txBody>
      </p:sp>
      <p:sp>
        <p:nvSpPr>
          <p:cNvPr id="34" name="Text 30"/>
          <p:cNvSpPr txBox="1"/>
          <p:nvPr/>
        </p:nvSpPr>
        <p:spPr>
          <a:xfrm>
            <a:off x="10533888" y="5230368"/>
            <a:ext cx="1097280" cy="502920"/>
          </a:xfrm>
          <a:prstGeom prst="rect">
            <a:avLst/>
          </a:prstGeom>
          <a:noFill/>
          <a:ln/>
        </p:spPr>
        <p:txBody>
          <a:bodyPr wrap="square" lIns="0" tIns="0" rIns="0" bIns="0" rtlCol="0" anchor="b"/>
          <a:lstStyle/>
          <a:p>
            <a:pPr marL="0" indent="0">
              <a:buNone/>
            </a:pPr>
            <a:r>
              <a:rPr lang="en-US" sz="3000" dirty="0">
                <a:solidFill>
                  <a:srgbClr val="15233B"/>
                </a:solidFill>
                <a:latin typeface="Palatino Linotype" pitchFamily="34" charset="0"/>
                <a:ea typeface="Palatino Linotype" pitchFamily="34" charset="-122"/>
                <a:cs typeface="Palatino Linotype" pitchFamily="34" charset="-120"/>
              </a:rPr>
              <a:t>+24</a:t>
            </a:r>
            <a:endParaRPr lang="en-US" sz="3000" dirty="0"/>
          </a:p>
        </p:txBody>
      </p:sp>
      <p:sp>
        <p:nvSpPr>
          <p:cNvPr id="35" name="Text 31"/>
          <p:cNvSpPr txBox="1"/>
          <p:nvPr/>
        </p:nvSpPr>
        <p:spPr>
          <a:xfrm>
            <a:off x="10533888" y="5760720"/>
            <a:ext cx="1097280" cy="365760"/>
          </a:xfrm>
          <a:prstGeom prst="rect">
            <a:avLst/>
          </a:prstGeom>
          <a:noFill/>
          <a:ln/>
        </p:spPr>
        <p:txBody>
          <a:bodyPr wrap="square" lIns="0" tIns="0" rIns="0" bIns="0" rtlCol="0" anchor="t"/>
          <a:lstStyle/>
          <a:p>
            <a:pPr marL="0" indent="0">
              <a:buNone/>
            </a:pPr>
            <a:r>
              <a:rPr lang="en-US" sz="700" dirty="0">
                <a:solidFill>
                  <a:srgbClr val="7B7566"/>
                </a:solidFill>
                <a:latin typeface="Consolas" pitchFamily="34" charset="0"/>
                <a:ea typeface="Consolas" pitchFamily="34" charset="-122"/>
                <a:cs typeface="Consolas" pitchFamily="34" charset="-120"/>
              </a:rPr>
              <a:t>MIN EXTRA</a:t>
            </a:r>
            <a:endParaRPr lang="en-US" sz="700" dirty="0"/>
          </a:p>
          <a:p>
            <a:pPr marL="0" indent="0">
              <a:buNone/>
            </a:pPr>
            <a:r>
              <a:rPr lang="en-US" sz="700" dirty="0">
                <a:solidFill>
                  <a:srgbClr val="7B7566"/>
                </a:solidFill>
                <a:latin typeface="Consolas" pitchFamily="34" charset="0"/>
                <a:ea typeface="Consolas" pitchFamily="34" charset="-122"/>
                <a:cs typeface="Consolas" pitchFamily="34" charset="-120"/>
              </a:rPr>
              <a:t>OVERTIME</a:t>
            </a:r>
            <a:endParaRPr lang="en-US" sz="700" dirty="0"/>
          </a:p>
        </p:txBody>
      </p:sp>
      <p:sp>
        <p:nvSpPr>
          <p:cNvPr id="36" name="Text 32"/>
          <p:cNvSpPr txBox="1"/>
          <p:nvPr/>
        </p:nvSpPr>
        <p:spPr>
          <a:xfrm>
            <a:off x="548640" y="6199632"/>
            <a:ext cx="11064240" cy="256032"/>
          </a:xfrm>
          <a:prstGeom prst="rect">
            <a:avLst/>
          </a:prstGeom>
          <a:noFill/>
          <a:ln/>
        </p:spPr>
        <p:txBody>
          <a:bodyPr wrap="square" lIns="0" tIns="0" rIns="0" bIns="0" rtlCol="0" anchor="t"/>
          <a:lstStyle/>
          <a:p>
            <a:pPr marL="0" indent="0">
              <a:buNone/>
            </a:pPr>
            <a:r>
              <a:rPr lang="en-US" sz="850" dirty="0">
                <a:solidFill>
                  <a:srgbClr val="7B7566"/>
                </a:solidFill>
                <a:latin typeface="Segoe UI" pitchFamily="34" charset="0"/>
                <a:ea typeface="Segoe UI" pitchFamily="34" charset="-122"/>
                <a:cs typeface="Segoe UI" pitchFamily="34" charset="-120"/>
              </a:rPr>
              <a:t>SAYR explains not just where a delay occurs, but how it spreads. Every link is a record in the event log (resource the appointment waited for, or its previous stage). Seed 7, staff scenario.</a:t>
            </a:r>
            <a:endParaRPr lang="en-US" sz="850" dirty="0"/>
          </a:p>
        </p:txBody>
      </p:sp>
      <p:sp>
        <p:nvSpPr>
          <p:cNvPr id="4" name="Slide Number Placeholder 0"/>
          <p:cNvSpPr>
            <a:spLocks noGrp="1"/>
          </p:cNvSpPr>
          <p:nvPr>
            <p:ph type="sldNum" sz="quarter" idx="4294967295"/>
          </p:nvPr>
        </p:nvSpPr>
        <p:spPr>
          <a:xfrm>
            <a:off x="11064240" y="6492240"/>
            <a:ext cx="576072"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B7566"/>
                </a:solidFill>
                <a:latin typeface="Consolas"/>
                <a:ea typeface="Consolas"/>
                <a:cs typeface="Consolas"/>
              </a:defRPr>
            </a:lvl1pPr>
          </a:lstStyle>
          <a:p>
            <a:pPr algn="r"/>
            <a:fld id="{F7021451-1387-4CA6-816F-3879F97B5CBC}" type="slidenum">
              <a:rPr lang="en-US" b="0"/>
              <a:t>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id="9" presetID="10" presetClass="entr" presetSubtype="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par>
                          <p:cTn id="12" fill="hold">
                            <p:stCondLst>
                              <p:cond delay="800"/>
                            </p:stCondLst>
                            <p:childTnLst>
                              <p:par>
                                <p:cTn id="13" presetID="10" presetClass="entr" presetSubtype="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400"/>
                                        <p:tgtEl>
                                          <p:spTgt spid="14"/>
                                        </p:tgtEl>
                                      </p:cBhvr>
                                    </p:animEffect>
                                  </p:childTnLst>
                                </p:cTn>
                              </p:par>
                            </p:childTnLst>
                          </p:cTn>
                        </p:par>
                        <p:par>
                          <p:cTn id="16" fill="hold">
                            <p:stCondLst>
                              <p:cond delay="1200"/>
                            </p:stCondLst>
                            <p:childTnLst>
                              <p:par>
                                <p:cTn id="17" presetID="10" presetClass="entr" presetSubtype="0" fill="hold"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childTnLst>
                                </p:cTn>
                              </p:par>
                            </p:childTnLst>
                          </p:cTn>
                        </p:par>
                        <p:par>
                          <p:cTn id="20" fill="hold">
                            <p:stCondLst>
                              <p:cond delay="1600"/>
                            </p:stCondLst>
                            <p:childTnLst>
                              <p:par>
                                <p:cTn id="21" presetID="10" presetClass="entr" presetSubtype="0" fill="hold" nodeType="after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400"/>
                                        <p:tgtEl>
                                          <p:spTgt spid="20"/>
                                        </p:tgtEl>
                                      </p:cBhvr>
                                    </p:animEffect>
                                  </p:childTnLst>
                                </p:cTn>
                              </p:par>
                            </p:childTnLst>
                          </p:cTn>
                        </p:par>
                        <p:par>
                          <p:cTn id="24" fill="hold">
                            <p:stCondLst>
                              <p:cond delay="2000"/>
                            </p:stCondLst>
                            <p:childTnLst>
                              <p:par>
                                <p:cTn id="25" presetID="10" presetClass="entr" presetSubtype="0" fill="hold" nodeType="after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00"/>
                                        <p:tgtEl>
                                          <p:spTgt spid="23"/>
                                        </p:tgtEl>
                                      </p:cBhvr>
                                    </p:animEffect>
                                  </p:childTnLst>
                                </p:cTn>
                              </p:par>
                            </p:childTnLst>
                          </p:cTn>
                        </p:par>
                        <p:par>
                          <p:cTn id="28" fill="hold">
                            <p:stCondLst>
                              <p:cond delay="2400"/>
                            </p:stCondLst>
                            <p:childTnLst>
                              <p:par>
                                <p:cTn id="29" presetID="10" presetClass="entr" presetSubtype="0" fill="hold"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685800"/>
          </a:xfrm>
          <a:prstGeom prst="rect">
            <a:avLst/>
          </a:prstGeom>
          <a:noFill/>
          <a:ln/>
        </p:spPr>
        <p:txBody>
          <a:bodyPr wrap="square" lIns="0" tIns="0" rIns="0" bIns="0" rtlCol="0" anchor="t"/>
          <a:lstStyle/>
          <a:p>
            <a:pPr marL="0" indent="0" algn="l">
              <a:buNone/>
            </a:pPr>
            <a:r>
              <a:rPr lang="en-US" sz="3000" dirty="0">
                <a:solidFill>
                  <a:srgbClr val="15233B"/>
                </a:solidFill>
                <a:latin typeface="Palatino Linotype" pitchFamily="34" charset="0"/>
                <a:ea typeface="Palatino Linotype" pitchFamily="34" charset="-122"/>
                <a:cs typeface="Palatino Linotype" pitchFamily="34" charset="-120"/>
              </a:rPr>
              <a:t>Reflow Studio: from disruption to decision</a:t>
            </a:r>
            <a:endParaRPr lang="en-US" sz="3000" dirty="0"/>
          </a:p>
        </p:txBody>
      </p:sp>
      <p:sp>
        <p:nvSpPr>
          <p:cNvPr id="3" name="Text 1"/>
          <p:cNvSpPr txBox="1"/>
          <p:nvPr/>
        </p:nvSpPr>
        <p:spPr>
          <a:xfrm>
            <a:off x="548640" y="310896"/>
            <a:ext cx="8229600" cy="228600"/>
          </a:xfrm>
          <a:prstGeom prst="rect">
            <a:avLst/>
          </a:prstGeom>
          <a:noFill/>
          <a:ln/>
        </p:spPr>
        <p:txBody>
          <a:bodyPr wrap="square" lIns="0" tIns="0" rIns="0" bIns="0" rtlCol="0" anchor="t"/>
          <a:lstStyle/>
          <a:p>
            <a:pPr marL="0" indent="0">
              <a:buNone/>
            </a:pPr>
            <a:r>
              <a:rPr lang="en-US" sz="1050" kern="0" spc="200" dirty="0">
                <a:solidFill>
                  <a:srgbClr val="B4642F"/>
                </a:solidFill>
                <a:latin typeface="Consolas" pitchFamily="34" charset="0"/>
                <a:ea typeface="Consolas" pitchFamily="34" charset="-122"/>
                <a:cs typeface="Consolas" pitchFamily="34" charset="-120"/>
              </a:rPr>
              <a:t>WOW 2 · THE SYSTEM REFLOWS</a:t>
            </a:r>
            <a:endParaRPr lang="en-US" sz="1050" dirty="0"/>
          </a:p>
        </p:txBody>
      </p:sp>
      <p:sp>
        <p:nvSpPr>
          <p:cNvPr id="5" name="Shape 2"/>
          <p:cNvSpPr/>
          <p:nvPr/>
        </p:nvSpPr>
        <p:spPr>
          <a:xfrm>
            <a:off x="512064" y="1261872"/>
            <a:ext cx="5148072" cy="3000158"/>
          </a:xfrm>
          <a:prstGeom prst="roundRect">
            <a:avLst>
              <a:gd name="adj" fmla="val 2133"/>
            </a:avLst>
          </a:prstGeom>
          <a:solidFill>
            <a:srgbClr val="FBF9F4"/>
          </a:solidFill>
          <a:ln w="9525">
            <a:solidFill>
              <a:srgbClr val="CBC2AB"/>
            </a:solidFill>
            <a:prstDash val="solid"/>
          </a:ln>
        </p:spPr>
      </p:sp>
      <p:pic>
        <p:nvPicPr>
          <p:cNvPr id="6" name="S7_shot0" descr="CURRENT PLAN in Reflow Studio"/>
          <p:cNvPicPr>
            <a:picLocks noChangeAspect="1"/>
          </p:cNvPicPr>
          <p:nvPr/>
        </p:nvPicPr>
        <p:blipFill>
          <a:blip r:embed="rId3"/>
          <a:stretch>
            <a:fillRect/>
          </a:stretch>
        </p:blipFill>
        <p:spPr>
          <a:xfrm>
            <a:off x="548640" y="1298448"/>
            <a:ext cx="5074920" cy="2927006"/>
          </a:xfrm>
          <a:prstGeom prst="rect">
            <a:avLst/>
          </a:prstGeom>
        </p:spPr>
      </p:pic>
      <p:sp>
        <p:nvSpPr>
          <p:cNvPr id="7" name="Text 3"/>
          <p:cNvSpPr txBox="1"/>
          <p:nvPr/>
        </p:nvSpPr>
        <p:spPr>
          <a:xfrm>
            <a:off x="548640" y="4344326"/>
            <a:ext cx="2743200" cy="182880"/>
          </a:xfrm>
          <a:prstGeom prst="rect">
            <a:avLst/>
          </a:prstGeom>
          <a:noFill/>
          <a:ln/>
        </p:spPr>
        <p:txBody>
          <a:bodyPr wrap="square" lIns="0" tIns="0" rIns="0" bIns="0" rtlCol="0" anchor="t"/>
          <a:lstStyle/>
          <a:p>
            <a:pPr marL="0" indent="0">
              <a:buNone/>
            </a:pPr>
            <a:r>
              <a:rPr lang="en-US" sz="900" b="1" kern="0" spc="150" dirty="0">
                <a:solidFill>
                  <a:srgbClr val="7B7566"/>
                </a:solidFill>
                <a:latin typeface="Consolas" pitchFamily="34" charset="0"/>
                <a:ea typeface="Consolas" pitchFamily="34" charset="-122"/>
                <a:cs typeface="Consolas" pitchFamily="34" charset="-120"/>
              </a:rPr>
              <a:t>CURRENT PLAN</a:t>
            </a:r>
            <a:endParaRPr lang="en-US" sz="900" dirty="0"/>
          </a:p>
        </p:txBody>
      </p:sp>
      <p:sp>
        <p:nvSpPr>
          <p:cNvPr id="8" name="Text 4"/>
          <p:cNvSpPr txBox="1"/>
          <p:nvPr/>
        </p:nvSpPr>
        <p:spPr>
          <a:xfrm>
            <a:off x="548640" y="4527206"/>
            <a:ext cx="5074920" cy="329184"/>
          </a:xfrm>
          <a:prstGeom prst="rect">
            <a:avLst/>
          </a:prstGeom>
          <a:noFill/>
          <a:ln/>
        </p:spPr>
        <p:txBody>
          <a:bodyPr wrap="square" lIns="0" tIns="0" rIns="0" bIns="0" rtlCol="0" anchor="t"/>
          <a:lstStyle/>
          <a:p>
            <a:pPr marL="0" indent="0">
              <a:buNone/>
            </a:pPr>
            <a:r>
              <a:rPr lang="en-US" sz="1700" dirty="0">
                <a:solidFill>
                  <a:srgbClr val="15233B"/>
                </a:solidFill>
                <a:latin typeface="Palatino Linotype" pitchFamily="34" charset="0"/>
                <a:ea typeface="Palatino Linotype" pitchFamily="34" charset="-122"/>
                <a:cs typeface="Palatino Linotype" pitchFamily="34" charset="-120"/>
              </a:rPr>
              <a:t>1,698 planned waiting min</a:t>
            </a:r>
            <a:endParaRPr lang="en-US" sz="1700" dirty="0"/>
          </a:p>
        </p:txBody>
      </p:sp>
      <p:sp>
        <p:nvSpPr>
          <p:cNvPr id="9" name="Text 5"/>
          <p:cNvSpPr txBox="1"/>
          <p:nvPr/>
        </p:nvSpPr>
        <p:spPr>
          <a:xfrm>
            <a:off x="548640" y="4865534"/>
            <a:ext cx="5074920" cy="201168"/>
          </a:xfrm>
          <a:prstGeom prst="rect">
            <a:avLst/>
          </a:prstGeom>
          <a:noFill/>
          <a:ln/>
        </p:spPr>
        <p:txBody>
          <a:bodyPr wrap="square" lIns="0" tIns="0" rIns="0" bIns="0" rtlCol="0" anchor="t"/>
          <a:lstStyle/>
          <a:p>
            <a:pPr marL="0" indent="0">
              <a:buNone/>
            </a:pPr>
            <a:r>
              <a:rPr lang="en-US" sz="950" dirty="0">
                <a:solidFill>
                  <a:srgbClr val="3A4A66"/>
                </a:solidFill>
                <a:latin typeface="Segoe UI" pitchFamily="34" charset="0"/>
                <a:ea typeface="Segoe UI" pitchFamily="34" charset="-122"/>
                <a:cs typeface="Segoe UI" pitchFamily="34" charset="-120"/>
              </a:rPr>
              <a:t>43 appointments still expected to wait 15 min or more</a:t>
            </a:r>
            <a:endParaRPr lang="en-US" sz="950" dirty="0"/>
          </a:p>
        </p:txBody>
      </p:sp>
      <p:sp>
        <p:nvSpPr>
          <p:cNvPr id="10" name="Shape 6"/>
          <p:cNvSpPr/>
          <p:nvPr/>
        </p:nvSpPr>
        <p:spPr>
          <a:xfrm>
            <a:off x="6528816" y="1261872"/>
            <a:ext cx="5148072" cy="3000158"/>
          </a:xfrm>
          <a:prstGeom prst="roundRect">
            <a:avLst>
              <a:gd name="adj" fmla="val 2133"/>
            </a:avLst>
          </a:prstGeom>
          <a:solidFill>
            <a:srgbClr val="FBF9F4"/>
          </a:solidFill>
          <a:ln w="9525">
            <a:solidFill>
              <a:srgbClr val="CBC2AB"/>
            </a:solidFill>
            <a:prstDash val="solid"/>
          </a:ln>
        </p:spPr>
      </p:sp>
      <p:pic>
        <p:nvPicPr>
          <p:cNvPr id="11" name="S7_shot1" descr="PROPOSED PLAN in Reflow Studio"/>
          <p:cNvPicPr>
            <a:picLocks noChangeAspect="1"/>
          </p:cNvPicPr>
          <p:nvPr/>
        </p:nvPicPr>
        <p:blipFill>
          <a:blip r:embed="rId4"/>
          <a:stretch>
            <a:fillRect/>
          </a:stretch>
        </p:blipFill>
        <p:spPr>
          <a:xfrm>
            <a:off x="6565392" y="1298448"/>
            <a:ext cx="5074920" cy="2927006"/>
          </a:xfrm>
          <a:prstGeom prst="rect">
            <a:avLst/>
          </a:prstGeom>
        </p:spPr>
      </p:pic>
      <p:sp>
        <p:nvSpPr>
          <p:cNvPr id="12" name="Text 7"/>
          <p:cNvSpPr txBox="1"/>
          <p:nvPr/>
        </p:nvSpPr>
        <p:spPr>
          <a:xfrm>
            <a:off x="6565392" y="4344326"/>
            <a:ext cx="2743200" cy="182880"/>
          </a:xfrm>
          <a:prstGeom prst="rect">
            <a:avLst/>
          </a:prstGeom>
          <a:noFill/>
          <a:ln/>
        </p:spPr>
        <p:txBody>
          <a:bodyPr wrap="square" lIns="0" tIns="0" rIns="0" bIns="0" rtlCol="0" anchor="t"/>
          <a:lstStyle/>
          <a:p>
            <a:pPr marL="0" indent="0">
              <a:buNone/>
            </a:pPr>
            <a:r>
              <a:rPr lang="en-US" sz="900" b="1" kern="0" spc="150" dirty="0">
                <a:solidFill>
                  <a:srgbClr val="1F7B78"/>
                </a:solidFill>
                <a:latin typeface="Consolas" pitchFamily="34" charset="0"/>
                <a:ea typeface="Consolas" pitchFamily="34" charset="-122"/>
                <a:cs typeface="Consolas" pitchFamily="34" charset="-120"/>
              </a:rPr>
              <a:t>PROPOSED PLAN</a:t>
            </a:r>
            <a:endParaRPr lang="en-US" sz="900" dirty="0"/>
          </a:p>
        </p:txBody>
      </p:sp>
      <p:sp>
        <p:nvSpPr>
          <p:cNvPr id="13" name="Text 8"/>
          <p:cNvSpPr txBox="1"/>
          <p:nvPr/>
        </p:nvSpPr>
        <p:spPr>
          <a:xfrm>
            <a:off x="6565392" y="4527206"/>
            <a:ext cx="5074920" cy="329184"/>
          </a:xfrm>
          <a:prstGeom prst="rect">
            <a:avLst/>
          </a:prstGeom>
          <a:noFill/>
          <a:ln/>
        </p:spPr>
        <p:txBody>
          <a:bodyPr wrap="square" lIns="0" tIns="0" rIns="0" bIns="0" rtlCol="0" anchor="t"/>
          <a:lstStyle/>
          <a:p>
            <a:pPr marL="0" indent="0">
              <a:buNone/>
            </a:pPr>
            <a:r>
              <a:rPr lang="en-US" sz="1700" dirty="0">
                <a:solidFill>
                  <a:srgbClr val="1F7B78"/>
                </a:solidFill>
                <a:latin typeface="Palatino Linotype" pitchFamily="34" charset="0"/>
                <a:ea typeface="Palatino Linotype" pitchFamily="34" charset="-122"/>
                <a:cs typeface="Palatino Linotype" pitchFamily="34" charset="-120"/>
              </a:rPr>
              <a:t>1,619 planned waiting min  (−80)</a:t>
            </a:r>
            <a:endParaRPr lang="en-US" sz="1700" dirty="0"/>
          </a:p>
        </p:txBody>
      </p:sp>
      <p:sp>
        <p:nvSpPr>
          <p:cNvPr id="14" name="Text 9"/>
          <p:cNvSpPr txBox="1"/>
          <p:nvPr/>
        </p:nvSpPr>
        <p:spPr>
          <a:xfrm>
            <a:off x="6565392" y="4865534"/>
            <a:ext cx="5074920" cy="201168"/>
          </a:xfrm>
          <a:prstGeom prst="rect">
            <a:avLst/>
          </a:prstGeom>
          <a:noFill/>
          <a:ln/>
        </p:spPr>
        <p:txBody>
          <a:bodyPr wrap="square" lIns="0" tIns="0" rIns="0" bIns="0" rtlCol="0" anchor="t"/>
          <a:lstStyle/>
          <a:p>
            <a:pPr marL="0" indent="0">
              <a:buNone/>
            </a:pPr>
            <a:r>
              <a:rPr lang="en-US" sz="950" dirty="0">
                <a:solidFill>
                  <a:srgbClr val="3A4A66"/>
                </a:solidFill>
                <a:latin typeface="Segoe UI" pitchFamily="34" charset="0"/>
                <a:ea typeface="Segoe UI" pitchFamily="34" charset="-122"/>
                <a:cs typeface="Segoe UI" pitchFamily="34" charset="-120"/>
              </a:rPr>
              <a:t>42 changes: 6 reassigned, 36 re-sequenced · 9 of 9 constraints kept</a:t>
            </a:r>
            <a:endParaRPr lang="en-US" sz="950" dirty="0"/>
          </a:p>
        </p:txBody>
      </p:sp>
      <p:sp>
        <p:nvSpPr>
          <p:cNvPr id="15" name="Shape 10"/>
          <p:cNvSpPr/>
          <p:nvPr/>
        </p:nvSpPr>
        <p:spPr>
          <a:xfrm>
            <a:off x="5911596" y="2579071"/>
            <a:ext cx="365760" cy="365760"/>
          </a:xfrm>
          <a:prstGeom prst="ellipse">
            <a:avLst/>
          </a:prstGeom>
          <a:solidFill>
            <a:srgbClr val="B4642F"/>
          </a:solidFill>
          <a:ln w="25400">
            <a:solidFill>
              <a:srgbClr val="F6F2E9"/>
            </a:solidFill>
            <a:prstDash val="solid"/>
          </a:ln>
        </p:spPr>
      </p:sp>
      <p:sp>
        <p:nvSpPr>
          <p:cNvPr id="16" name="Text 11"/>
          <p:cNvSpPr txBox="1"/>
          <p:nvPr/>
        </p:nvSpPr>
        <p:spPr>
          <a:xfrm>
            <a:off x="5911596" y="2579071"/>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a:t>
            </a:r>
            <a:endParaRPr lang="en-US" sz="1600" dirty="0"/>
          </a:p>
        </p:txBody>
      </p:sp>
      <p:sp>
        <p:nvSpPr>
          <p:cNvPr id="17" name="S7_c1"/>
          <p:cNvSpPr/>
          <p:nvPr/>
        </p:nvSpPr>
        <p:spPr>
          <a:xfrm>
            <a:off x="8533318" y="3008592"/>
            <a:ext cx="256032" cy="256032"/>
          </a:xfrm>
          <a:prstGeom prst="ellipse">
            <a:avLst/>
          </a:prstGeom>
          <a:solidFill>
            <a:srgbClr val="B4642F"/>
          </a:solidFill>
          <a:ln w="15875">
            <a:solidFill>
              <a:srgbClr val="FBF9F4"/>
            </a:solidFill>
            <a:prstDash val="solid"/>
          </a:ln>
        </p:spPr>
      </p:sp>
      <p:sp>
        <p:nvSpPr>
          <p:cNvPr id="18" name="Text 13"/>
          <p:cNvSpPr txBox="1"/>
          <p:nvPr/>
        </p:nvSpPr>
        <p:spPr>
          <a:xfrm>
            <a:off x="8533318" y="3008592"/>
            <a:ext cx="25603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1</a:t>
            </a:r>
            <a:endParaRPr lang="en-US" sz="950" dirty="0"/>
          </a:p>
        </p:txBody>
      </p:sp>
      <p:sp>
        <p:nvSpPr>
          <p:cNvPr id="19" name="S7_c2"/>
          <p:cNvSpPr/>
          <p:nvPr/>
        </p:nvSpPr>
        <p:spPr>
          <a:xfrm>
            <a:off x="8061350" y="2780285"/>
            <a:ext cx="256032" cy="256032"/>
          </a:xfrm>
          <a:prstGeom prst="ellipse">
            <a:avLst/>
          </a:prstGeom>
          <a:solidFill>
            <a:srgbClr val="B4642F"/>
          </a:solidFill>
          <a:ln w="15875">
            <a:solidFill>
              <a:srgbClr val="FBF9F4"/>
            </a:solidFill>
            <a:prstDash val="solid"/>
          </a:ln>
        </p:spPr>
      </p:sp>
      <p:sp>
        <p:nvSpPr>
          <p:cNvPr id="20" name="Text 15"/>
          <p:cNvSpPr txBox="1"/>
          <p:nvPr/>
        </p:nvSpPr>
        <p:spPr>
          <a:xfrm>
            <a:off x="8061350" y="2780285"/>
            <a:ext cx="25603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2</a:t>
            </a:r>
            <a:endParaRPr lang="en-US" sz="950" dirty="0"/>
          </a:p>
        </p:txBody>
      </p:sp>
      <p:sp>
        <p:nvSpPr>
          <p:cNvPr id="21" name="S7_c3"/>
          <p:cNvSpPr/>
          <p:nvPr/>
        </p:nvSpPr>
        <p:spPr>
          <a:xfrm>
            <a:off x="9269181" y="2651497"/>
            <a:ext cx="256032" cy="256032"/>
          </a:xfrm>
          <a:prstGeom prst="ellipse">
            <a:avLst/>
          </a:prstGeom>
          <a:solidFill>
            <a:srgbClr val="B4642F"/>
          </a:solidFill>
          <a:ln w="15875">
            <a:solidFill>
              <a:srgbClr val="FBF9F4"/>
            </a:solidFill>
            <a:prstDash val="solid"/>
          </a:ln>
        </p:spPr>
      </p:sp>
      <p:sp>
        <p:nvSpPr>
          <p:cNvPr id="22" name="Text 17"/>
          <p:cNvSpPr txBox="1"/>
          <p:nvPr/>
        </p:nvSpPr>
        <p:spPr>
          <a:xfrm>
            <a:off x="9269181" y="2651497"/>
            <a:ext cx="25603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3</a:t>
            </a:r>
            <a:endParaRPr lang="en-US" sz="950" dirty="0"/>
          </a:p>
        </p:txBody>
      </p:sp>
      <p:sp>
        <p:nvSpPr>
          <p:cNvPr id="23" name="S7_c4"/>
          <p:cNvSpPr/>
          <p:nvPr/>
        </p:nvSpPr>
        <p:spPr>
          <a:xfrm>
            <a:off x="7858354" y="2525636"/>
            <a:ext cx="256032" cy="256032"/>
          </a:xfrm>
          <a:prstGeom prst="ellipse">
            <a:avLst/>
          </a:prstGeom>
          <a:solidFill>
            <a:srgbClr val="B4642F"/>
          </a:solidFill>
          <a:ln w="15875">
            <a:solidFill>
              <a:srgbClr val="FBF9F4"/>
            </a:solidFill>
            <a:prstDash val="solid"/>
          </a:ln>
        </p:spPr>
      </p:sp>
      <p:sp>
        <p:nvSpPr>
          <p:cNvPr id="24" name="Text 19"/>
          <p:cNvSpPr txBox="1"/>
          <p:nvPr/>
        </p:nvSpPr>
        <p:spPr>
          <a:xfrm>
            <a:off x="7858354" y="2525636"/>
            <a:ext cx="25603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4</a:t>
            </a:r>
            <a:endParaRPr lang="en-US" sz="950" dirty="0"/>
          </a:p>
        </p:txBody>
      </p:sp>
      <p:sp>
        <p:nvSpPr>
          <p:cNvPr id="25" name="Text 20"/>
          <p:cNvSpPr txBox="1"/>
          <p:nvPr/>
        </p:nvSpPr>
        <p:spPr>
          <a:xfrm>
            <a:off x="6565392" y="5094134"/>
            <a:ext cx="5074920" cy="182880"/>
          </a:xfrm>
          <a:prstGeom prst="rect">
            <a:avLst/>
          </a:prstGeom>
          <a:noFill/>
          <a:ln/>
        </p:spPr>
        <p:txBody>
          <a:bodyPr wrap="square" lIns="0" tIns="0" rIns="0" bIns="0" rtlCol="0" anchor="t"/>
          <a:lstStyle/>
          <a:p>
            <a:pPr marL="0" indent="0">
              <a:buNone/>
            </a:pPr>
            <a:r>
              <a:rPr lang="en-US" sz="900" b="1" dirty="0">
                <a:solidFill>
                  <a:srgbClr val="B4642F"/>
                </a:solidFill>
                <a:latin typeface="Segoe UI" pitchFamily="34" charset="0"/>
                <a:ea typeface="Segoe UI" pitchFamily="34" charset="-122"/>
                <a:cs typeface="Segoe UI" pitchFamily="34" charset="-120"/>
              </a:rPr>
              <a:t>1</a:t>
            </a:r>
            <a:r>
              <a:rPr lang="en-US" sz="900" dirty="0">
                <a:solidFill>
                  <a:srgbClr val="3A4A66"/>
                </a:solidFill>
                <a:latin typeface="Segoe UI" pitchFamily="34" charset="0"/>
                <a:ea typeface="Segoe UI" pitchFamily="34" charset="-122"/>
                <a:cs typeface="Segoe UI" pitchFamily="34" charset="-120"/>
              </a:rPr>
              <a:t> reassignment   </a:t>
            </a:r>
            <a:r>
              <a:rPr lang="en-US" sz="900" b="1" dirty="0">
                <a:solidFill>
                  <a:srgbClr val="B4642F"/>
                </a:solidFill>
                <a:latin typeface="Segoe UI" pitchFamily="34" charset="0"/>
                <a:ea typeface="Segoe UI" pitchFamily="34" charset="-122"/>
                <a:cs typeface="Segoe UI" pitchFamily="34" charset="-120"/>
              </a:rPr>
              <a:t>2</a:t>
            </a:r>
            <a:r>
              <a:rPr lang="en-US" sz="900" dirty="0">
                <a:solidFill>
                  <a:srgbClr val="3A4A66"/>
                </a:solidFill>
                <a:latin typeface="Segoe UI" pitchFamily="34" charset="0"/>
                <a:ea typeface="Segoe UI" pitchFamily="34" charset="-122"/>
                <a:cs typeface="Segoe UI" pitchFamily="34" charset="-120"/>
              </a:rPr>
              <a:t> outage constraint   </a:t>
            </a:r>
            <a:r>
              <a:rPr lang="en-US" sz="900" b="1" dirty="0">
                <a:solidFill>
                  <a:srgbClr val="B4642F"/>
                </a:solidFill>
                <a:latin typeface="Segoe UI" pitchFamily="34" charset="0"/>
                <a:ea typeface="Segoe UI" pitchFamily="34" charset="-122"/>
                <a:cs typeface="Segoe UI" pitchFamily="34" charset="-120"/>
              </a:rPr>
              <a:t>3</a:t>
            </a:r>
            <a:r>
              <a:rPr lang="en-US" sz="900" dirty="0">
                <a:solidFill>
                  <a:srgbClr val="3A4A66"/>
                </a:solidFill>
                <a:latin typeface="Segoe UI" pitchFamily="34" charset="0"/>
                <a:ea typeface="Segoe UI" pitchFamily="34" charset="-122"/>
                <a:cs typeface="Segoe UI" pitchFamily="34" charset="-120"/>
              </a:rPr>
              <a:t> re-sequenced (wait change)   </a:t>
            </a:r>
            <a:r>
              <a:rPr lang="en-US" sz="900" b="1" dirty="0">
                <a:solidFill>
                  <a:srgbClr val="B4642F"/>
                </a:solidFill>
                <a:latin typeface="Segoe UI" pitchFamily="34" charset="0"/>
                <a:ea typeface="Segoe UI" pitchFamily="34" charset="-122"/>
                <a:cs typeface="Segoe UI" pitchFamily="34" charset="-120"/>
              </a:rPr>
              <a:t>4</a:t>
            </a:r>
            <a:r>
              <a:rPr lang="en-US" sz="900" dirty="0">
                <a:solidFill>
                  <a:srgbClr val="3A4A66"/>
                </a:solidFill>
                <a:latin typeface="Segoe UI" pitchFamily="34" charset="0"/>
                <a:ea typeface="Segoe UI" pitchFamily="34" charset="-122"/>
                <a:cs typeface="Segoe UI" pitchFamily="34" charset="-120"/>
              </a:rPr>
              <a:t> remaining delay</a:t>
            </a:r>
            <a:endParaRPr lang="en-US" sz="900" dirty="0"/>
          </a:p>
        </p:txBody>
      </p:sp>
      <p:sp>
        <p:nvSpPr>
          <p:cNvPr id="26" name="Shape 21"/>
          <p:cNvSpPr/>
          <p:nvPr/>
        </p:nvSpPr>
        <p:spPr>
          <a:xfrm>
            <a:off x="548640" y="5321808"/>
            <a:ext cx="7315200" cy="914400"/>
          </a:xfrm>
          <a:prstGeom prst="roundRect">
            <a:avLst>
              <a:gd name="adj" fmla="val 7000"/>
            </a:avLst>
          </a:prstGeom>
          <a:solidFill>
            <a:srgbClr val="FBF9F4"/>
          </a:solidFill>
          <a:ln w="9525">
            <a:solidFill>
              <a:srgbClr val="DDD5C3"/>
            </a:solidFill>
            <a:prstDash val="solid"/>
          </a:ln>
        </p:spPr>
      </p:sp>
      <p:sp>
        <p:nvSpPr>
          <p:cNvPr id="27" name="Text 22"/>
          <p:cNvSpPr txBox="1"/>
          <p:nvPr/>
        </p:nvSpPr>
        <p:spPr>
          <a:xfrm>
            <a:off x="731520" y="5376672"/>
            <a:ext cx="6949440" cy="182880"/>
          </a:xfrm>
          <a:prstGeom prst="rect">
            <a:avLst/>
          </a:prstGeom>
          <a:noFill/>
          <a:ln/>
        </p:spPr>
        <p:txBody>
          <a:bodyPr wrap="square" lIns="0" tIns="0" rIns="0" bIns="0" rtlCol="0" anchor="t"/>
          <a:lstStyle/>
          <a:p>
            <a:pPr marL="0" indent="0">
              <a:buNone/>
            </a:pPr>
            <a:r>
              <a:rPr lang="en-US" sz="850" kern="0" spc="100" dirty="0">
                <a:solidFill>
                  <a:srgbClr val="B4642F"/>
                </a:solidFill>
                <a:latin typeface="Consolas" pitchFamily="34" charset="0"/>
                <a:ea typeface="Consolas" pitchFamily="34" charset="-122"/>
                <a:cs typeface="Consolas" pitchFamily="34" charset="-120"/>
              </a:rPr>
              <a:t>ONE REAL MOVE · J-036 ON GP-3 · START 12:18 → 11:57 · −45 MIN WAIT</a:t>
            </a:r>
            <a:endParaRPr lang="en-US" sz="850" dirty="0"/>
          </a:p>
        </p:txBody>
      </p:sp>
      <p:sp>
        <p:nvSpPr>
          <p:cNvPr id="28" name="Shape 23"/>
          <p:cNvSpPr/>
          <p:nvPr/>
        </p:nvSpPr>
        <p:spPr>
          <a:xfrm>
            <a:off x="1371600" y="6025896"/>
            <a:ext cx="6126480" cy="0"/>
          </a:xfrm>
          <a:prstGeom prst="line">
            <a:avLst/>
          </a:prstGeom>
          <a:noFill/>
          <a:ln w="12700">
            <a:solidFill>
              <a:srgbClr val="CBC2AB"/>
            </a:solidFill>
            <a:prstDash val="solid"/>
          </a:ln>
        </p:spPr>
      </p:sp>
      <p:sp>
        <p:nvSpPr>
          <p:cNvPr id="29" name="Shape 24"/>
          <p:cNvSpPr/>
          <p:nvPr/>
        </p:nvSpPr>
        <p:spPr>
          <a:xfrm>
            <a:off x="1371600" y="5989320"/>
            <a:ext cx="0" cy="73152"/>
          </a:xfrm>
          <a:prstGeom prst="line">
            <a:avLst/>
          </a:prstGeom>
          <a:noFill/>
          <a:ln w="12700">
            <a:solidFill>
              <a:srgbClr val="A39C88"/>
            </a:solidFill>
            <a:prstDash val="solid"/>
          </a:ln>
        </p:spPr>
      </p:sp>
      <p:sp>
        <p:nvSpPr>
          <p:cNvPr id="30" name="Text 25"/>
          <p:cNvSpPr txBox="1"/>
          <p:nvPr/>
        </p:nvSpPr>
        <p:spPr>
          <a:xfrm>
            <a:off x="1097280" y="6071616"/>
            <a:ext cx="548640" cy="137160"/>
          </a:xfrm>
          <a:prstGeom prst="rect">
            <a:avLst/>
          </a:prstGeom>
          <a:noFill/>
          <a:ln/>
        </p:spPr>
        <p:txBody>
          <a:bodyPr wrap="square" lIns="0" tIns="0" rIns="0" bIns="0" rtlCol="0" anchor="t"/>
          <a:lstStyle/>
          <a:p>
            <a:pPr marL="0" indent="0" algn="ctr">
              <a:buNone/>
            </a:pPr>
            <a:r>
              <a:rPr lang="en-US" sz="750" dirty="0">
                <a:solidFill>
                  <a:srgbClr val="7B7566"/>
                </a:solidFill>
                <a:latin typeface="Consolas" pitchFamily="34" charset="0"/>
                <a:ea typeface="Consolas" pitchFamily="34" charset="-122"/>
                <a:cs typeface="Consolas" pitchFamily="34" charset="-120"/>
              </a:rPr>
              <a:t>11:45</a:t>
            </a:r>
            <a:endParaRPr lang="en-US" sz="750" dirty="0"/>
          </a:p>
        </p:txBody>
      </p:sp>
      <p:sp>
        <p:nvSpPr>
          <p:cNvPr id="31" name="Shape 26"/>
          <p:cNvSpPr/>
          <p:nvPr/>
        </p:nvSpPr>
        <p:spPr>
          <a:xfrm>
            <a:off x="3413760" y="5989320"/>
            <a:ext cx="0" cy="73152"/>
          </a:xfrm>
          <a:prstGeom prst="line">
            <a:avLst/>
          </a:prstGeom>
          <a:noFill/>
          <a:ln w="12700">
            <a:solidFill>
              <a:srgbClr val="A39C88"/>
            </a:solidFill>
            <a:prstDash val="solid"/>
          </a:ln>
        </p:spPr>
      </p:sp>
      <p:sp>
        <p:nvSpPr>
          <p:cNvPr id="32" name="Text 27"/>
          <p:cNvSpPr txBox="1"/>
          <p:nvPr/>
        </p:nvSpPr>
        <p:spPr>
          <a:xfrm>
            <a:off x="3139440" y="6071616"/>
            <a:ext cx="548640" cy="137160"/>
          </a:xfrm>
          <a:prstGeom prst="rect">
            <a:avLst/>
          </a:prstGeom>
          <a:noFill/>
          <a:ln/>
        </p:spPr>
        <p:txBody>
          <a:bodyPr wrap="square" lIns="0" tIns="0" rIns="0" bIns="0" rtlCol="0" anchor="t"/>
          <a:lstStyle/>
          <a:p>
            <a:pPr marL="0" indent="0" algn="ctr">
              <a:buNone/>
            </a:pPr>
            <a:r>
              <a:rPr lang="en-US" sz="750" dirty="0">
                <a:solidFill>
                  <a:srgbClr val="7B7566"/>
                </a:solidFill>
                <a:latin typeface="Consolas" pitchFamily="34" charset="0"/>
                <a:ea typeface="Consolas" pitchFamily="34" charset="-122"/>
                <a:cs typeface="Consolas" pitchFamily="34" charset="-120"/>
              </a:rPr>
              <a:t>12:00</a:t>
            </a:r>
            <a:endParaRPr lang="en-US" sz="750" dirty="0"/>
          </a:p>
        </p:txBody>
      </p:sp>
      <p:sp>
        <p:nvSpPr>
          <p:cNvPr id="33" name="Shape 28"/>
          <p:cNvSpPr/>
          <p:nvPr/>
        </p:nvSpPr>
        <p:spPr>
          <a:xfrm>
            <a:off x="5455920" y="5989320"/>
            <a:ext cx="0" cy="73152"/>
          </a:xfrm>
          <a:prstGeom prst="line">
            <a:avLst/>
          </a:prstGeom>
          <a:noFill/>
          <a:ln w="12700">
            <a:solidFill>
              <a:srgbClr val="A39C88"/>
            </a:solidFill>
            <a:prstDash val="solid"/>
          </a:ln>
        </p:spPr>
      </p:sp>
      <p:sp>
        <p:nvSpPr>
          <p:cNvPr id="34" name="Text 29"/>
          <p:cNvSpPr txBox="1"/>
          <p:nvPr/>
        </p:nvSpPr>
        <p:spPr>
          <a:xfrm>
            <a:off x="5181600" y="6071616"/>
            <a:ext cx="548640" cy="137160"/>
          </a:xfrm>
          <a:prstGeom prst="rect">
            <a:avLst/>
          </a:prstGeom>
          <a:noFill/>
          <a:ln/>
        </p:spPr>
        <p:txBody>
          <a:bodyPr wrap="square" lIns="0" tIns="0" rIns="0" bIns="0" rtlCol="0" anchor="t"/>
          <a:lstStyle/>
          <a:p>
            <a:pPr marL="0" indent="0" algn="ctr">
              <a:buNone/>
            </a:pPr>
            <a:r>
              <a:rPr lang="en-US" sz="750" dirty="0">
                <a:solidFill>
                  <a:srgbClr val="7B7566"/>
                </a:solidFill>
                <a:latin typeface="Consolas" pitchFamily="34" charset="0"/>
                <a:ea typeface="Consolas" pitchFamily="34" charset="-122"/>
                <a:cs typeface="Consolas" pitchFamily="34" charset="-120"/>
              </a:rPr>
              <a:t>12:15</a:t>
            </a:r>
            <a:endParaRPr lang="en-US" sz="750" dirty="0"/>
          </a:p>
        </p:txBody>
      </p:sp>
      <p:sp>
        <p:nvSpPr>
          <p:cNvPr id="35" name="Shape 30"/>
          <p:cNvSpPr/>
          <p:nvPr/>
        </p:nvSpPr>
        <p:spPr>
          <a:xfrm>
            <a:off x="7498080" y="5989320"/>
            <a:ext cx="0" cy="73152"/>
          </a:xfrm>
          <a:prstGeom prst="line">
            <a:avLst/>
          </a:prstGeom>
          <a:noFill/>
          <a:ln w="12700">
            <a:solidFill>
              <a:srgbClr val="A39C88"/>
            </a:solidFill>
            <a:prstDash val="solid"/>
          </a:ln>
        </p:spPr>
      </p:sp>
      <p:sp>
        <p:nvSpPr>
          <p:cNvPr id="36" name="Text 31"/>
          <p:cNvSpPr txBox="1"/>
          <p:nvPr/>
        </p:nvSpPr>
        <p:spPr>
          <a:xfrm>
            <a:off x="7223760" y="6071616"/>
            <a:ext cx="548640" cy="137160"/>
          </a:xfrm>
          <a:prstGeom prst="rect">
            <a:avLst/>
          </a:prstGeom>
          <a:noFill/>
          <a:ln/>
        </p:spPr>
        <p:txBody>
          <a:bodyPr wrap="square" lIns="0" tIns="0" rIns="0" bIns="0" rtlCol="0" anchor="t"/>
          <a:lstStyle/>
          <a:p>
            <a:pPr marL="0" indent="0" algn="ctr">
              <a:buNone/>
            </a:pPr>
            <a:r>
              <a:rPr lang="en-US" sz="750" dirty="0">
                <a:solidFill>
                  <a:srgbClr val="7B7566"/>
                </a:solidFill>
                <a:latin typeface="Consolas" pitchFamily="34" charset="0"/>
                <a:ea typeface="Consolas" pitchFamily="34" charset="-122"/>
                <a:cs typeface="Consolas" pitchFamily="34" charset="-120"/>
              </a:rPr>
              <a:t>12:30</a:t>
            </a:r>
            <a:endParaRPr lang="en-US" sz="750" dirty="0"/>
          </a:p>
        </p:txBody>
      </p:sp>
      <p:sp>
        <p:nvSpPr>
          <p:cNvPr id="37" name="Text 32"/>
          <p:cNvSpPr txBox="1"/>
          <p:nvPr/>
        </p:nvSpPr>
        <p:spPr>
          <a:xfrm>
            <a:off x="731520" y="5733288"/>
            <a:ext cx="548640" cy="182880"/>
          </a:xfrm>
          <a:prstGeom prst="rect">
            <a:avLst/>
          </a:prstGeom>
          <a:noFill/>
          <a:ln/>
        </p:spPr>
        <p:txBody>
          <a:bodyPr wrap="square" lIns="0" tIns="0" rIns="0" bIns="0" rtlCol="0" anchor="t"/>
          <a:lstStyle/>
          <a:p>
            <a:pPr marL="0" indent="0">
              <a:buNone/>
            </a:pPr>
            <a:r>
              <a:rPr lang="en-US" sz="850" b="1" dirty="0">
                <a:solidFill>
                  <a:srgbClr val="15233B"/>
                </a:solidFill>
                <a:latin typeface="Consolas" pitchFamily="34" charset="0"/>
                <a:ea typeface="Consolas" pitchFamily="34" charset="-122"/>
                <a:cs typeface="Consolas" pitchFamily="34" charset="-120"/>
              </a:rPr>
              <a:t>GP-3</a:t>
            </a:r>
            <a:endParaRPr lang="en-US" sz="850" dirty="0"/>
          </a:p>
        </p:txBody>
      </p:sp>
      <p:sp>
        <p:nvSpPr>
          <p:cNvPr id="38" name="Text 33"/>
          <p:cNvSpPr txBox="1"/>
          <p:nvPr/>
        </p:nvSpPr>
        <p:spPr>
          <a:xfrm>
            <a:off x="2639568" y="5577840"/>
            <a:ext cx="731520" cy="128016"/>
          </a:xfrm>
          <a:prstGeom prst="rect">
            <a:avLst/>
          </a:prstGeom>
          <a:noFill/>
          <a:ln/>
        </p:spPr>
        <p:txBody>
          <a:bodyPr wrap="square" lIns="0" tIns="0" rIns="0" bIns="0" rtlCol="0" anchor="t"/>
          <a:lstStyle/>
          <a:p>
            <a:pPr marL="0" indent="0" algn="ctr">
              <a:buNone/>
            </a:pPr>
            <a:r>
              <a:rPr lang="en-US" sz="800" dirty="0">
                <a:solidFill>
                  <a:srgbClr val="1F7B78"/>
                </a:solidFill>
                <a:latin typeface="Consolas" pitchFamily="34" charset="0"/>
                <a:ea typeface="Consolas" pitchFamily="34" charset="-122"/>
                <a:cs typeface="Consolas" pitchFamily="34" charset="-120"/>
              </a:rPr>
              <a:t>11:57</a:t>
            </a:r>
            <a:endParaRPr lang="en-US" sz="800" dirty="0"/>
          </a:p>
        </p:txBody>
      </p:sp>
      <p:sp>
        <p:nvSpPr>
          <p:cNvPr id="39" name="S7_target"/>
          <p:cNvSpPr/>
          <p:nvPr/>
        </p:nvSpPr>
        <p:spPr>
          <a:xfrm>
            <a:off x="2639568" y="5705856"/>
            <a:ext cx="731520" cy="256032"/>
          </a:xfrm>
          <a:prstGeom prst="roundRect">
            <a:avLst>
              <a:gd name="adj" fmla="val 14286"/>
            </a:avLst>
          </a:prstGeom>
          <a:ln w="15875">
            <a:solidFill>
              <a:srgbClr val="1F7B78"/>
            </a:solidFill>
            <a:prstDash val="dash"/>
          </a:ln>
        </p:spPr>
      </p:sp>
      <p:sp>
        <p:nvSpPr>
          <p:cNvPr id="40" name="Text 35"/>
          <p:cNvSpPr txBox="1"/>
          <p:nvPr/>
        </p:nvSpPr>
        <p:spPr>
          <a:xfrm>
            <a:off x="5498592" y="5577840"/>
            <a:ext cx="731520" cy="128016"/>
          </a:xfrm>
          <a:prstGeom prst="rect">
            <a:avLst/>
          </a:prstGeom>
          <a:noFill/>
          <a:ln/>
        </p:spPr>
        <p:txBody>
          <a:bodyPr wrap="square" lIns="0" tIns="0" rIns="0" bIns="0" rtlCol="0" anchor="t"/>
          <a:lstStyle/>
          <a:p>
            <a:pPr marL="0" indent="0" algn="ctr">
              <a:buNone/>
            </a:pPr>
            <a:r>
              <a:rPr lang="en-US" sz="800" dirty="0">
                <a:solidFill>
                  <a:srgbClr val="7B7566"/>
                </a:solidFill>
                <a:latin typeface="Consolas" pitchFamily="34" charset="0"/>
                <a:ea typeface="Consolas" pitchFamily="34" charset="-122"/>
                <a:cs typeface="Consolas" pitchFamily="34" charset="-120"/>
              </a:rPr>
              <a:t>12:18</a:t>
            </a:r>
            <a:endParaRPr lang="en-US" sz="800" dirty="0"/>
          </a:p>
        </p:txBody>
      </p:sp>
      <p:grpSp>
        <p:nvGrpSpPr>
          <p:cNvPr id="51" name="S7_chipgroup">
            <a:extLst>
              <a:ext uri="{FF2B5EF4-FFF2-40B4-BE49-F238E27FC236}">
                <a16:creationId xmlns:a16="http://schemas.microsoft.com/office/drawing/2014/main" id="{78F2B29D-EBC8-39A4-2A98-1A045D0FF64B}"/>
              </a:ext>
            </a:extLst>
          </p:cNvPr>
          <p:cNvGrpSpPr/>
          <p:nvPr/>
        </p:nvGrpSpPr>
        <p:grpSpPr>
          <a:xfrm>
            <a:off x="5498592" y="5705856"/>
            <a:ext cx="731520" cy="256032"/>
            <a:chOff x="5498592" y="5705856"/>
            <a:chExt cx="731520" cy="256032"/>
          </a:xfrm>
        </p:grpSpPr>
        <p:sp>
          <p:nvSpPr>
            <p:cNvPr id="41" name="S7_chip"/>
            <p:cNvSpPr/>
            <p:nvPr/>
          </p:nvSpPr>
          <p:spPr>
            <a:xfrm>
              <a:off x="5498592" y="5705856"/>
              <a:ext cx="731520" cy="256032"/>
            </a:xfrm>
            <a:prstGeom prst="roundRect">
              <a:avLst>
                <a:gd name="adj" fmla="val 14286"/>
              </a:avLst>
            </a:prstGeom>
            <a:solidFill>
              <a:srgbClr val="1B2D4D"/>
            </a:solidFill>
            <a:ln w="12700">
              <a:solidFill>
                <a:srgbClr val="1B2D4D"/>
              </a:solidFill>
              <a:prstDash val="solid"/>
            </a:ln>
          </p:spPr>
        </p:sp>
        <p:sp>
          <p:nvSpPr>
            <p:cNvPr id="42" name="S7_chiptext"/>
            <p:cNvSpPr txBox="1"/>
            <p:nvPr/>
          </p:nvSpPr>
          <p:spPr>
            <a:xfrm>
              <a:off x="5498592" y="5705856"/>
              <a:ext cx="73152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J-036</a:t>
              </a:r>
              <a:endParaRPr lang="en-US" sz="950" dirty="0"/>
            </a:p>
          </p:txBody>
        </p:sp>
      </p:grpSp>
      <p:sp>
        <p:nvSpPr>
          <p:cNvPr id="43" name="Shape 38"/>
          <p:cNvSpPr/>
          <p:nvPr/>
        </p:nvSpPr>
        <p:spPr>
          <a:xfrm>
            <a:off x="8046720" y="5321808"/>
            <a:ext cx="3593592" cy="914400"/>
          </a:xfrm>
          <a:prstGeom prst="roundRect">
            <a:avLst>
              <a:gd name="adj" fmla="val 7000"/>
            </a:avLst>
          </a:prstGeom>
          <a:solidFill>
            <a:srgbClr val="FBF9F4"/>
          </a:solidFill>
          <a:ln w="9525">
            <a:solidFill>
              <a:srgbClr val="DDD5C3"/>
            </a:solidFill>
            <a:prstDash val="solid"/>
          </a:ln>
        </p:spPr>
      </p:sp>
      <p:sp>
        <p:nvSpPr>
          <p:cNvPr id="44" name="Text 39"/>
          <p:cNvSpPr txBox="1"/>
          <p:nvPr/>
        </p:nvSpPr>
        <p:spPr>
          <a:xfrm>
            <a:off x="8183880" y="5376672"/>
            <a:ext cx="3383280" cy="182880"/>
          </a:xfrm>
          <a:prstGeom prst="rect">
            <a:avLst/>
          </a:prstGeom>
          <a:noFill/>
          <a:ln/>
        </p:spPr>
        <p:txBody>
          <a:bodyPr wrap="square" lIns="0" tIns="0" rIns="0" bIns="0" rtlCol="0" anchor="t"/>
          <a:lstStyle/>
          <a:p>
            <a:pPr marL="0" indent="0">
              <a:buNone/>
            </a:pPr>
            <a:r>
              <a:rPr lang="en-US" sz="700" dirty="0">
                <a:solidFill>
                  <a:srgbClr val="B4642F"/>
                </a:solidFill>
                <a:latin typeface="Consolas" pitchFamily="34" charset="0"/>
                <a:ea typeface="Consolas" pitchFamily="34" charset="-122"/>
                <a:cs typeface="Consolas" pitchFamily="34" charset="-120"/>
              </a:rPr>
              <a:t>DECISION CONTROLS · NOTHING APPLIES UNTIL A PERSON CHOOSES</a:t>
            </a:r>
            <a:endParaRPr lang="en-US" sz="700" dirty="0"/>
          </a:p>
        </p:txBody>
      </p:sp>
      <p:sp>
        <p:nvSpPr>
          <p:cNvPr id="45" name="Shape 40"/>
          <p:cNvSpPr/>
          <p:nvPr/>
        </p:nvSpPr>
        <p:spPr>
          <a:xfrm>
            <a:off x="8183880" y="5614416"/>
            <a:ext cx="1920240" cy="310896"/>
          </a:xfrm>
          <a:prstGeom prst="roundRect">
            <a:avLst>
              <a:gd name="adj" fmla="val 14706"/>
            </a:avLst>
          </a:prstGeom>
          <a:solidFill>
            <a:srgbClr val="1B2D4D"/>
          </a:solidFill>
          <a:ln/>
        </p:spPr>
      </p:sp>
      <p:sp>
        <p:nvSpPr>
          <p:cNvPr id="46" name="Text 41"/>
          <p:cNvSpPr txBox="1"/>
          <p:nvPr/>
        </p:nvSpPr>
        <p:spPr>
          <a:xfrm>
            <a:off x="8183880" y="5614416"/>
            <a:ext cx="19202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Segoe UI" pitchFamily="34" charset="0"/>
                <a:ea typeface="Segoe UI" pitchFamily="34" charset="-122"/>
                <a:cs typeface="Segoe UI" pitchFamily="34" charset="-120"/>
              </a:rPr>
              <a:t>Accept in the simulation</a:t>
            </a:r>
            <a:endParaRPr lang="en-US" sz="1000" dirty="0"/>
          </a:p>
        </p:txBody>
      </p:sp>
      <p:sp>
        <p:nvSpPr>
          <p:cNvPr id="47" name="Shape 42"/>
          <p:cNvSpPr/>
          <p:nvPr/>
        </p:nvSpPr>
        <p:spPr>
          <a:xfrm>
            <a:off x="10195560" y="5614416"/>
            <a:ext cx="731520" cy="310896"/>
          </a:xfrm>
          <a:prstGeom prst="roundRect">
            <a:avLst>
              <a:gd name="adj" fmla="val 14706"/>
            </a:avLst>
          </a:prstGeom>
          <a:solidFill>
            <a:srgbClr val="FBF9F4"/>
          </a:solidFill>
          <a:ln w="9525">
            <a:solidFill>
              <a:srgbClr val="CBC2AB"/>
            </a:solidFill>
            <a:prstDash val="solid"/>
          </a:ln>
        </p:spPr>
      </p:sp>
      <p:sp>
        <p:nvSpPr>
          <p:cNvPr id="48" name="Text 43"/>
          <p:cNvSpPr txBox="1"/>
          <p:nvPr/>
        </p:nvSpPr>
        <p:spPr>
          <a:xfrm>
            <a:off x="10195560" y="5614416"/>
            <a:ext cx="731520" cy="310896"/>
          </a:xfrm>
          <a:prstGeom prst="rect">
            <a:avLst/>
          </a:prstGeom>
          <a:noFill/>
          <a:ln/>
        </p:spPr>
        <p:txBody>
          <a:bodyPr wrap="square" lIns="0" tIns="0" rIns="0" bIns="0" rtlCol="0" anchor="ctr"/>
          <a:lstStyle/>
          <a:p>
            <a:pPr marL="0" indent="0" algn="ctr">
              <a:buNone/>
            </a:pPr>
            <a:r>
              <a:rPr lang="en-US" sz="1000" dirty="0">
                <a:solidFill>
                  <a:srgbClr val="15233B"/>
                </a:solidFill>
                <a:latin typeface="Segoe UI" pitchFamily="34" charset="0"/>
                <a:ea typeface="Segoe UI" pitchFamily="34" charset="-122"/>
                <a:cs typeface="Segoe UI" pitchFamily="34" charset="-120"/>
              </a:rPr>
              <a:t>Reject</a:t>
            </a:r>
            <a:endParaRPr lang="en-US" sz="1000" dirty="0"/>
          </a:p>
        </p:txBody>
      </p:sp>
      <p:sp>
        <p:nvSpPr>
          <p:cNvPr id="49" name="Text 44"/>
          <p:cNvSpPr txBox="1"/>
          <p:nvPr/>
        </p:nvSpPr>
        <p:spPr>
          <a:xfrm>
            <a:off x="8183880" y="5980176"/>
            <a:ext cx="3383280" cy="201168"/>
          </a:xfrm>
          <a:prstGeom prst="rect">
            <a:avLst/>
          </a:prstGeom>
          <a:noFill/>
          <a:ln/>
        </p:spPr>
        <p:txBody>
          <a:bodyPr wrap="square" lIns="0" tIns="0" rIns="0" bIns="0" rtlCol="0" anchor="t"/>
          <a:lstStyle/>
          <a:p>
            <a:pPr marL="0" indent="0">
              <a:buNone/>
            </a:pPr>
            <a:r>
              <a:rPr lang="en-US" sz="900" i="1" dirty="0">
                <a:solidFill>
                  <a:srgbClr val="3A4A66"/>
                </a:solidFill>
                <a:latin typeface="Segoe UI" pitchFamily="34" charset="0"/>
                <a:ea typeface="Segoe UI" pitchFamily="34" charset="-122"/>
                <a:cs typeface="Segoe UI" pitchFamily="34" charset="-120"/>
              </a:rPr>
              <a:t>Heuristic search: no guarantee of a global optimum.</a:t>
            </a:r>
            <a:endParaRPr lang="en-US" sz="900" dirty="0"/>
          </a:p>
        </p:txBody>
      </p:sp>
      <p:sp>
        <p:nvSpPr>
          <p:cNvPr id="50" name="Text 45"/>
          <p:cNvSpPr txBox="1"/>
          <p:nvPr/>
        </p:nvSpPr>
        <p:spPr>
          <a:xfrm>
            <a:off x="548640" y="6281928"/>
            <a:ext cx="11064240" cy="256032"/>
          </a:xfrm>
          <a:prstGeom prst="rect">
            <a:avLst/>
          </a:prstGeom>
          <a:noFill/>
          <a:ln/>
        </p:spPr>
        <p:txBody>
          <a:bodyPr wrap="square" lIns="0" tIns="0" rIns="0" bIns="0" rtlCol="0" anchor="t"/>
          <a:lstStyle/>
          <a:p>
            <a:pPr marL="0" indent="0">
              <a:buNone/>
            </a:pPr>
            <a:r>
              <a:rPr lang="en-US" sz="850" dirty="0">
                <a:solidFill>
                  <a:srgbClr val="7B7566"/>
                </a:solidFill>
                <a:latin typeface="Segoe UI" pitchFamily="34" charset="0"/>
                <a:ea typeface="Segoe UI" pitchFamily="34" charset="-122"/>
                <a:cs typeface="Segoe UI" pitchFamily="34" charset="-120"/>
              </a:rPr>
              <a:t>Source: SAYR Reflow Studio and Action Desk, seed 7, staff scenario, plan captured at 10:50, objective "Fewest waiting minutes". Planned values use booked lengths; the Ledger measures the realised result.</a:t>
            </a:r>
            <a:endParaRPr lang="en-US" sz="850" dirty="0"/>
          </a:p>
        </p:txBody>
      </p:sp>
      <p:sp>
        <p:nvSpPr>
          <p:cNvPr id="4" name="Slide Number Placeholder 0"/>
          <p:cNvSpPr>
            <a:spLocks noGrp="1"/>
          </p:cNvSpPr>
          <p:nvPr>
            <p:ph type="sldNum" sz="quarter" idx="4294967295"/>
          </p:nvPr>
        </p:nvSpPr>
        <p:spPr>
          <a:xfrm>
            <a:off x="11064240" y="6492240"/>
            <a:ext cx="576072"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B7566"/>
                </a:solidFill>
                <a:latin typeface="Consolas"/>
                <a:ea typeface="Consolas"/>
                <a:cs typeface="Consolas"/>
              </a:defRPr>
            </a:lvl1pPr>
          </a:lstStyle>
          <a:p>
            <a:pPr algn="r"/>
            <a:fld id="{F7021451-1387-4CA6-816F-3879F97B5CBC}" type="slidenum">
              <a:rPr lang="en-US" b="0"/>
              <a:t>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300"/>
                                        <p:tgtEl>
                                          <p:spTgt spid="17"/>
                                        </p:tgtEl>
                                      </p:cBhvr>
                                    </p:animEffect>
                                  </p:childTnLst>
                                </p:cTn>
                              </p:par>
                            </p:childTnLst>
                          </p:cTn>
                        </p:par>
                        <p:par>
                          <p:cTn id="8" fill="hold">
                            <p:stCondLst>
                              <p:cond delay="300"/>
                            </p:stCondLst>
                            <p:childTnLst>
                              <p:par>
                                <p:cTn id="9" presetID="10" presetClass="entr" presetSubtype="0"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300"/>
                                        <p:tgtEl>
                                          <p:spTgt spid="19"/>
                                        </p:tgtEl>
                                      </p:cBhvr>
                                    </p:animEffect>
                                  </p:childTnLst>
                                </p:cTn>
                              </p:par>
                            </p:childTnLst>
                          </p:cTn>
                        </p:par>
                        <p:par>
                          <p:cTn id="12" fill="hold">
                            <p:stCondLst>
                              <p:cond delay="6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300"/>
                                        <p:tgtEl>
                                          <p:spTgt spid="21"/>
                                        </p:tgtEl>
                                      </p:cBhvr>
                                    </p:animEffect>
                                  </p:childTnLst>
                                </p:cTn>
                              </p:par>
                            </p:childTnLst>
                          </p:cTn>
                        </p:par>
                        <p:par>
                          <p:cTn id="16" fill="hold">
                            <p:stCondLst>
                              <p:cond delay="900"/>
                            </p:stCondLst>
                            <p:childTnLst>
                              <p:par>
                                <p:cTn id="17" presetID="10" presetClass="entr" presetSubtype="0" fill="hold"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300"/>
                                        <p:tgtEl>
                                          <p:spTgt spid="23"/>
                                        </p:tgtEl>
                                      </p:cBhvr>
                                    </p:animEffect>
                                  </p:childTnLst>
                                </p:cTn>
                              </p:par>
                            </p:childTnLst>
                          </p:cTn>
                        </p:par>
                        <p:par>
                          <p:cTn id="20" fill="hold">
                            <p:stCondLst>
                              <p:cond delay="1200"/>
                            </p:stCondLst>
                            <p:childTnLst>
                              <p:par>
                                <p:cTn id="21" presetID="0" presetClass="entr" presetSubtype="0" fill="hold" nodeType="afterEffect">
                                  <p:stCondLst>
                                    <p:cond delay="400"/>
                                  </p:stCondLst>
                                  <p:childTnLst>
                                    <p:set>
                                      <p:cBhvr>
                                        <p:cTn id="22" dur="1" fill="hold">
                                          <p:stCondLst>
                                            <p:cond delay="0"/>
                                          </p:stCondLst>
                                        </p:cTn>
                                        <p:tgtEl>
                                          <p:spTgt spid="51"/>
                                        </p:tgtEl>
                                        <p:attrNameLst>
                                          <p:attrName>style.visibility</p:attrName>
                                        </p:attrNameLst>
                                      </p:cBhvr>
                                      <p:to>
                                        <p:strVal val="visible"/>
                                      </p:to>
                                    </p:set>
                                    <p:animMotion origin="layout" path="M 0 0 L -0.234499994913737 0 E" pathEditMode="relative">
                                      <p:cBhvr from="" to="">
                                        <p:cTn id="23" dur="1400" fill="hold">
                                          <p:stCondLst>
                                            <p:cond delay="0"/>
                                          </p:stCondLst>
                                        </p:cTn>
                                        <p:tgtEl>
                                          <p:spTgt spid="5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685800"/>
          </a:xfrm>
          <a:prstGeom prst="rect">
            <a:avLst/>
          </a:prstGeom>
          <a:noFill/>
          <a:ln/>
        </p:spPr>
        <p:txBody>
          <a:bodyPr wrap="square" lIns="0" tIns="0" rIns="0" bIns="0" rtlCol="0" anchor="t"/>
          <a:lstStyle/>
          <a:p>
            <a:pPr marL="0" indent="0" algn="l">
              <a:buNone/>
            </a:pPr>
            <a:r>
              <a:rPr lang="en-US" sz="3000" dirty="0">
                <a:solidFill>
                  <a:srgbClr val="15233B"/>
                </a:solidFill>
                <a:latin typeface="Palatino Linotype" pitchFamily="34" charset="0"/>
                <a:ea typeface="Palatino Linotype" pitchFamily="34" charset="-122"/>
                <a:cs typeface="Palatino Linotype" pitchFamily="34" charset="-120"/>
              </a:rPr>
              <a:t>The human remains in control</a:t>
            </a:r>
            <a:endParaRPr lang="en-US" sz="3000" dirty="0"/>
          </a:p>
        </p:txBody>
      </p:sp>
      <p:sp>
        <p:nvSpPr>
          <p:cNvPr id="3" name="Text 1"/>
          <p:cNvSpPr txBox="1"/>
          <p:nvPr/>
        </p:nvSpPr>
        <p:spPr>
          <a:xfrm>
            <a:off x="548640" y="310896"/>
            <a:ext cx="8229600" cy="228600"/>
          </a:xfrm>
          <a:prstGeom prst="rect">
            <a:avLst/>
          </a:prstGeom>
          <a:noFill/>
          <a:ln/>
        </p:spPr>
        <p:txBody>
          <a:bodyPr wrap="square" lIns="0" tIns="0" rIns="0" bIns="0" rtlCol="0" anchor="t"/>
          <a:lstStyle/>
          <a:p>
            <a:pPr marL="0" indent="0">
              <a:buNone/>
            </a:pPr>
            <a:r>
              <a:rPr lang="en-US" sz="1050" kern="0" spc="200" dirty="0">
                <a:solidFill>
                  <a:srgbClr val="B4642F"/>
                </a:solidFill>
                <a:latin typeface="Consolas" pitchFamily="34" charset="0"/>
                <a:ea typeface="Consolas" pitchFamily="34" charset="-122"/>
                <a:cs typeface="Consolas" pitchFamily="34" charset="-120"/>
              </a:rPr>
              <a:t>ACTION DESK  ·  WOW 2</a:t>
            </a:r>
            <a:endParaRPr lang="en-US" sz="1050" dirty="0"/>
          </a:p>
        </p:txBody>
      </p:sp>
      <p:sp>
        <p:nvSpPr>
          <p:cNvPr id="5" name="Shape 2"/>
          <p:cNvSpPr/>
          <p:nvPr/>
        </p:nvSpPr>
        <p:spPr>
          <a:xfrm>
            <a:off x="512064" y="1335024"/>
            <a:ext cx="3913632" cy="4703837"/>
          </a:xfrm>
          <a:prstGeom prst="roundRect">
            <a:avLst>
              <a:gd name="adj" fmla="val 1636"/>
            </a:avLst>
          </a:prstGeom>
          <a:solidFill>
            <a:srgbClr val="FBF9F4"/>
          </a:solidFill>
          <a:ln w="9525">
            <a:solidFill>
              <a:srgbClr val="CBC2AB"/>
            </a:solidFill>
            <a:prstDash val="solid"/>
          </a:ln>
        </p:spPr>
      </p:sp>
      <p:pic>
        <p:nvPicPr>
          <p:cNvPr id="6" name="S8_shot" descr="SAYR Action Desk proposal card"/>
          <p:cNvPicPr>
            <a:picLocks noChangeAspect="1"/>
          </p:cNvPicPr>
          <p:nvPr/>
        </p:nvPicPr>
        <p:blipFill>
          <a:blip r:embed="rId3"/>
          <a:stretch>
            <a:fillRect/>
          </a:stretch>
        </p:blipFill>
        <p:spPr>
          <a:xfrm>
            <a:off x="548640" y="1371600"/>
            <a:ext cx="3840480" cy="4630685"/>
          </a:xfrm>
          <a:prstGeom prst="rect">
            <a:avLst/>
          </a:prstGeom>
        </p:spPr>
      </p:pic>
      <p:sp>
        <p:nvSpPr>
          <p:cNvPr id="7" name="S8_wf0"/>
          <p:cNvSpPr/>
          <p:nvPr/>
        </p:nvSpPr>
        <p:spPr>
          <a:xfrm>
            <a:off x="4709160" y="1371600"/>
            <a:ext cx="1261872" cy="868680"/>
          </a:xfrm>
          <a:prstGeom prst="roundRect">
            <a:avLst>
              <a:gd name="adj" fmla="val 6316"/>
            </a:avLst>
          </a:prstGeom>
          <a:solidFill>
            <a:srgbClr val="FBF9F4"/>
          </a:solidFill>
          <a:ln w="19050">
            <a:solidFill>
              <a:srgbClr val="1B2D4D"/>
            </a:solidFill>
            <a:prstDash val="solid"/>
          </a:ln>
        </p:spPr>
      </p:sp>
      <p:sp>
        <p:nvSpPr>
          <p:cNvPr id="8" name="Text 4"/>
          <p:cNvSpPr txBox="1"/>
          <p:nvPr/>
        </p:nvSpPr>
        <p:spPr>
          <a:xfrm>
            <a:off x="4782312" y="1426464"/>
            <a:ext cx="1115568" cy="411480"/>
          </a:xfrm>
          <a:prstGeom prst="rect">
            <a:avLst/>
          </a:prstGeom>
          <a:noFill/>
          <a:ln/>
        </p:spPr>
        <p:txBody>
          <a:bodyPr wrap="square" lIns="0" tIns="0" rIns="0" bIns="0" rtlCol="0" anchor="t"/>
          <a:lstStyle/>
          <a:p>
            <a:pPr marL="0" indent="0">
              <a:buNone/>
            </a:pPr>
            <a:r>
              <a:rPr lang="en-US" sz="1200" b="1" dirty="0">
                <a:solidFill>
                  <a:srgbClr val="1B2D4D"/>
                </a:solidFill>
                <a:latin typeface="Palatino Linotype" pitchFamily="34" charset="0"/>
                <a:ea typeface="Palatino Linotype" pitchFamily="34" charset="-122"/>
                <a:cs typeface="Palatino Linotype" pitchFamily="34" charset="-120"/>
              </a:rPr>
              <a:t>Reflow proposes</a:t>
            </a:r>
            <a:endParaRPr lang="en-US" sz="1200" dirty="0"/>
          </a:p>
        </p:txBody>
      </p:sp>
      <p:sp>
        <p:nvSpPr>
          <p:cNvPr id="9" name="Text 5"/>
          <p:cNvSpPr txBox="1"/>
          <p:nvPr/>
        </p:nvSpPr>
        <p:spPr>
          <a:xfrm>
            <a:off x="4782312" y="1847088"/>
            <a:ext cx="1115568" cy="365760"/>
          </a:xfrm>
          <a:prstGeom prst="rect">
            <a:avLst/>
          </a:prstGeom>
          <a:noFill/>
          <a:ln/>
        </p:spPr>
        <p:txBody>
          <a:bodyPr wrap="square" lIns="0" tIns="0" rIns="0" bIns="0" rtlCol="0" anchor="t"/>
          <a:lstStyle/>
          <a:p>
            <a:pPr marL="0" indent="0">
              <a:buNone/>
            </a:pPr>
            <a:r>
              <a:rPr lang="en-US" sz="850" dirty="0">
                <a:solidFill>
                  <a:srgbClr val="3A4A66"/>
                </a:solidFill>
                <a:latin typeface="Segoe UI" pitchFamily="34" charset="0"/>
                <a:ea typeface="Segoe UI" pitchFamily="34" charset="-122"/>
                <a:cs typeface="Segoe UI" pitchFamily="34" charset="-120"/>
              </a:rPr>
              <a:t>up to 3 alternatives</a:t>
            </a:r>
            <a:endParaRPr lang="en-US" sz="850" dirty="0"/>
          </a:p>
        </p:txBody>
      </p:sp>
      <p:sp>
        <p:nvSpPr>
          <p:cNvPr id="10" name="Shape 6"/>
          <p:cNvSpPr/>
          <p:nvPr/>
        </p:nvSpPr>
        <p:spPr>
          <a:xfrm>
            <a:off x="5980176" y="1801368"/>
            <a:ext cx="137160" cy="0"/>
          </a:xfrm>
          <a:prstGeom prst="line">
            <a:avLst/>
          </a:prstGeom>
          <a:noFill/>
          <a:ln w="15875">
            <a:solidFill>
              <a:srgbClr val="A39C88"/>
            </a:solidFill>
            <a:prstDash val="solid"/>
            <a:tailEnd type="triangle"/>
          </a:ln>
        </p:spPr>
      </p:sp>
      <p:sp>
        <p:nvSpPr>
          <p:cNvPr id="11" name="S8_wf1"/>
          <p:cNvSpPr/>
          <p:nvPr/>
        </p:nvSpPr>
        <p:spPr>
          <a:xfrm>
            <a:off x="6126480" y="1371600"/>
            <a:ext cx="1261872" cy="868680"/>
          </a:xfrm>
          <a:prstGeom prst="roundRect">
            <a:avLst>
              <a:gd name="adj" fmla="val 6316"/>
            </a:avLst>
          </a:prstGeom>
          <a:solidFill>
            <a:srgbClr val="FBF9F4"/>
          </a:solidFill>
          <a:ln w="19050">
            <a:solidFill>
              <a:srgbClr val="3A4A66"/>
            </a:solidFill>
            <a:prstDash val="solid"/>
          </a:ln>
        </p:spPr>
      </p:sp>
      <p:sp>
        <p:nvSpPr>
          <p:cNvPr id="12" name="Text 8"/>
          <p:cNvSpPr txBox="1"/>
          <p:nvPr/>
        </p:nvSpPr>
        <p:spPr>
          <a:xfrm>
            <a:off x="6199632" y="1426464"/>
            <a:ext cx="1115568" cy="411480"/>
          </a:xfrm>
          <a:prstGeom prst="rect">
            <a:avLst/>
          </a:prstGeom>
          <a:noFill/>
          <a:ln/>
        </p:spPr>
        <p:txBody>
          <a:bodyPr wrap="square" lIns="0" tIns="0" rIns="0" bIns="0" rtlCol="0" anchor="t"/>
          <a:lstStyle/>
          <a:p>
            <a:pPr marL="0" indent="0">
              <a:buNone/>
            </a:pPr>
            <a:r>
              <a:rPr lang="en-US" sz="1200" b="1" dirty="0">
                <a:solidFill>
                  <a:srgbClr val="3A4A66"/>
                </a:solidFill>
                <a:latin typeface="Palatino Linotype" pitchFamily="34" charset="0"/>
                <a:ea typeface="Palatino Linotype" pitchFamily="34" charset="-122"/>
                <a:cs typeface="Palatino Linotype" pitchFamily="34" charset="-120"/>
              </a:rPr>
              <a:t>A person reviews</a:t>
            </a:r>
            <a:endParaRPr lang="en-US" sz="1200" dirty="0"/>
          </a:p>
        </p:txBody>
      </p:sp>
      <p:sp>
        <p:nvSpPr>
          <p:cNvPr id="13" name="Text 9"/>
          <p:cNvSpPr txBox="1"/>
          <p:nvPr/>
        </p:nvSpPr>
        <p:spPr>
          <a:xfrm>
            <a:off x="6199632" y="1847088"/>
            <a:ext cx="1115568" cy="365760"/>
          </a:xfrm>
          <a:prstGeom prst="rect">
            <a:avLst/>
          </a:prstGeom>
          <a:noFill/>
          <a:ln/>
        </p:spPr>
        <p:txBody>
          <a:bodyPr wrap="square" lIns="0" tIns="0" rIns="0" bIns="0" rtlCol="0" anchor="t"/>
          <a:lstStyle/>
          <a:p>
            <a:pPr marL="0" indent="0">
              <a:buNone/>
            </a:pPr>
            <a:r>
              <a:rPr lang="en-US" sz="850" dirty="0">
                <a:solidFill>
                  <a:srgbClr val="3A4A66"/>
                </a:solidFill>
                <a:latin typeface="Segoe UI" pitchFamily="34" charset="0"/>
                <a:ea typeface="Segoe UI" pitchFamily="34" charset="-122"/>
                <a:cs typeface="Segoe UI" pitchFamily="34" charset="-120"/>
              </a:rPr>
              <a:t>changes, constraints, trade-offs</a:t>
            </a:r>
            <a:endParaRPr lang="en-US" sz="850" dirty="0"/>
          </a:p>
        </p:txBody>
      </p:sp>
      <p:sp>
        <p:nvSpPr>
          <p:cNvPr id="14" name="Shape 10"/>
          <p:cNvSpPr/>
          <p:nvPr/>
        </p:nvSpPr>
        <p:spPr>
          <a:xfrm>
            <a:off x="7397496" y="1801368"/>
            <a:ext cx="137160" cy="0"/>
          </a:xfrm>
          <a:prstGeom prst="line">
            <a:avLst/>
          </a:prstGeom>
          <a:noFill/>
          <a:ln w="15875">
            <a:solidFill>
              <a:srgbClr val="A39C88"/>
            </a:solidFill>
            <a:prstDash val="solid"/>
            <a:tailEnd type="triangle"/>
          </a:ln>
        </p:spPr>
      </p:sp>
      <p:sp>
        <p:nvSpPr>
          <p:cNvPr id="15" name="S8_wf2"/>
          <p:cNvSpPr/>
          <p:nvPr/>
        </p:nvSpPr>
        <p:spPr>
          <a:xfrm>
            <a:off x="7543800" y="1371600"/>
            <a:ext cx="1261872" cy="868680"/>
          </a:xfrm>
          <a:prstGeom prst="roundRect">
            <a:avLst>
              <a:gd name="adj" fmla="val 6316"/>
            </a:avLst>
          </a:prstGeom>
          <a:solidFill>
            <a:srgbClr val="FBF9F4"/>
          </a:solidFill>
          <a:ln w="19050">
            <a:solidFill>
              <a:srgbClr val="1F7B78"/>
            </a:solidFill>
            <a:prstDash val="solid"/>
          </a:ln>
        </p:spPr>
      </p:sp>
      <p:sp>
        <p:nvSpPr>
          <p:cNvPr id="16" name="Text 12"/>
          <p:cNvSpPr txBox="1"/>
          <p:nvPr/>
        </p:nvSpPr>
        <p:spPr>
          <a:xfrm>
            <a:off x="7616952" y="1426464"/>
            <a:ext cx="1115568" cy="411480"/>
          </a:xfrm>
          <a:prstGeom prst="rect">
            <a:avLst/>
          </a:prstGeom>
          <a:noFill/>
          <a:ln/>
        </p:spPr>
        <p:txBody>
          <a:bodyPr wrap="square" lIns="0" tIns="0" rIns="0" bIns="0" rtlCol="0" anchor="t"/>
          <a:lstStyle/>
          <a:p>
            <a:pPr marL="0" indent="0">
              <a:buNone/>
            </a:pPr>
            <a:r>
              <a:rPr lang="en-US" sz="1200" b="1" dirty="0">
                <a:solidFill>
                  <a:srgbClr val="1F7B78"/>
                </a:solidFill>
                <a:latin typeface="Palatino Linotype" pitchFamily="34" charset="0"/>
                <a:ea typeface="Palatino Linotype" pitchFamily="34" charset="-122"/>
                <a:cs typeface="Palatino Linotype" pitchFamily="34" charset="-120"/>
              </a:rPr>
              <a:t>Approve and apply</a:t>
            </a:r>
            <a:endParaRPr lang="en-US" sz="1200" dirty="0"/>
          </a:p>
        </p:txBody>
      </p:sp>
      <p:sp>
        <p:nvSpPr>
          <p:cNvPr id="17" name="Text 13"/>
          <p:cNvSpPr txBox="1"/>
          <p:nvPr/>
        </p:nvSpPr>
        <p:spPr>
          <a:xfrm>
            <a:off x="7616952" y="1847088"/>
            <a:ext cx="1115568" cy="365760"/>
          </a:xfrm>
          <a:prstGeom prst="rect">
            <a:avLst/>
          </a:prstGeom>
          <a:noFill/>
          <a:ln/>
        </p:spPr>
        <p:txBody>
          <a:bodyPr wrap="square" lIns="0" tIns="0" rIns="0" bIns="0" rtlCol="0" anchor="t"/>
          <a:lstStyle/>
          <a:p>
            <a:pPr marL="0" indent="0">
              <a:buNone/>
            </a:pPr>
            <a:r>
              <a:rPr lang="en-US" sz="850" dirty="0">
                <a:solidFill>
                  <a:srgbClr val="3A4A66"/>
                </a:solidFill>
                <a:latin typeface="Segoe UI" pitchFamily="34" charset="0"/>
                <a:ea typeface="Segoe UI" pitchFamily="34" charset="-122"/>
                <a:cs typeface="Segoe UI" pitchFamily="34" charset="-120"/>
              </a:rPr>
              <a:t>to the simulation only</a:t>
            </a:r>
            <a:endParaRPr lang="en-US" sz="850" dirty="0"/>
          </a:p>
        </p:txBody>
      </p:sp>
      <p:sp>
        <p:nvSpPr>
          <p:cNvPr id="18" name="Shape 14"/>
          <p:cNvSpPr/>
          <p:nvPr/>
        </p:nvSpPr>
        <p:spPr>
          <a:xfrm>
            <a:off x="8814816" y="1801368"/>
            <a:ext cx="137160" cy="0"/>
          </a:xfrm>
          <a:prstGeom prst="line">
            <a:avLst/>
          </a:prstGeom>
          <a:noFill/>
          <a:ln w="15875">
            <a:solidFill>
              <a:srgbClr val="A39C88"/>
            </a:solidFill>
            <a:prstDash val="solid"/>
            <a:tailEnd type="triangle"/>
          </a:ln>
        </p:spPr>
      </p:sp>
      <p:sp>
        <p:nvSpPr>
          <p:cNvPr id="19" name="S8_wf3"/>
          <p:cNvSpPr/>
          <p:nvPr/>
        </p:nvSpPr>
        <p:spPr>
          <a:xfrm>
            <a:off x="8961120" y="1371600"/>
            <a:ext cx="1261872" cy="868680"/>
          </a:xfrm>
          <a:prstGeom prst="roundRect">
            <a:avLst>
              <a:gd name="adj" fmla="val 6316"/>
            </a:avLst>
          </a:prstGeom>
          <a:solidFill>
            <a:srgbClr val="FBF9F4"/>
          </a:solidFill>
          <a:ln w="19050">
            <a:solidFill>
              <a:srgbClr val="B4642F"/>
            </a:solidFill>
            <a:prstDash val="solid"/>
          </a:ln>
        </p:spPr>
      </p:sp>
      <p:sp>
        <p:nvSpPr>
          <p:cNvPr id="20" name="Text 16"/>
          <p:cNvSpPr txBox="1"/>
          <p:nvPr/>
        </p:nvSpPr>
        <p:spPr>
          <a:xfrm>
            <a:off x="9034272" y="1426464"/>
            <a:ext cx="1115568" cy="411480"/>
          </a:xfrm>
          <a:prstGeom prst="rect">
            <a:avLst/>
          </a:prstGeom>
          <a:noFill/>
          <a:ln/>
        </p:spPr>
        <p:txBody>
          <a:bodyPr wrap="square" lIns="0" tIns="0" rIns="0" bIns="0" rtlCol="0" anchor="t"/>
          <a:lstStyle/>
          <a:p>
            <a:pPr marL="0" indent="0">
              <a:buNone/>
            </a:pPr>
            <a:r>
              <a:rPr lang="en-US" sz="1200" b="1" dirty="0">
                <a:solidFill>
                  <a:srgbClr val="B4642F"/>
                </a:solidFill>
                <a:latin typeface="Palatino Linotype" pitchFamily="34" charset="0"/>
                <a:ea typeface="Palatino Linotype" pitchFamily="34" charset="-122"/>
                <a:cs typeface="Palatino Linotype" pitchFamily="34" charset="-120"/>
              </a:rPr>
              <a:t>Audit trail</a:t>
            </a:r>
            <a:endParaRPr lang="en-US" sz="1200" dirty="0"/>
          </a:p>
        </p:txBody>
      </p:sp>
      <p:sp>
        <p:nvSpPr>
          <p:cNvPr id="21" name="Text 17"/>
          <p:cNvSpPr txBox="1"/>
          <p:nvPr/>
        </p:nvSpPr>
        <p:spPr>
          <a:xfrm>
            <a:off x="9034272" y="1847088"/>
            <a:ext cx="1115568" cy="365760"/>
          </a:xfrm>
          <a:prstGeom prst="rect">
            <a:avLst/>
          </a:prstGeom>
          <a:noFill/>
          <a:ln/>
        </p:spPr>
        <p:txBody>
          <a:bodyPr wrap="square" lIns="0" tIns="0" rIns="0" bIns="0" rtlCol="0" anchor="t"/>
          <a:lstStyle/>
          <a:p>
            <a:pPr marL="0" indent="0">
              <a:buNone/>
            </a:pPr>
            <a:r>
              <a:rPr lang="en-US" sz="850" dirty="0">
                <a:solidFill>
                  <a:srgbClr val="3A4A66"/>
                </a:solidFill>
                <a:latin typeface="Segoe UI" pitchFamily="34" charset="0"/>
                <a:ea typeface="Segoe UI" pitchFamily="34" charset="-122"/>
                <a:cs typeface="Segoe UI" pitchFamily="34" charset="-120"/>
              </a:rPr>
              <a:t>entry is written</a:t>
            </a:r>
            <a:endParaRPr lang="en-US" sz="850" dirty="0"/>
          </a:p>
        </p:txBody>
      </p:sp>
      <p:sp>
        <p:nvSpPr>
          <p:cNvPr id="22" name="Shape 18"/>
          <p:cNvSpPr/>
          <p:nvPr/>
        </p:nvSpPr>
        <p:spPr>
          <a:xfrm>
            <a:off x="10232136" y="1801368"/>
            <a:ext cx="137160" cy="0"/>
          </a:xfrm>
          <a:prstGeom prst="line">
            <a:avLst/>
          </a:prstGeom>
          <a:noFill/>
          <a:ln w="15875">
            <a:solidFill>
              <a:srgbClr val="A39C88"/>
            </a:solidFill>
            <a:prstDash val="solid"/>
            <a:tailEnd type="triangle"/>
          </a:ln>
        </p:spPr>
      </p:sp>
      <p:sp>
        <p:nvSpPr>
          <p:cNvPr id="23" name="S8_wf4"/>
          <p:cNvSpPr/>
          <p:nvPr/>
        </p:nvSpPr>
        <p:spPr>
          <a:xfrm>
            <a:off x="10378440" y="1371600"/>
            <a:ext cx="1261872" cy="868680"/>
          </a:xfrm>
          <a:prstGeom prst="roundRect">
            <a:avLst>
              <a:gd name="adj" fmla="val 6316"/>
            </a:avLst>
          </a:prstGeom>
          <a:solidFill>
            <a:srgbClr val="FBF9F4"/>
          </a:solidFill>
          <a:ln w="19050">
            <a:solidFill>
              <a:srgbClr val="1B2D4D"/>
            </a:solidFill>
            <a:prstDash val="solid"/>
          </a:ln>
        </p:spPr>
      </p:sp>
      <p:sp>
        <p:nvSpPr>
          <p:cNvPr id="24" name="Text 20"/>
          <p:cNvSpPr txBox="1"/>
          <p:nvPr/>
        </p:nvSpPr>
        <p:spPr>
          <a:xfrm>
            <a:off x="10451592" y="1426464"/>
            <a:ext cx="1115568" cy="411480"/>
          </a:xfrm>
          <a:prstGeom prst="rect">
            <a:avLst/>
          </a:prstGeom>
          <a:noFill/>
          <a:ln/>
        </p:spPr>
        <p:txBody>
          <a:bodyPr wrap="square" lIns="0" tIns="0" rIns="0" bIns="0" rtlCol="0" anchor="t"/>
          <a:lstStyle/>
          <a:p>
            <a:pPr marL="0" indent="0">
              <a:buNone/>
            </a:pPr>
            <a:r>
              <a:rPr lang="en-US" sz="1200" b="1" dirty="0">
                <a:solidFill>
                  <a:srgbClr val="1B2D4D"/>
                </a:solidFill>
                <a:latin typeface="Palatino Linotype" pitchFamily="34" charset="0"/>
                <a:ea typeface="Palatino Linotype" pitchFamily="34" charset="-122"/>
                <a:cs typeface="Palatino Linotype" pitchFamily="34" charset="-120"/>
              </a:rPr>
              <a:t>Ledger measures</a:t>
            </a:r>
            <a:endParaRPr lang="en-US" sz="1200" dirty="0"/>
          </a:p>
        </p:txBody>
      </p:sp>
      <p:sp>
        <p:nvSpPr>
          <p:cNvPr id="25" name="Text 21"/>
          <p:cNvSpPr txBox="1"/>
          <p:nvPr/>
        </p:nvSpPr>
        <p:spPr>
          <a:xfrm>
            <a:off x="10451592" y="1847088"/>
            <a:ext cx="1115568" cy="365760"/>
          </a:xfrm>
          <a:prstGeom prst="rect">
            <a:avLst/>
          </a:prstGeom>
          <a:noFill/>
          <a:ln/>
        </p:spPr>
        <p:txBody>
          <a:bodyPr wrap="square" lIns="0" tIns="0" rIns="0" bIns="0" rtlCol="0" anchor="t"/>
          <a:lstStyle/>
          <a:p>
            <a:pPr marL="0" indent="0">
              <a:buNone/>
            </a:pPr>
            <a:r>
              <a:rPr lang="en-US" sz="850" dirty="0">
                <a:solidFill>
                  <a:srgbClr val="3A4A66"/>
                </a:solidFill>
                <a:latin typeface="Segoe UI" pitchFamily="34" charset="0"/>
                <a:ea typeface="Segoe UI" pitchFamily="34" charset="-122"/>
                <a:cs typeface="Segoe UI" pitchFamily="34" charset="-120"/>
              </a:rPr>
              <a:t>what actually happened</a:t>
            </a:r>
            <a:endParaRPr lang="en-US" sz="850" dirty="0"/>
          </a:p>
        </p:txBody>
      </p:sp>
      <p:sp>
        <p:nvSpPr>
          <p:cNvPr id="26" name="Text 22"/>
          <p:cNvSpPr txBox="1"/>
          <p:nvPr/>
        </p:nvSpPr>
        <p:spPr>
          <a:xfrm>
            <a:off x="4709160" y="2331720"/>
            <a:ext cx="3657600" cy="228600"/>
          </a:xfrm>
          <a:prstGeom prst="rect">
            <a:avLst/>
          </a:prstGeom>
          <a:noFill/>
          <a:ln/>
        </p:spPr>
        <p:txBody>
          <a:bodyPr wrap="square" lIns="0" tIns="0" rIns="0" bIns="0" rtlCol="0" anchor="t"/>
          <a:lstStyle/>
          <a:p>
            <a:pPr marL="0" indent="0">
              <a:buNone/>
            </a:pPr>
            <a:r>
              <a:rPr lang="en-US" sz="1000" i="1" dirty="0">
                <a:solidFill>
                  <a:srgbClr val="B4642F"/>
                </a:solidFill>
                <a:latin typeface="Segoe UI" pitchFamily="34" charset="0"/>
                <a:ea typeface="Segoe UI" pitchFamily="34" charset="-122"/>
                <a:cs typeface="Segoe UI" pitchFamily="34" charset="-120"/>
              </a:rPr>
              <a:t>Reject leaves today's plan untouched.</a:t>
            </a:r>
            <a:endParaRPr lang="en-US" sz="1000" dirty="0"/>
          </a:p>
        </p:txBody>
      </p:sp>
      <p:sp>
        <p:nvSpPr>
          <p:cNvPr id="27" name="Shape 23"/>
          <p:cNvSpPr/>
          <p:nvPr/>
        </p:nvSpPr>
        <p:spPr>
          <a:xfrm>
            <a:off x="4709160" y="2743200"/>
            <a:ext cx="54864" cy="566928"/>
          </a:xfrm>
          <a:prstGeom prst="rect">
            <a:avLst/>
          </a:prstGeom>
          <a:solidFill>
            <a:srgbClr val="B4642F"/>
          </a:solidFill>
          <a:ln/>
        </p:spPr>
      </p:sp>
      <p:sp>
        <p:nvSpPr>
          <p:cNvPr id="28" name="Text 24"/>
          <p:cNvSpPr txBox="1"/>
          <p:nvPr/>
        </p:nvSpPr>
        <p:spPr>
          <a:xfrm>
            <a:off x="4892040" y="2743200"/>
            <a:ext cx="2926080" cy="228600"/>
          </a:xfrm>
          <a:prstGeom prst="rect">
            <a:avLst/>
          </a:prstGeom>
          <a:noFill/>
          <a:ln/>
        </p:spPr>
        <p:txBody>
          <a:bodyPr wrap="square" lIns="0" tIns="0" rIns="0" bIns="0" rtlCol="0" anchor="t"/>
          <a:lstStyle/>
          <a:p>
            <a:pPr marL="0" indent="0">
              <a:buNone/>
            </a:pPr>
            <a:r>
              <a:rPr lang="en-US" sz="1350" b="1" dirty="0">
                <a:solidFill>
                  <a:srgbClr val="15233B"/>
                </a:solidFill>
                <a:latin typeface="Palatino Linotype" pitchFamily="34" charset="0"/>
                <a:ea typeface="Palatino Linotype" pitchFamily="34" charset="-122"/>
                <a:cs typeface="Palatino Linotype" pitchFamily="34" charset="-120"/>
              </a:rPr>
              <a:t>Proposed changes</a:t>
            </a:r>
            <a:endParaRPr lang="en-US" sz="1350" dirty="0"/>
          </a:p>
        </p:txBody>
      </p:sp>
      <p:sp>
        <p:nvSpPr>
          <p:cNvPr id="29" name="Text 25"/>
          <p:cNvSpPr txBox="1"/>
          <p:nvPr/>
        </p:nvSpPr>
        <p:spPr>
          <a:xfrm>
            <a:off x="4892040" y="2980944"/>
            <a:ext cx="3657600" cy="457200"/>
          </a:xfrm>
          <a:prstGeom prst="rect">
            <a:avLst/>
          </a:prstGeom>
          <a:noFill/>
          <a:ln/>
        </p:spPr>
        <p:txBody>
          <a:bodyPr wrap="square" lIns="0" tIns="0" rIns="0" bIns="0" rtlCol="0" anchor="t"/>
          <a:lstStyle/>
          <a:p>
            <a:pPr marL="0" indent="0">
              <a:buNone/>
            </a:pPr>
            <a:r>
              <a:rPr lang="en-US" sz="950" dirty="0">
                <a:solidFill>
                  <a:srgbClr val="3A4A66"/>
                </a:solidFill>
                <a:latin typeface="Segoe UI" pitchFamily="34" charset="0"/>
                <a:ea typeface="Segoe UI" pitchFamily="34" charset="-122"/>
                <a:cs typeface="Segoe UI" pitchFamily="34" charset="-120"/>
              </a:rPr>
              <a:t>42 appointments: 6 reassigned, 36 re-sequenced. The card lists each move, e.g. J-036 on GP-3, 12:18 → 11:57.</a:t>
            </a:r>
            <a:endParaRPr lang="en-US" sz="950" dirty="0"/>
          </a:p>
        </p:txBody>
      </p:sp>
      <p:sp>
        <p:nvSpPr>
          <p:cNvPr id="30" name="Shape 26"/>
          <p:cNvSpPr/>
          <p:nvPr/>
        </p:nvSpPr>
        <p:spPr>
          <a:xfrm>
            <a:off x="4709160" y="3474720"/>
            <a:ext cx="54864" cy="566928"/>
          </a:xfrm>
          <a:prstGeom prst="rect">
            <a:avLst/>
          </a:prstGeom>
          <a:solidFill>
            <a:srgbClr val="B4642F"/>
          </a:solidFill>
          <a:ln/>
        </p:spPr>
      </p:sp>
      <p:sp>
        <p:nvSpPr>
          <p:cNvPr id="31" name="Text 27"/>
          <p:cNvSpPr txBox="1"/>
          <p:nvPr/>
        </p:nvSpPr>
        <p:spPr>
          <a:xfrm>
            <a:off x="4892040" y="3474720"/>
            <a:ext cx="2926080" cy="228600"/>
          </a:xfrm>
          <a:prstGeom prst="rect">
            <a:avLst/>
          </a:prstGeom>
          <a:noFill/>
          <a:ln/>
        </p:spPr>
        <p:txBody>
          <a:bodyPr wrap="square" lIns="0" tIns="0" rIns="0" bIns="0" rtlCol="0" anchor="t"/>
          <a:lstStyle/>
          <a:p>
            <a:pPr marL="0" indent="0">
              <a:buNone/>
            </a:pPr>
            <a:r>
              <a:rPr lang="en-US" sz="1350" b="1" dirty="0">
                <a:solidFill>
                  <a:srgbClr val="15233B"/>
                </a:solidFill>
                <a:latin typeface="Palatino Linotype" pitchFamily="34" charset="0"/>
                <a:ea typeface="Palatino Linotype" pitchFamily="34" charset="-122"/>
                <a:cs typeface="Palatino Linotype" pitchFamily="34" charset="-120"/>
              </a:rPr>
              <a:t>Constraints satisfied</a:t>
            </a:r>
            <a:endParaRPr lang="en-US" sz="1350" dirty="0"/>
          </a:p>
        </p:txBody>
      </p:sp>
      <p:sp>
        <p:nvSpPr>
          <p:cNvPr id="32" name="Text 28"/>
          <p:cNvSpPr txBox="1"/>
          <p:nvPr/>
        </p:nvSpPr>
        <p:spPr>
          <a:xfrm>
            <a:off x="4892040" y="3712464"/>
            <a:ext cx="3657600" cy="457200"/>
          </a:xfrm>
          <a:prstGeom prst="rect">
            <a:avLst/>
          </a:prstGeom>
          <a:noFill/>
          <a:ln/>
        </p:spPr>
        <p:txBody>
          <a:bodyPr wrap="square" lIns="0" tIns="0" rIns="0" bIns="0" rtlCol="0" anchor="t"/>
          <a:lstStyle/>
          <a:p>
            <a:pPr marL="0" indent="0">
              <a:buNone/>
            </a:pPr>
            <a:r>
              <a:rPr lang="en-US" sz="950" dirty="0">
                <a:solidFill>
                  <a:srgbClr val="3A4A66"/>
                </a:solidFill>
                <a:latin typeface="Segoe UI" pitchFamily="34" charset="0"/>
                <a:ea typeface="Segoe UI" pitchFamily="34" charset="-122"/>
                <a:cs typeface="Segoe UI" pitchFamily="34" charset="-120"/>
              </a:rPr>
              <a:t>9 of 9 checks pass, each with evidence (for example 168 appointments checked for resource exclusivity).</a:t>
            </a:r>
            <a:endParaRPr lang="en-US" sz="950" dirty="0"/>
          </a:p>
        </p:txBody>
      </p:sp>
      <p:sp>
        <p:nvSpPr>
          <p:cNvPr id="33" name="Shape 29"/>
          <p:cNvSpPr/>
          <p:nvPr/>
        </p:nvSpPr>
        <p:spPr>
          <a:xfrm>
            <a:off x="4709160" y="4206240"/>
            <a:ext cx="54864" cy="566928"/>
          </a:xfrm>
          <a:prstGeom prst="rect">
            <a:avLst/>
          </a:prstGeom>
          <a:solidFill>
            <a:srgbClr val="B4642F"/>
          </a:solidFill>
          <a:ln/>
        </p:spPr>
      </p:sp>
      <p:sp>
        <p:nvSpPr>
          <p:cNvPr id="34" name="Text 30"/>
          <p:cNvSpPr txBox="1"/>
          <p:nvPr/>
        </p:nvSpPr>
        <p:spPr>
          <a:xfrm>
            <a:off x="4892040" y="4206240"/>
            <a:ext cx="2926080" cy="228600"/>
          </a:xfrm>
          <a:prstGeom prst="rect">
            <a:avLst/>
          </a:prstGeom>
          <a:noFill/>
          <a:ln/>
        </p:spPr>
        <p:txBody>
          <a:bodyPr wrap="square" lIns="0" tIns="0" rIns="0" bIns="0" rtlCol="0" anchor="t"/>
          <a:lstStyle/>
          <a:p>
            <a:pPr marL="0" indent="0">
              <a:buNone/>
            </a:pPr>
            <a:r>
              <a:rPr lang="en-US" sz="1350" b="1" dirty="0">
                <a:solidFill>
                  <a:srgbClr val="15233B"/>
                </a:solidFill>
                <a:latin typeface="Palatino Linotype" pitchFamily="34" charset="0"/>
                <a:ea typeface="Palatino Linotype" pitchFamily="34" charset="-122"/>
                <a:cs typeface="Palatino Linotype" pitchFamily="34" charset="-120"/>
              </a:rPr>
              <a:t>Trade-offs</a:t>
            </a:r>
            <a:endParaRPr lang="en-US" sz="1350" dirty="0"/>
          </a:p>
        </p:txBody>
      </p:sp>
      <p:sp>
        <p:nvSpPr>
          <p:cNvPr id="35" name="Text 31"/>
          <p:cNvSpPr txBox="1"/>
          <p:nvPr/>
        </p:nvSpPr>
        <p:spPr>
          <a:xfrm>
            <a:off x="4892040" y="4443984"/>
            <a:ext cx="3657600" cy="457200"/>
          </a:xfrm>
          <a:prstGeom prst="rect">
            <a:avLst/>
          </a:prstGeom>
          <a:noFill/>
          <a:ln/>
        </p:spPr>
        <p:txBody>
          <a:bodyPr wrap="square" lIns="0" tIns="0" rIns="0" bIns="0" rtlCol="0" anchor="t"/>
          <a:lstStyle/>
          <a:p>
            <a:pPr marL="0" indent="0">
              <a:buNone/>
            </a:pPr>
            <a:r>
              <a:rPr lang="en-US" sz="950" dirty="0">
                <a:solidFill>
                  <a:srgbClr val="3A4A66"/>
                </a:solidFill>
                <a:latin typeface="Segoe UI" pitchFamily="34" charset="0"/>
                <a:ea typeface="Segoe UI" pitchFamily="34" charset="-122"/>
                <a:cs typeface="Segoe UI" pitchFamily="34" charset="-120"/>
              </a:rPr>
              <a:t>15 appointments wait less, 16 wait longer, none by more than 30 min. 43 still expected to wait 15 min or more.</a:t>
            </a:r>
            <a:endParaRPr lang="en-US" sz="950" dirty="0"/>
          </a:p>
        </p:txBody>
      </p:sp>
      <p:sp>
        <p:nvSpPr>
          <p:cNvPr id="36" name="Shape 32"/>
          <p:cNvSpPr/>
          <p:nvPr/>
        </p:nvSpPr>
        <p:spPr>
          <a:xfrm>
            <a:off x="4709160" y="4937760"/>
            <a:ext cx="54864" cy="566928"/>
          </a:xfrm>
          <a:prstGeom prst="rect">
            <a:avLst/>
          </a:prstGeom>
          <a:solidFill>
            <a:srgbClr val="B4642F"/>
          </a:solidFill>
          <a:ln/>
        </p:spPr>
      </p:sp>
      <p:sp>
        <p:nvSpPr>
          <p:cNvPr id="37" name="Text 33"/>
          <p:cNvSpPr txBox="1"/>
          <p:nvPr/>
        </p:nvSpPr>
        <p:spPr>
          <a:xfrm>
            <a:off x="4892040" y="4937760"/>
            <a:ext cx="2926080" cy="228600"/>
          </a:xfrm>
          <a:prstGeom prst="rect">
            <a:avLst/>
          </a:prstGeom>
          <a:noFill/>
          <a:ln/>
        </p:spPr>
        <p:txBody>
          <a:bodyPr wrap="square" lIns="0" tIns="0" rIns="0" bIns="0" rtlCol="0" anchor="t"/>
          <a:lstStyle/>
          <a:p>
            <a:pPr marL="0" indent="0">
              <a:buNone/>
            </a:pPr>
            <a:r>
              <a:rPr lang="en-US" sz="1350" b="1" dirty="0">
                <a:solidFill>
                  <a:srgbClr val="15233B"/>
                </a:solidFill>
                <a:latin typeface="Palatino Linotype" pitchFamily="34" charset="0"/>
                <a:ea typeface="Palatino Linotype" pitchFamily="34" charset="-122"/>
                <a:cs typeface="Palatino Linotype" pitchFamily="34" charset="-120"/>
              </a:rPr>
              <a:t>Accountability</a:t>
            </a:r>
            <a:endParaRPr lang="en-US" sz="1350" dirty="0"/>
          </a:p>
        </p:txBody>
      </p:sp>
      <p:sp>
        <p:nvSpPr>
          <p:cNvPr id="38" name="Text 34"/>
          <p:cNvSpPr txBox="1"/>
          <p:nvPr/>
        </p:nvSpPr>
        <p:spPr>
          <a:xfrm>
            <a:off x="4892040" y="5175504"/>
            <a:ext cx="3657600" cy="457200"/>
          </a:xfrm>
          <a:prstGeom prst="rect">
            <a:avLst/>
          </a:prstGeom>
          <a:noFill/>
          <a:ln/>
        </p:spPr>
        <p:txBody>
          <a:bodyPr wrap="square" lIns="0" tIns="0" rIns="0" bIns="0" rtlCol="0" anchor="t"/>
          <a:lstStyle/>
          <a:p>
            <a:pPr marL="0" indent="0">
              <a:buNone/>
            </a:pPr>
            <a:r>
              <a:rPr lang="en-US" sz="950" dirty="0">
                <a:solidFill>
                  <a:srgbClr val="3A4A66"/>
                </a:solidFill>
                <a:latin typeface="Segoe UI" pitchFamily="34" charset="0"/>
                <a:ea typeface="Segoe UI" pitchFamily="34" charset="-122"/>
                <a:cs typeface="Segoe UI" pitchFamily="34" charset="-120"/>
              </a:rPr>
              <a:t>The audit trail records each situation and decision. Protected slots are assigned externally and never inferred from clinical information.</a:t>
            </a:r>
            <a:endParaRPr lang="en-US" sz="950" dirty="0"/>
          </a:p>
        </p:txBody>
      </p:sp>
      <p:pic>
        <p:nvPicPr>
          <p:cNvPr id="39" name="S8_audit" descr="Audit trail panel"/>
          <p:cNvPicPr>
            <a:picLocks noChangeAspect="1"/>
          </p:cNvPicPr>
          <p:nvPr/>
        </p:nvPicPr>
        <p:blipFill>
          <a:blip r:embed="rId4"/>
          <a:srcRect/>
          <a:stretch/>
        </p:blipFill>
        <p:spPr>
          <a:xfrm>
            <a:off x="8823960" y="2743200"/>
            <a:ext cx="2816352" cy="1747795"/>
          </a:xfrm>
          <a:prstGeom prst="rect">
            <a:avLst/>
          </a:prstGeom>
        </p:spPr>
      </p:pic>
      <p:sp>
        <p:nvSpPr>
          <p:cNvPr id="40" name="Text 35"/>
          <p:cNvSpPr txBox="1"/>
          <p:nvPr/>
        </p:nvSpPr>
        <p:spPr>
          <a:xfrm>
            <a:off x="8823960" y="2542032"/>
            <a:ext cx="2834640" cy="182880"/>
          </a:xfrm>
          <a:prstGeom prst="rect">
            <a:avLst/>
          </a:prstGeom>
          <a:noFill/>
          <a:ln/>
        </p:spPr>
        <p:txBody>
          <a:bodyPr wrap="square" lIns="0" tIns="0" rIns="0" bIns="0" rtlCol="0" anchor="t"/>
          <a:lstStyle/>
          <a:p>
            <a:pPr marL="0" indent="0">
              <a:buNone/>
            </a:pPr>
            <a:r>
              <a:rPr lang="en-US" sz="800" kern="0" spc="100" dirty="0">
                <a:solidFill>
                  <a:srgbClr val="B4642F"/>
                </a:solidFill>
                <a:latin typeface="Consolas" pitchFamily="34" charset="0"/>
                <a:ea typeface="Consolas" pitchFamily="34" charset="-122"/>
                <a:cs typeface="Consolas" pitchFamily="34" charset="-120"/>
              </a:rPr>
              <a:t>AUDIT TRAIL (AFTER APPROVAL)</a:t>
            </a:r>
            <a:endParaRPr lang="en-US" sz="800" dirty="0"/>
          </a:p>
        </p:txBody>
      </p:sp>
      <p:sp>
        <p:nvSpPr>
          <p:cNvPr id="41" name="Shape 36"/>
          <p:cNvSpPr/>
          <p:nvPr/>
        </p:nvSpPr>
        <p:spPr>
          <a:xfrm>
            <a:off x="8823960" y="4526280"/>
            <a:ext cx="2816352" cy="1554480"/>
          </a:xfrm>
          <a:prstGeom prst="roundRect">
            <a:avLst>
              <a:gd name="adj" fmla="val 4118"/>
            </a:avLst>
          </a:prstGeom>
          <a:solidFill>
            <a:srgbClr val="15233B"/>
          </a:solidFill>
          <a:ln/>
        </p:spPr>
      </p:sp>
      <p:sp>
        <p:nvSpPr>
          <p:cNvPr id="42" name="Text 37"/>
          <p:cNvSpPr txBox="1"/>
          <p:nvPr/>
        </p:nvSpPr>
        <p:spPr>
          <a:xfrm>
            <a:off x="8979408" y="4617720"/>
            <a:ext cx="2560320" cy="1371600"/>
          </a:xfrm>
          <a:prstGeom prst="rect">
            <a:avLst/>
          </a:prstGeom>
          <a:noFill/>
          <a:ln/>
        </p:spPr>
        <p:txBody>
          <a:bodyPr wrap="square" lIns="0" tIns="0" rIns="0" bIns="0" rtlCol="0" anchor="ctr"/>
          <a:lstStyle/>
          <a:p>
            <a:pPr marL="0" indent="0">
              <a:buNone/>
            </a:pPr>
            <a:r>
              <a:rPr lang="en-US" sz="1500" i="1" dirty="0">
                <a:solidFill>
                  <a:srgbClr val="F6F2E9"/>
                </a:solidFill>
                <a:latin typeface="Palatino Linotype" pitchFamily="34" charset="0"/>
                <a:ea typeface="Palatino Linotype" pitchFamily="34" charset="-122"/>
                <a:cs typeface="Palatino Linotype" pitchFamily="34" charset="-120"/>
              </a:rPr>
              <a:t>Intelligent recommendations should support accountability, not replace it.</a:t>
            </a:r>
            <a:endParaRPr lang="en-US" sz="1500" dirty="0"/>
          </a:p>
        </p:txBody>
      </p:sp>
      <p:sp>
        <p:nvSpPr>
          <p:cNvPr id="43" name="Text 38"/>
          <p:cNvSpPr txBox="1"/>
          <p:nvPr/>
        </p:nvSpPr>
        <p:spPr>
          <a:xfrm>
            <a:off x="548640" y="6199632"/>
            <a:ext cx="11064240" cy="256032"/>
          </a:xfrm>
          <a:prstGeom prst="rect">
            <a:avLst/>
          </a:prstGeom>
          <a:noFill/>
          <a:ln/>
        </p:spPr>
        <p:txBody>
          <a:bodyPr wrap="square" lIns="0" tIns="0" rIns="0" bIns="0" rtlCol="0" anchor="t"/>
          <a:lstStyle/>
          <a:p>
            <a:pPr marL="0" indent="0">
              <a:buNone/>
            </a:pPr>
            <a:r>
              <a:rPr lang="en-US" sz="850" dirty="0">
                <a:solidFill>
                  <a:srgbClr val="7B7566"/>
                </a:solidFill>
                <a:latin typeface="Segoe UI" pitchFamily="34" charset="0"/>
                <a:ea typeface="Segoe UI" pitchFamily="34" charset="-122"/>
                <a:cs typeface="Segoe UI" pitchFamily="34" charset="-120"/>
              </a:rPr>
              <a:t>Source: SAYR Action Desk. SAYR does not autonomously determine clinical priorities. Approval applies a plan to the simulation only; the app never changes real hospital operations.</a:t>
            </a:r>
            <a:endParaRPr lang="en-US" sz="850" dirty="0"/>
          </a:p>
        </p:txBody>
      </p:sp>
      <p:sp>
        <p:nvSpPr>
          <p:cNvPr id="4" name="Slide Number Placeholder 0"/>
          <p:cNvSpPr>
            <a:spLocks noGrp="1"/>
          </p:cNvSpPr>
          <p:nvPr>
            <p:ph type="sldNum" sz="quarter" idx="4294967295"/>
          </p:nvPr>
        </p:nvSpPr>
        <p:spPr>
          <a:xfrm>
            <a:off x="11064240" y="6492240"/>
            <a:ext cx="576072"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B7566"/>
                </a:solidFill>
                <a:latin typeface="Consolas"/>
                <a:ea typeface="Consolas"/>
                <a:cs typeface="Consolas"/>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685800"/>
          </a:xfrm>
          <a:prstGeom prst="rect">
            <a:avLst/>
          </a:prstGeom>
          <a:noFill/>
          <a:ln/>
        </p:spPr>
        <p:txBody>
          <a:bodyPr wrap="square" lIns="0" tIns="0" rIns="0" bIns="0" rtlCol="0" anchor="t"/>
          <a:lstStyle/>
          <a:p>
            <a:pPr marL="0" indent="0" algn="l">
              <a:buNone/>
            </a:pPr>
            <a:r>
              <a:rPr lang="en-US" sz="3000" dirty="0">
                <a:solidFill>
                  <a:srgbClr val="15233B"/>
                </a:solidFill>
                <a:latin typeface="Palatino Linotype" pitchFamily="34" charset="0"/>
                <a:ea typeface="Palatino Linotype" pitchFamily="34" charset="-122"/>
                <a:cs typeface="Palatino Linotype" pitchFamily="34" charset="-120"/>
              </a:rPr>
              <a:t>Minutes Ledger: measured, not assumed</a:t>
            </a:r>
            <a:endParaRPr lang="en-US" sz="3000" dirty="0"/>
          </a:p>
        </p:txBody>
      </p:sp>
      <p:sp>
        <p:nvSpPr>
          <p:cNvPr id="3" name="Text 1"/>
          <p:cNvSpPr txBox="1"/>
          <p:nvPr/>
        </p:nvSpPr>
        <p:spPr>
          <a:xfrm>
            <a:off x="548640" y="310896"/>
            <a:ext cx="8229600" cy="228600"/>
          </a:xfrm>
          <a:prstGeom prst="rect">
            <a:avLst/>
          </a:prstGeom>
          <a:noFill/>
          <a:ln/>
        </p:spPr>
        <p:txBody>
          <a:bodyPr wrap="square" lIns="0" tIns="0" rIns="0" bIns="0" rtlCol="0" anchor="t"/>
          <a:lstStyle/>
          <a:p>
            <a:pPr marL="0" indent="0">
              <a:buNone/>
            </a:pPr>
            <a:r>
              <a:rPr lang="en-US" sz="1050" kern="0" spc="200" dirty="0">
                <a:solidFill>
                  <a:srgbClr val="B4642F"/>
                </a:solidFill>
                <a:latin typeface="Consolas" pitchFamily="34" charset="0"/>
                <a:ea typeface="Consolas" pitchFamily="34" charset="-122"/>
                <a:cs typeface="Consolas" pitchFamily="34" charset="-120"/>
              </a:rPr>
              <a:t>WOW 3 · THE MINUTES ARE ACCOUNTED FOR</a:t>
            </a:r>
            <a:endParaRPr lang="en-US" sz="1050" dirty="0"/>
          </a:p>
        </p:txBody>
      </p:sp>
      <p:sp>
        <p:nvSpPr>
          <p:cNvPr id="5" name="Text 2"/>
          <p:cNvSpPr txBox="1"/>
          <p:nvPr/>
        </p:nvSpPr>
        <p:spPr>
          <a:xfrm>
            <a:off x="548640" y="1234440"/>
            <a:ext cx="1737360" cy="822960"/>
          </a:xfrm>
          <a:prstGeom prst="rect">
            <a:avLst/>
          </a:prstGeom>
          <a:noFill/>
          <a:ln/>
        </p:spPr>
        <p:txBody>
          <a:bodyPr wrap="square" lIns="0" tIns="0" rIns="0" bIns="0" rtlCol="0" anchor="ctr"/>
          <a:lstStyle/>
          <a:p>
            <a:pPr marL="0" indent="0">
              <a:buNone/>
            </a:pPr>
            <a:r>
              <a:rPr lang="en-US" sz="6000" dirty="0">
                <a:solidFill>
                  <a:srgbClr val="1F7B78"/>
                </a:solidFill>
                <a:latin typeface="Palatino Linotype" pitchFamily="34" charset="0"/>
                <a:ea typeface="Palatino Linotype" pitchFamily="34" charset="-122"/>
                <a:cs typeface="Palatino Linotype" pitchFamily="34" charset="-120"/>
              </a:rPr>
              <a:t>−48</a:t>
            </a:r>
            <a:endParaRPr lang="en-US" sz="6000" dirty="0"/>
          </a:p>
        </p:txBody>
      </p:sp>
      <p:sp>
        <p:nvSpPr>
          <p:cNvPr id="6" name="Text 3"/>
          <p:cNvSpPr txBox="1"/>
          <p:nvPr/>
        </p:nvSpPr>
        <p:spPr>
          <a:xfrm>
            <a:off x="2148840" y="1508760"/>
            <a:ext cx="548640" cy="457200"/>
          </a:xfrm>
          <a:prstGeom prst="rect">
            <a:avLst/>
          </a:prstGeom>
          <a:noFill/>
          <a:ln/>
        </p:spPr>
        <p:txBody>
          <a:bodyPr wrap="square" lIns="0" tIns="0" rIns="0" bIns="0" rtlCol="0" anchor="b"/>
          <a:lstStyle/>
          <a:p>
            <a:pPr marL="0" indent="0">
              <a:buNone/>
            </a:pPr>
            <a:r>
              <a:rPr lang="en-US" sz="1800" dirty="0">
                <a:solidFill>
                  <a:srgbClr val="7B7566"/>
                </a:solidFill>
                <a:latin typeface="Segoe UI" pitchFamily="34" charset="0"/>
                <a:ea typeface="Segoe UI" pitchFamily="34" charset="-122"/>
                <a:cs typeface="Segoe UI" pitchFamily="34" charset="-120"/>
              </a:rPr>
              <a:t>min</a:t>
            </a:r>
            <a:endParaRPr lang="en-US" sz="1800" dirty="0"/>
          </a:p>
        </p:txBody>
      </p:sp>
      <p:sp>
        <p:nvSpPr>
          <p:cNvPr id="7" name="Text 4"/>
          <p:cNvSpPr txBox="1"/>
          <p:nvPr/>
        </p:nvSpPr>
        <p:spPr>
          <a:xfrm>
            <a:off x="2788920" y="1371600"/>
            <a:ext cx="3108960" cy="548640"/>
          </a:xfrm>
          <a:prstGeom prst="rect">
            <a:avLst/>
          </a:prstGeom>
          <a:noFill/>
          <a:ln/>
        </p:spPr>
        <p:txBody>
          <a:bodyPr wrap="square" lIns="0" tIns="0" rIns="0" bIns="0" rtlCol="0" anchor="t"/>
          <a:lstStyle/>
          <a:p>
            <a:pPr marL="0" indent="0">
              <a:buNone/>
            </a:pPr>
            <a:r>
              <a:rPr lang="en-US" sz="850" kern="0" spc="60" dirty="0">
                <a:solidFill>
                  <a:srgbClr val="3A4A66"/>
                </a:solidFill>
                <a:latin typeface="Consolas" pitchFamily="34" charset="0"/>
                <a:ea typeface="Consolas" pitchFamily="34" charset="-122"/>
                <a:cs typeface="Consolas" pitchFamily="34" charset="-120"/>
              </a:rPr>
              <a:t>MEASURED CHANGE IN WAITING</a:t>
            </a:r>
            <a:endParaRPr lang="en-US" sz="850" dirty="0"/>
          </a:p>
          <a:p>
            <a:pPr marL="0" indent="0">
              <a:buNone/>
            </a:pPr>
            <a:r>
              <a:rPr lang="en-US" sz="850" kern="0" spc="60" dirty="0">
                <a:solidFill>
                  <a:srgbClr val="3A4A66"/>
                </a:solidFill>
                <a:latin typeface="Consolas" pitchFamily="34" charset="0"/>
                <a:ea typeface="Consolas" pitchFamily="34" charset="-122"/>
                <a:cs typeface="Consolas" pitchFamily="34" charset="-120"/>
              </a:rPr>
              <a:t>−2.5% · approved plan, realised durations</a:t>
            </a:r>
            <a:endParaRPr lang="en-US" sz="850" dirty="0"/>
          </a:p>
        </p:txBody>
      </p:sp>
      <p:sp>
        <p:nvSpPr>
          <p:cNvPr id="8" name="Text 5"/>
          <p:cNvSpPr txBox="1"/>
          <p:nvPr/>
        </p:nvSpPr>
        <p:spPr>
          <a:xfrm>
            <a:off x="548640" y="2011680"/>
            <a:ext cx="1005840" cy="365760"/>
          </a:xfrm>
          <a:prstGeom prst="rect">
            <a:avLst/>
          </a:prstGeom>
          <a:noFill/>
          <a:ln/>
        </p:spPr>
        <p:txBody>
          <a:bodyPr wrap="square" lIns="0" tIns="0" rIns="0" bIns="0" rtlCol="0" anchor="ctr"/>
          <a:lstStyle/>
          <a:p>
            <a:pPr marL="0" indent="0">
              <a:buNone/>
            </a:pPr>
            <a:r>
              <a:rPr lang="en-US" sz="2400" dirty="0">
                <a:solidFill>
                  <a:srgbClr val="A39C88"/>
                </a:solidFill>
                <a:latin typeface="Palatino Linotype" pitchFamily="34" charset="0"/>
                <a:ea typeface="Palatino Linotype" pitchFamily="34" charset="-122"/>
                <a:cs typeface="Palatino Linotype" pitchFamily="34" charset="-120"/>
              </a:rPr>
              <a:t>−80</a:t>
            </a:r>
            <a:endParaRPr lang="en-US" sz="2400" dirty="0"/>
          </a:p>
        </p:txBody>
      </p:sp>
      <p:sp>
        <p:nvSpPr>
          <p:cNvPr id="9" name="Text 6"/>
          <p:cNvSpPr txBox="1"/>
          <p:nvPr/>
        </p:nvSpPr>
        <p:spPr>
          <a:xfrm>
            <a:off x="1371600" y="2084832"/>
            <a:ext cx="4572000" cy="274320"/>
          </a:xfrm>
          <a:prstGeom prst="rect">
            <a:avLst/>
          </a:prstGeom>
          <a:noFill/>
          <a:ln/>
        </p:spPr>
        <p:txBody>
          <a:bodyPr wrap="square" lIns="0" tIns="0" rIns="0" bIns="0" rtlCol="0" anchor="ctr"/>
          <a:lstStyle/>
          <a:p>
            <a:pPr marL="0" indent="0">
              <a:buNone/>
            </a:pPr>
            <a:r>
              <a:rPr lang="en-US" sz="850" dirty="0">
                <a:solidFill>
                  <a:srgbClr val="7B7566"/>
                </a:solidFill>
                <a:latin typeface="Consolas" pitchFamily="34" charset="0"/>
                <a:ea typeface="Consolas" pitchFamily="34" charset="-122"/>
                <a:cs typeface="Consolas" pitchFamily="34" charset="-120"/>
              </a:rPr>
              <a:t>min  WHAT THE PLANNER PROJECTED (booked lengths)</a:t>
            </a:r>
            <a:endParaRPr lang="en-US" sz="850" dirty="0"/>
          </a:p>
        </p:txBody>
      </p:sp>
      <p:sp>
        <p:nvSpPr>
          <p:cNvPr id="10" name="Shape 7"/>
          <p:cNvSpPr/>
          <p:nvPr/>
        </p:nvSpPr>
        <p:spPr>
          <a:xfrm>
            <a:off x="822960" y="4709160"/>
            <a:ext cx="5166360" cy="0"/>
          </a:xfrm>
          <a:prstGeom prst="line">
            <a:avLst/>
          </a:prstGeom>
          <a:noFill/>
          <a:ln w="6350">
            <a:solidFill>
              <a:srgbClr val="DDD5C3"/>
            </a:solidFill>
            <a:prstDash val="solid"/>
          </a:ln>
        </p:spPr>
      </p:sp>
      <p:sp>
        <p:nvSpPr>
          <p:cNvPr id="11" name="Text 8"/>
          <p:cNvSpPr txBox="1"/>
          <p:nvPr/>
        </p:nvSpPr>
        <p:spPr>
          <a:xfrm>
            <a:off x="182880" y="4636008"/>
            <a:ext cx="594360" cy="146304"/>
          </a:xfrm>
          <a:prstGeom prst="rect">
            <a:avLst/>
          </a:prstGeom>
          <a:noFill/>
          <a:ln/>
        </p:spPr>
        <p:txBody>
          <a:bodyPr wrap="square" lIns="0" tIns="0" rIns="0" bIns="0" rtlCol="0" anchor="t"/>
          <a:lstStyle/>
          <a:p>
            <a:pPr marL="0" indent="0" algn="r">
              <a:buNone/>
            </a:pPr>
            <a:r>
              <a:rPr lang="en-US" sz="700" dirty="0">
                <a:solidFill>
                  <a:srgbClr val="7B7566"/>
                </a:solidFill>
                <a:latin typeface="Consolas" pitchFamily="34" charset="0"/>
                <a:ea typeface="Consolas" pitchFamily="34" charset="-122"/>
                <a:cs typeface="Consolas" pitchFamily="34" charset="-120"/>
              </a:rPr>
              <a:t>870</a:t>
            </a:r>
            <a:endParaRPr lang="en-US" sz="700" dirty="0"/>
          </a:p>
        </p:txBody>
      </p:sp>
      <p:sp>
        <p:nvSpPr>
          <p:cNvPr id="12" name="Shape 9"/>
          <p:cNvSpPr/>
          <p:nvPr/>
        </p:nvSpPr>
        <p:spPr>
          <a:xfrm>
            <a:off x="822960" y="4182496"/>
            <a:ext cx="5166360" cy="0"/>
          </a:xfrm>
          <a:prstGeom prst="line">
            <a:avLst/>
          </a:prstGeom>
          <a:noFill/>
          <a:ln w="6350">
            <a:solidFill>
              <a:srgbClr val="DDD5C3"/>
            </a:solidFill>
            <a:prstDash val="solid"/>
          </a:ln>
        </p:spPr>
      </p:sp>
      <p:sp>
        <p:nvSpPr>
          <p:cNvPr id="13" name="Text 10"/>
          <p:cNvSpPr txBox="1"/>
          <p:nvPr/>
        </p:nvSpPr>
        <p:spPr>
          <a:xfrm>
            <a:off x="182880" y="4109344"/>
            <a:ext cx="594360" cy="146304"/>
          </a:xfrm>
          <a:prstGeom prst="rect">
            <a:avLst/>
          </a:prstGeom>
          <a:noFill/>
          <a:ln/>
        </p:spPr>
        <p:txBody>
          <a:bodyPr wrap="square" lIns="0" tIns="0" rIns="0" bIns="0" rtlCol="0" anchor="t"/>
          <a:lstStyle/>
          <a:p>
            <a:pPr marL="0" indent="0" algn="r">
              <a:buNone/>
            </a:pPr>
            <a:r>
              <a:rPr lang="en-US" sz="700" dirty="0">
                <a:solidFill>
                  <a:srgbClr val="7B7566"/>
                </a:solidFill>
                <a:latin typeface="Consolas" pitchFamily="34" charset="0"/>
                <a:ea typeface="Consolas" pitchFamily="34" charset="-122"/>
                <a:cs typeface="Consolas" pitchFamily="34" charset="-120"/>
              </a:rPr>
              <a:t>1,168</a:t>
            </a:r>
            <a:endParaRPr lang="en-US" sz="700" dirty="0"/>
          </a:p>
        </p:txBody>
      </p:sp>
      <p:sp>
        <p:nvSpPr>
          <p:cNvPr id="14" name="Shape 11"/>
          <p:cNvSpPr/>
          <p:nvPr/>
        </p:nvSpPr>
        <p:spPr>
          <a:xfrm>
            <a:off x="822960" y="3657600"/>
            <a:ext cx="5166360" cy="0"/>
          </a:xfrm>
          <a:prstGeom prst="line">
            <a:avLst/>
          </a:prstGeom>
          <a:noFill/>
          <a:ln w="6350">
            <a:solidFill>
              <a:srgbClr val="DDD5C3"/>
            </a:solidFill>
            <a:prstDash val="solid"/>
          </a:ln>
        </p:spPr>
      </p:sp>
      <p:sp>
        <p:nvSpPr>
          <p:cNvPr id="15" name="Text 12"/>
          <p:cNvSpPr txBox="1"/>
          <p:nvPr/>
        </p:nvSpPr>
        <p:spPr>
          <a:xfrm>
            <a:off x="182880" y="3584448"/>
            <a:ext cx="594360" cy="146304"/>
          </a:xfrm>
          <a:prstGeom prst="rect">
            <a:avLst/>
          </a:prstGeom>
          <a:noFill/>
          <a:ln/>
        </p:spPr>
        <p:txBody>
          <a:bodyPr wrap="square" lIns="0" tIns="0" rIns="0" bIns="0" rtlCol="0" anchor="t"/>
          <a:lstStyle/>
          <a:p>
            <a:pPr marL="0" indent="0" algn="r">
              <a:buNone/>
            </a:pPr>
            <a:r>
              <a:rPr lang="en-US" sz="700" dirty="0">
                <a:solidFill>
                  <a:srgbClr val="7B7566"/>
                </a:solidFill>
                <a:latin typeface="Consolas" pitchFamily="34" charset="0"/>
                <a:ea typeface="Consolas" pitchFamily="34" charset="-122"/>
                <a:cs typeface="Consolas" pitchFamily="34" charset="-120"/>
              </a:rPr>
              <a:t>1,465</a:t>
            </a:r>
            <a:endParaRPr lang="en-US" sz="700" dirty="0"/>
          </a:p>
        </p:txBody>
      </p:sp>
      <p:sp>
        <p:nvSpPr>
          <p:cNvPr id="16" name="Shape 13"/>
          <p:cNvSpPr/>
          <p:nvPr/>
        </p:nvSpPr>
        <p:spPr>
          <a:xfrm>
            <a:off x="822960" y="3130936"/>
            <a:ext cx="5166360" cy="0"/>
          </a:xfrm>
          <a:prstGeom prst="line">
            <a:avLst/>
          </a:prstGeom>
          <a:noFill/>
          <a:ln w="6350">
            <a:solidFill>
              <a:srgbClr val="DDD5C3"/>
            </a:solidFill>
            <a:prstDash val="solid"/>
          </a:ln>
        </p:spPr>
      </p:sp>
      <p:sp>
        <p:nvSpPr>
          <p:cNvPr id="17" name="Text 14"/>
          <p:cNvSpPr txBox="1"/>
          <p:nvPr/>
        </p:nvSpPr>
        <p:spPr>
          <a:xfrm>
            <a:off x="182880" y="3057784"/>
            <a:ext cx="594360" cy="146304"/>
          </a:xfrm>
          <a:prstGeom prst="rect">
            <a:avLst/>
          </a:prstGeom>
          <a:noFill/>
          <a:ln/>
        </p:spPr>
        <p:txBody>
          <a:bodyPr wrap="square" lIns="0" tIns="0" rIns="0" bIns="0" rtlCol="0" anchor="t"/>
          <a:lstStyle/>
          <a:p>
            <a:pPr marL="0" indent="0" algn="r">
              <a:buNone/>
            </a:pPr>
            <a:r>
              <a:rPr lang="en-US" sz="700" dirty="0">
                <a:solidFill>
                  <a:srgbClr val="7B7566"/>
                </a:solidFill>
                <a:latin typeface="Consolas" pitchFamily="34" charset="0"/>
                <a:ea typeface="Consolas" pitchFamily="34" charset="-122"/>
                <a:cs typeface="Consolas" pitchFamily="34" charset="-120"/>
              </a:rPr>
              <a:t>1,763</a:t>
            </a:r>
            <a:endParaRPr lang="en-US" sz="700" dirty="0"/>
          </a:p>
        </p:txBody>
      </p:sp>
      <p:sp>
        <p:nvSpPr>
          <p:cNvPr id="18" name="Shape 15"/>
          <p:cNvSpPr/>
          <p:nvPr/>
        </p:nvSpPr>
        <p:spPr>
          <a:xfrm>
            <a:off x="822960" y="2606040"/>
            <a:ext cx="5166360" cy="0"/>
          </a:xfrm>
          <a:prstGeom prst="line">
            <a:avLst/>
          </a:prstGeom>
          <a:noFill/>
          <a:ln w="6350">
            <a:solidFill>
              <a:srgbClr val="DDD5C3"/>
            </a:solidFill>
            <a:prstDash val="solid"/>
          </a:ln>
        </p:spPr>
      </p:sp>
      <p:sp>
        <p:nvSpPr>
          <p:cNvPr id="19" name="Text 16"/>
          <p:cNvSpPr txBox="1"/>
          <p:nvPr/>
        </p:nvSpPr>
        <p:spPr>
          <a:xfrm>
            <a:off x="182880" y="2532888"/>
            <a:ext cx="594360" cy="146304"/>
          </a:xfrm>
          <a:prstGeom prst="rect">
            <a:avLst/>
          </a:prstGeom>
          <a:noFill/>
          <a:ln/>
        </p:spPr>
        <p:txBody>
          <a:bodyPr wrap="square" lIns="0" tIns="0" rIns="0" bIns="0" rtlCol="0" anchor="t"/>
          <a:lstStyle/>
          <a:p>
            <a:pPr marL="0" indent="0" algn="r">
              <a:buNone/>
            </a:pPr>
            <a:r>
              <a:rPr lang="en-US" sz="700" dirty="0">
                <a:solidFill>
                  <a:srgbClr val="7B7566"/>
                </a:solidFill>
                <a:latin typeface="Consolas" pitchFamily="34" charset="0"/>
                <a:ea typeface="Consolas" pitchFamily="34" charset="-122"/>
                <a:cs typeface="Consolas" pitchFamily="34" charset="-120"/>
              </a:rPr>
              <a:t>2,060</a:t>
            </a:r>
            <a:endParaRPr lang="en-US" sz="700" dirty="0"/>
          </a:p>
        </p:txBody>
      </p:sp>
      <p:sp>
        <p:nvSpPr>
          <p:cNvPr id="20" name="S9_bar0"/>
          <p:cNvSpPr/>
          <p:nvPr/>
        </p:nvSpPr>
        <p:spPr>
          <a:xfrm>
            <a:off x="917258" y="4380437"/>
            <a:ext cx="457200" cy="328723"/>
          </a:xfrm>
          <a:prstGeom prst="rect">
            <a:avLst/>
          </a:prstGeom>
          <a:solidFill>
            <a:srgbClr val="1B2D4D"/>
          </a:solidFill>
          <a:ln/>
        </p:spPr>
      </p:sp>
      <p:sp>
        <p:nvSpPr>
          <p:cNvPr id="21" name="Text 18"/>
          <p:cNvSpPr txBox="1"/>
          <p:nvPr/>
        </p:nvSpPr>
        <p:spPr>
          <a:xfrm>
            <a:off x="734378" y="4197557"/>
            <a:ext cx="822960" cy="164592"/>
          </a:xfrm>
          <a:prstGeom prst="rect">
            <a:avLst/>
          </a:prstGeom>
          <a:noFill/>
          <a:ln/>
        </p:spPr>
        <p:txBody>
          <a:bodyPr wrap="square" lIns="0" tIns="0" rIns="0" bIns="0" rtlCol="0" anchor="t"/>
          <a:lstStyle/>
          <a:p>
            <a:pPr marL="0" indent="0" algn="ctr">
              <a:buNone/>
            </a:pPr>
            <a:r>
              <a:rPr lang="en-US" sz="850" b="1" dirty="0">
                <a:solidFill>
                  <a:srgbClr val="15233B"/>
                </a:solidFill>
                <a:latin typeface="Consolas" pitchFamily="34" charset="0"/>
                <a:ea typeface="Consolas" pitchFamily="34" charset="-122"/>
                <a:cs typeface="Consolas" pitchFamily="34" charset="-120"/>
              </a:rPr>
              <a:t>1,056</a:t>
            </a:r>
            <a:endParaRPr lang="en-US" sz="850" dirty="0"/>
          </a:p>
        </p:txBody>
      </p:sp>
      <p:sp>
        <p:nvSpPr>
          <p:cNvPr id="22" name="Text 19"/>
          <p:cNvSpPr txBox="1"/>
          <p:nvPr/>
        </p:nvSpPr>
        <p:spPr>
          <a:xfrm>
            <a:off x="688658" y="4773168"/>
            <a:ext cx="914400" cy="365760"/>
          </a:xfrm>
          <a:prstGeom prst="rect">
            <a:avLst/>
          </a:prstGeom>
          <a:noFill/>
          <a:ln/>
        </p:spPr>
        <p:txBody>
          <a:bodyPr wrap="square" lIns="0" tIns="0" rIns="0" bIns="0" rtlCol="0" anchor="t"/>
          <a:lstStyle/>
          <a:p>
            <a:pPr marL="0" indent="0" algn="ctr">
              <a:buNone/>
            </a:pPr>
            <a:r>
              <a:rPr lang="en-US" sz="750" dirty="0">
                <a:solidFill>
                  <a:srgbClr val="3A4A66"/>
                </a:solidFill>
                <a:latin typeface="Segoe UI" pitchFamily="34" charset="0"/>
                <a:ea typeface="Segoe UI" pitchFamily="34" charset="-122"/>
                <a:cs typeface="Segoe UI" pitchFamily="34" charset="-120"/>
              </a:rPr>
              <a:t>Normal</a:t>
            </a:r>
            <a:endParaRPr lang="en-US" sz="750" dirty="0"/>
          </a:p>
          <a:p>
            <a:pPr marL="0" indent="0" algn="ctr">
              <a:buNone/>
            </a:pPr>
            <a:r>
              <a:rPr lang="en-US" sz="750" dirty="0">
                <a:solidFill>
                  <a:srgbClr val="3A4A66"/>
                </a:solidFill>
                <a:latin typeface="Segoe UI" pitchFamily="34" charset="0"/>
                <a:ea typeface="Segoe UI" pitchFamily="34" charset="-122"/>
                <a:cs typeface="Segoe UI" pitchFamily="34" charset="-120"/>
              </a:rPr>
              <a:t>operations</a:t>
            </a:r>
            <a:endParaRPr lang="en-US" sz="750" dirty="0"/>
          </a:p>
        </p:txBody>
      </p:sp>
      <p:sp>
        <p:nvSpPr>
          <p:cNvPr id="23" name="S9_bar1"/>
          <p:cNvSpPr/>
          <p:nvPr/>
        </p:nvSpPr>
        <p:spPr>
          <a:xfrm>
            <a:off x="1563052" y="2807515"/>
            <a:ext cx="457200" cy="1572922"/>
          </a:xfrm>
          <a:prstGeom prst="rect">
            <a:avLst/>
          </a:prstGeom>
          <a:solidFill>
            <a:srgbClr val="B4642F"/>
          </a:solidFill>
          <a:ln/>
        </p:spPr>
      </p:sp>
      <p:sp>
        <p:nvSpPr>
          <p:cNvPr id="24" name="Text 21"/>
          <p:cNvSpPr txBox="1"/>
          <p:nvPr/>
        </p:nvSpPr>
        <p:spPr>
          <a:xfrm>
            <a:off x="1380173" y="2624635"/>
            <a:ext cx="822960" cy="164592"/>
          </a:xfrm>
          <a:prstGeom prst="rect">
            <a:avLst/>
          </a:prstGeom>
          <a:noFill/>
          <a:ln/>
        </p:spPr>
        <p:txBody>
          <a:bodyPr wrap="square" lIns="0" tIns="0" rIns="0" bIns="0" rtlCol="0" anchor="t"/>
          <a:lstStyle/>
          <a:p>
            <a:pPr marL="0" indent="0" algn="ctr">
              <a:buNone/>
            </a:pPr>
            <a:r>
              <a:rPr lang="en-US" sz="850" b="1" dirty="0">
                <a:solidFill>
                  <a:srgbClr val="B4642F"/>
                </a:solidFill>
                <a:latin typeface="Consolas" pitchFamily="34" charset="0"/>
                <a:ea typeface="Consolas" pitchFamily="34" charset="-122"/>
                <a:cs typeface="Consolas" pitchFamily="34" charset="-120"/>
              </a:rPr>
              <a:t>+890</a:t>
            </a:r>
            <a:endParaRPr lang="en-US" sz="850" dirty="0"/>
          </a:p>
        </p:txBody>
      </p:sp>
      <p:sp>
        <p:nvSpPr>
          <p:cNvPr id="25" name="Text 22"/>
          <p:cNvSpPr txBox="1"/>
          <p:nvPr/>
        </p:nvSpPr>
        <p:spPr>
          <a:xfrm>
            <a:off x="1334452" y="4773168"/>
            <a:ext cx="914400" cy="365760"/>
          </a:xfrm>
          <a:prstGeom prst="rect">
            <a:avLst/>
          </a:prstGeom>
          <a:noFill/>
          <a:ln/>
        </p:spPr>
        <p:txBody>
          <a:bodyPr wrap="square" lIns="0" tIns="0" rIns="0" bIns="0" rtlCol="0" anchor="t"/>
          <a:lstStyle/>
          <a:p>
            <a:pPr marL="0" indent="0" algn="ctr">
              <a:buNone/>
            </a:pPr>
            <a:r>
              <a:rPr lang="en-US" sz="750" dirty="0">
                <a:solidFill>
                  <a:srgbClr val="3A4A66"/>
                </a:solidFill>
                <a:latin typeface="Segoe UI" pitchFamily="34" charset="0"/>
                <a:ea typeface="Segoe UI" pitchFamily="34" charset="-122"/>
                <a:cs typeface="Segoe UI" pitchFamily="34" charset="-120"/>
              </a:rPr>
              <a:t>Disruption:</a:t>
            </a:r>
            <a:endParaRPr lang="en-US" sz="750" dirty="0"/>
          </a:p>
          <a:p>
            <a:pPr marL="0" indent="0" algn="ctr">
              <a:buNone/>
            </a:pPr>
            <a:r>
              <a:rPr lang="en-US" sz="750" dirty="0">
                <a:solidFill>
                  <a:srgbClr val="3A4A66"/>
                </a:solidFill>
                <a:latin typeface="Segoe UI" pitchFamily="34" charset="0"/>
                <a:ea typeface="Segoe UI" pitchFamily="34" charset="-122"/>
                <a:cs typeface="Segoe UI" pitchFamily="34" charset="-120"/>
              </a:rPr>
              <a:t>staff out</a:t>
            </a:r>
            <a:endParaRPr lang="en-US" sz="750" dirty="0"/>
          </a:p>
        </p:txBody>
      </p:sp>
      <p:sp>
        <p:nvSpPr>
          <p:cNvPr id="26" name="S9_bar2"/>
          <p:cNvSpPr/>
          <p:nvPr/>
        </p:nvSpPr>
        <p:spPr>
          <a:xfrm>
            <a:off x="2208848" y="2807515"/>
            <a:ext cx="457200" cy="47718"/>
          </a:xfrm>
          <a:prstGeom prst="rect">
            <a:avLst/>
          </a:prstGeom>
          <a:solidFill>
            <a:srgbClr val="1F7B78"/>
          </a:solidFill>
          <a:ln/>
        </p:spPr>
      </p:sp>
      <p:sp>
        <p:nvSpPr>
          <p:cNvPr id="27" name="Text 24"/>
          <p:cNvSpPr txBox="1"/>
          <p:nvPr/>
        </p:nvSpPr>
        <p:spPr>
          <a:xfrm>
            <a:off x="2025967" y="2624635"/>
            <a:ext cx="822960" cy="164592"/>
          </a:xfrm>
          <a:prstGeom prst="rect">
            <a:avLst/>
          </a:prstGeom>
          <a:noFill/>
          <a:ln/>
        </p:spPr>
        <p:txBody>
          <a:bodyPr wrap="square" lIns="0" tIns="0" rIns="0" bIns="0" rtlCol="0" anchor="t"/>
          <a:lstStyle/>
          <a:p>
            <a:pPr marL="0" indent="0" algn="ctr">
              <a:buNone/>
            </a:pPr>
            <a:r>
              <a:rPr lang="en-US" sz="850" b="1" dirty="0">
                <a:solidFill>
                  <a:srgbClr val="1F7B78"/>
                </a:solidFill>
                <a:latin typeface="Consolas" pitchFamily="34" charset="0"/>
                <a:ea typeface="Consolas" pitchFamily="34" charset="-122"/>
                <a:cs typeface="Consolas" pitchFamily="34" charset="-120"/>
              </a:rPr>
              <a:t>−27</a:t>
            </a:r>
            <a:endParaRPr lang="en-US" sz="850" dirty="0"/>
          </a:p>
        </p:txBody>
      </p:sp>
      <p:sp>
        <p:nvSpPr>
          <p:cNvPr id="28" name="Text 25"/>
          <p:cNvSpPr txBox="1"/>
          <p:nvPr/>
        </p:nvSpPr>
        <p:spPr>
          <a:xfrm>
            <a:off x="1980248" y="4773168"/>
            <a:ext cx="914400" cy="365760"/>
          </a:xfrm>
          <a:prstGeom prst="rect">
            <a:avLst/>
          </a:prstGeom>
          <a:noFill/>
          <a:ln/>
        </p:spPr>
        <p:txBody>
          <a:bodyPr wrap="square" lIns="0" tIns="0" rIns="0" bIns="0" rtlCol="0" anchor="t"/>
          <a:lstStyle/>
          <a:p>
            <a:pPr marL="0" indent="0" algn="ctr">
              <a:buNone/>
            </a:pPr>
            <a:r>
              <a:rPr lang="en-US" sz="750" dirty="0">
                <a:solidFill>
                  <a:srgbClr val="3A4A66"/>
                </a:solidFill>
                <a:latin typeface="Segoe UI" pitchFamily="34" charset="0"/>
                <a:ea typeface="Segoe UI" pitchFamily="34" charset="-122"/>
                <a:cs typeface="Segoe UI" pitchFamily="34" charset="-120"/>
              </a:rPr>
              <a:t>Hold current</a:t>
            </a:r>
            <a:endParaRPr lang="en-US" sz="750" dirty="0"/>
          </a:p>
          <a:p>
            <a:pPr marL="0" indent="0" algn="ctr">
              <a:buNone/>
            </a:pPr>
            <a:r>
              <a:rPr lang="en-US" sz="750" dirty="0">
                <a:solidFill>
                  <a:srgbClr val="3A4A66"/>
                </a:solidFill>
                <a:latin typeface="Segoe UI" pitchFamily="34" charset="0"/>
                <a:ea typeface="Segoe UI" pitchFamily="34" charset="-122"/>
                <a:cs typeface="Segoe UI" pitchFamily="34" charset="-120"/>
              </a:rPr>
              <a:t>plan fixed</a:t>
            </a:r>
            <a:endParaRPr lang="en-US" sz="750" dirty="0"/>
          </a:p>
        </p:txBody>
      </p:sp>
      <p:sp>
        <p:nvSpPr>
          <p:cNvPr id="29" name="S9_bar3"/>
          <p:cNvSpPr/>
          <p:nvPr/>
        </p:nvSpPr>
        <p:spPr>
          <a:xfrm>
            <a:off x="2854642" y="2855233"/>
            <a:ext cx="457200" cy="22860"/>
          </a:xfrm>
          <a:prstGeom prst="rect">
            <a:avLst/>
          </a:prstGeom>
          <a:solidFill>
            <a:srgbClr val="1F7B78"/>
          </a:solidFill>
          <a:ln/>
        </p:spPr>
      </p:sp>
      <p:sp>
        <p:nvSpPr>
          <p:cNvPr id="30" name="Text 27"/>
          <p:cNvSpPr txBox="1"/>
          <p:nvPr/>
        </p:nvSpPr>
        <p:spPr>
          <a:xfrm>
            <a:off x="2671762" y="2672353"/>
            <a:ext cx="822960" cy="164592"/>
          </a:xfrm>
          <a:prstGeom prst="rect">
            <a:avLst/>
          </a:prstGeom>
          <a:noFill/>
          <a:ln/>
        </p:spPr>
        <p:txBody>
          <a:bodyPr wrap="square" lIns="0" tIns="0" rIns="0" bIns="0" rtlCol="0" anchor="t"/>
          <a:lstStyle/>
          <a:p>
            <a:pPr marL="0" indent="0" algn="ctr">
              <a:buNone/>
            </a:pPr>
            <a:r>
              <a:rPr lang="en-US" sz="850" b="1" dirty="0">
                <a:solidFill>
                  <a:srgbClr val="1F7B78"/>
                </a:solidFill>
                <a:latin typeface="Consolas" pitchFamily="34" charset="0"/>
                <a:ea typeface="Consolas" pitchFamily="34" charset="-122"/>
                <a:cs typeface="Consolas" pitchFamily="34" charset="-120"/>
              </a:rPr>
              <a:t>±0</a:t>
            </a:r>
            <a:endParaRPr lang="en-US" sz="850" dirty="0"/>
          </a:p>
        </p:txBody>
      </p:sp>
      <p:sp>
        <p:nvSpPr>
          <p:cNvPr id="31" name="Text 28"/>
          <p:cNvSpPr txBox="1"/>
          <p:nvPr/>
        </p:nvSpPr>
        <p:spPr>
          <a:xfrm>
            <a:off x="2626042" y="4773168"/>
            <a:ext cx="914400" cy="365760"/>
          </a:xfrm>
          <a:prstGeom prst="rect">
            <a:avLst/>
          </a:prstGeom>
          <a:noFill/>
          <a:ln/>
        </p:spPr>
        <p:txBody>
          <a:bodyPr wrap="square" lIns="0" tIns="0" rIns="0" bIns="0" rtlCol="0" anchor="t"/>
          <a:lstStyle/>
          <a:p>
            <a:pPr marL="0" indent="0" algn="ctr">
              <a:buNone/>
            </a:pPr>
            <a:r>
              <a:rPr lang="en-US" sz="750" dirty="0">
                <a:solidFill>
                  <a:srgbClr val="3A4A66"/>
                </a:solidFill>
                <a:latin typeface="Segoe UI" pitchFamily="34" charset="0"/>
                <a:ea typeface="Segoe UI" pitchFamily="34" charset="-122"/>
                <a:cs typeface="Segoe UI" pitchFamily="34" charset="-120"/>
              </a:rPr>
              <a:t>Re-seq.</a:t>
            </a:r>
            <a:endParaRPr lang="en-US" sz="750" dirty="0"/>
          </a:p>
          <a:p>
            <a:pPr marL="0" indent="0" algn="ctr">
              <a:buNone/>
            </a:pPr>
            <a:r>
              <a:rPr lang="en-US" sz="750" dirty="0">
                <a:solidFill>
                  <a:srgbClr val="3A4A66"/>
                </a:solidFill>
                <a:latin typeface="Segoe UI" pitchFamily="34" charset="0"/>
                <a:ea typeface="Segoe UI" pitchFamily="34" charset="-122"/>
                <a:cs typeface="Segoe UI" pitchFamily="34" charset="-120"/>
              </a:rPr>
              <a:t>CHK-1</a:t>
            </a:r>
            <a:endParaRPr lang="en-US" sz="750" dirty="0"/>
          </a:p>
        </p:txBody>
      </p:sp>
      <p:sp>
        <p:nvSpPr>
          <p:cNvPr id="32" name="S9_bar4"/>
          <p:cNvSpPr/>
          <p:nvPr/>
        </p:nvSpPr>
        <p:spPr>
          <a:xfrm>
            <a:off x="3500437" y="2855233"/>
            <a:ext cx="457200" cy="22860"/>
          </a:xfrm>
          <a:prstGeom prst="rect">
            <a:avLst/>
          </a:prstGeom>
          <a:solidFill>
            <a:srgbClr val="1F7B78"/>
          </a:solidFill>
          <a:ln/>
        </p:spPr>
      </p:sp>
      <p:sp>
        <p:nvSpPr>
          <p:cNvPr id="33" name="Text 30"/>
          <p:cNvSpPr txBox="1"/>
          <p:nvPr/>
        </p:nvSpPr>
        <p:spPr>
          <a:xfrm>
            <a:off x="3317557" y="2672353"/>
            <a:ext cx="822960" cy="164592"/>
          </a:xfrm>
          <a:prstGeom prst="rect">
            <a:avLst/>
          </a:prstGeom>
          <a:noFill/>
          <a:ln/>
        </p:spPr>
        <p:txBody>
          <a:bodyPr wrap="square" lIns="0" tIns="0" rIns="0" bIns="0" rtlCol="0" anchor="t"/>
          <a:lstStyle/>
          <a:p>
            <a:pPr marL="0" indent="0" algn="ctr">
              <a:buNone/>
            </a:pPr>
            <a:r>
              <a:rPr lang="en-US" sz="850" b="1" dirty="0">
                <a:solidFill>
                  <a:srgbClr val="1F7B78"/>
                </a:solidFill>
                <a:latin typeface="Consolas" pitchFamily="34" charset="0"/>
                <a:ea typeface="Consolas" pitchFamily="34" charset="-122"/>
                <a:cs typeface="Consolas" pitchFamily="34" charset="-120"/>
              </a:rPr>
              <a:t>−5</a:t>
            </a:r>
            <a:endParaRPr lang="en-US" sz="850" dirty="0"/>
          </a:p>
        </p:txBody>
      </p:sp>
      <p:sp>
        <p:nvSpPr>
          <p:cNvPr id="34" name="Text 31"/>
          <p:cNvSpPr txBox="1"/>
          <p:nvPr/>
        </p:nvSpPr>
        <p:spPr>
          <a:xfrm>
            <a:off x="3271837" y="4773168"/>
            <a:ext cx="914400" cy="365760"/>
          </a:xfrm>
          <a:prstGeom prst="rect">
            <a:avLst/>
          </a:prstGeom>
          <a:noFill/>
          <a:ln/>
        </p:spPr>
        <p:txBody>
          <a:bodyPr wrap="square" lIns="0" tIns="0" rIns="0" bIns="0" rtlCol="0" anchor="t"/>
          <a:lstStyle/>
          <a:p>
            <a:pPr marL="0" indent="0" algn="ctr">
              <a:buNone/>
            </a:pPr>
            <a:r>
              <a:rPr lang="en-US" sz="750" dirty="0">
                <a:solidFill>
                  <a:srgbClr val="3A4A66"/>
                </a:solidFill>
                <a:latin typeface="Segoe UI" pitchFamily="34" charset="0"/>
                <a:ea typeface="Segoe UI" pitchFamily="34" charset="-122"/>
                <a:cs typeface="Segoe UI" pitchFamily="34" charset="-120"/>
              </a:rPr>
              <a:t>Re-seq.</a:t>
            </a:r>
            <a:endParaRPr lang="en-US" sz="750" dirty="0"/>
          </a:p>
          <a:p>
            <a:pPr marL="0" indent="0" algn="ctr">
              <a:buNone/>
            </a:pPr>
            <a:r>
              <a:rPr lang="en-US" sz="750" dirty="0">
                <a:solidFill>
                  <a:srgbClr val="3A4A66"/>
                </a:solidFill>
                <a:latin typeface="Segoe UI" pitchFamily="34" charset="0"/>
                <a:ea typeface="Segoe UI" pitchFamily="34" charset="-122"/>
                <a:cs typeface="Segoe UI" pitchFamily="34" charset="-120"/>
              </a:rPr>
              <a:t>GP-1</a:t>
            </a:r>
            <a:endParaRPr lang="en-US" sz="750" dirty="0"/>
          </a:p>
        </p:txBody>
      </p:sp>
      <p:sp>
        <p:nvSpPr>
          <p:cNvPr id="35" name="S9_bar5"/>
          <p:cNvSpPr/>
          <p:nvPr/>
        </p:nvSpPr>
        <p:spPr>
          <a:xfrm>
            <a:off x="4146233" y="2864070"/>
            <a:ext cx="457200" cy="33579"/>
          </a:xfrm>
          <a:prstGeom prst="rect">
            <a:avLst/>
          </a:prstGeom>
          <a:solidFill>
            <a:srgbClr val="1F7B78"/>
          </a:solidFill>
          <a:ln/>
        </p:spPr>
      </p:sp>
      <p:sp>
        <p:nvSpPr>
          <p:cNvPr id="36" name="Text 33"/>
          <p:cNvSpPr txBox="1"/>
          <p:nvPr/>
        </p:nvSpPr>
        <p:spPr>
          <a:xfrm>
            <a:off x="3963352" y="2681190"/>
            <a:ext cx="822960" cy="164592"/>
          </a:xfrm>
          <a:prstGeom prst="rect">
            <a:avLst/>
          </a:prstGeom>
          <a:noFill/>
          <a:ln/>
        </p:spPr>
        <p:txBody>
          <a:bodyPr wrap="square" lIns="0" tIns="0" rIns="0" bIns="0" rtlCol="0" anchor="t"/>
          <a:lstStyle/>
          <a:p>
            <a:pPr marL="0" indent="0" algn="ctr">
              <a:buNone/>
            </a:pPr>
            <a:r>
              <a:rPr lang="en-US" sz="850" b="1" dirty="0">
                <a:solidFill>
                  <a:srgbClr val="1F7B78"/>
                </a:solidFill>
                <a:latin typeface="Consolas" pitchFamily="34" charset="0"/>
                <a:ea typeface="Consolas" pitchFamily="34" charset="-122"/>
                <a:cs typeface="Consolas" pitchFamily="34" charset="-120"/>
              </a:rPr>
              <a:t>−19</a:t>
            </a:r>
            <a:endParaRPr lang="en-US" sz="850" dirty="0"/>
          </a:p>
        </p:txBody>
      </p:sp>
      <p:sp>
        <p:nvSpPr>
          <p:cNvPr id="37" name="Text 34"/>
          <p:cNvSpPr txBox="1"/>
          <p:nvPr/>
        </p:nvSpPr>
        <p:spPr>
          <a:xfrm>
            <a:off x="3917633" y="4773168"/>
            <a:ext cx="914400" cy="365760"/>
          </a:xfrm>
          <a:prstGeom prst="rect">
            <a:avLst/>
          </a:prstGeom>
          <a:noFill/>
          <a:ln/>
        </p:spPr>
        <p:txBody>
          <a:bodyPr wrap="square" lIns="0" tIns="0" rIns="0" bIns="0" rtlCol="0" anchor="t"/>
          <a:lstStyle/>
          <a:p>
            <a:pPr marL="0" indent="0" algn="ctr">
              <a:buNone/>
            </a:pPr>
            <a:r>
              <a:rPr lang="en-US" sz="750" dirty="0">
                <a:solidFill>
                  <a:srgbClr val="3A4A66"/>
                </a:solidFill>
                <a:latin typeface="Segoe UI" pitchFamily="34" charset="0"/>
                <a:ea typeface="Segoe UI" pitchFamily="34" charset="-122"/>
                <a:cs typeface="Segoe UI" pitchFamily="34" charset="-120"/>
              </a:rPr>
              <a:t>Re-seq.</a:t>
            </a:r>
            <a:endParaRPr lang="en-US" sz="750" dirty="0"/>
          </a:p>
          <a:p>
            <a:pPr marL="0" indent="0" algn="ctr">
              <a:buNone/>
            </a:pPr>
            <a:r>
              <a:rPr lang="en-US" sz="750" dirty="0">
                <a:solidFill>
                  <a:srgbClr val="3A4A66"/>
                </a:solidFill>
                <a:latin typeface="Segoe UI" pitchFamily="34" charset="0"/>
                <a:ea typeface="Segoe UI" pitchFamily="34" charset="-122"/>
                <a:cs typeface="Segoe UI" pitchFamily="34" charset="-120"/>
              </a:rPr>
              <a:t>GP-3</a:t>
            </a:r>
            <a:endParaRPr lang="en-US" sz="750" dirty="0"/>
          </a:p>
        </p:txBody>
      </p:sp>
      <p:sp>
        <p:nvSpPr>
          <p:cNvPr id="38" name="S9_bar6"/>
          <p:cNvSpPr/>
          <p:nvPr/>
        </p:nvSpPr>
        <p:spPr>
          <a:xfrm>
            <a:off x="4792028" y="2892347"/>
            <a:ext cx="457200" cy="22860"/>
          </a:xfrm>
          <a:prstGeom prst="rect">
            <a:avLst/>
          </a:prstGeom>
          <a:solidFill>
            <a:srgbClr val="B4642F"/>
          </a:solidFill>
          <a:ln/>
        </p:spPr>
      </p:sp>
      <p:sp>
        <p:nvSpPr>
          <p:cNvPr id="39" name="Text 36"/>
          <p:cNvSpPr txBox="1"/>
          <p:nvPr/>
        </p:nvSpPr>
        <p:spPr>
          <a:xfrm>
            <a:off x="4609148" y="2709467"/>
            <a:ext cx="822960" cy="164592"/>
          </a:xfrm>
          <a:prstGeom prst="rect">
            <a:avLst/>
          </a:prstGeom>
          <a:noFill/>
          <a:ln/>
        </p:spPr>
        <p:txBody>
          <a:bodyPr wrap="square" lIns="0" tIns="0" rIns="0" bIns="0" rtlCol="0" anchor="t"/>
          <a:lstStyle/>
          <a:p>
            <a:pPr marL="0" indent="0" algn="ctr">
              <a:buNone/>
            </a:pPr>
            <a:r>
              <a:rPr lang="en-US" sz="850" b="1" dirty="0">
                <a:solidFill>
                  <a:srgbClr val="B4642F"/>
                </a:solidFill>
                <a:latin typeface="Consolas" pitchFamily="34" charset="0"/>
                <a:ea typeface="Consolas" pitchFamily="34" charset="-122"/>
                <a:cs typeface="Consolas" pitchFamily="34" charset="-120"/>
              </a:rPr>
              <a:t>+3</a:t>
            </a:r>
            <a:endParaRPr lang="en-US" sz="850" dirty="0"/>
          </a:p>
        </p:txBody>
      </p:sp>
      <p:sp>
        <p:nvSpPr>
          <p:cNvPr id="40" name="Text 37"/>
          <p:cNvSpPr txBox="1"/>
          <p:nvPr/>
        </p:nvSpPr>
        <p:spPr>
          <a:xfrm>
            <a:off x="4563428" y="4773168"/>
            <a:ext cx="914400" cy="365760"/>
          </a:xfrm>
          <a:prstGeom prst="rect">
            <a:avLst/>
          </a:prstGeom>
          <a:noFill/>
          <a:ln/>
        </p:spPr>
        <p:txBody>
          <a:bodyPr wrap="square" lIns="0" tIns="0" rIns="0" bIns="0" rtlCol="0" anchor="t"/>
          <a:lstStyle/>
          <a:p>
            <a:pPr marL="0" indent="0" algn="ctr">
              <a:buNone/>
            </a:pPr>
            <a:r>
              <a:rPr lang="en-US" sz="750" dirty="0">
                <a:solidFill>
                  <a:srgbClr val="3A4A66"/>
                </a:solidFill>
                <a:latin typeface="Segoe UI" pitchFamily="34" charset="0"/>
                <a:ea typeface="Segoe UI" pitchFamily="34" charset="-122"/>
                <a:cs typeface="Segoe UI" pitchFamily="34" charset="-120"/>
              </a:rPr>
              <a:t>Other</a:t>
            </a:r>
            <a:endParaRPr lang="en-US" sz="750" dirty="0"/>
          </a:p>
        </p:txBody>
      </p:sp>
      <p:sp>
        <p:nvSpPr>
          <p:cNvPr id="41" name="S9_bar7"/>
          <p:cNvSpPr/>
          <p:nvPr/>
        </p:nvSpPr>
        <p:spPr>
          <a:xfrm>
            <a:off x="5437823" y="2892347"/>
            <a:ext cx="457200" cy="1816813"/>
          </a:xfrm>
          <a:prstGeom prst="rect">
            <a:avLst/>
          </a:prstGeom>
          <a:solidFill>
            <a:srgbClr val="1B2D4D"/>
          </a:solidFill>
          <a:ln/>
        </p:spPr>
      </p:sp>
      <p:sp>
        <p:nvSpPr>
          <p:cNvPr id="42" name="Text 39"/>
          <p:cNvSpPr txBox="1"/>
          <p:nvPr/>
        </p:nvSpPr>
        <p:spPr>
          <a:xfrm>
            <a:off x="5254943" y="2709467"/>
            <a:ext cx="822960" cy="164592"/>
          </a:xfrm>
          <a:prstGeom prst="rect">
            <a:avLst/>
          </a:prstGeom>
          <a:noFill/>
          <a:ln/>
        </p:spPr>
        <p:txBody>
          <a:bodyPr wrap="square" lIns="0" tIns="0" rIns="0" bIns="0" rtlCol="0" anchor="t"/>
          <a:lstStyle/>
          <a:p>
            <a:pPr marL="0" indent="0" algn="ctr">
              <a:buNone/>
            </a:pPr>
            <a:r>
              <a:rPr lang="en-US" sz="850" b="1" dirty="0">
                <a:solidFill>
                  <a:srgbClr val="15233B"/>
                </a:solidFill>
                <a:latin typeface="Consolas" pitchFamily="34" charset="0"/>
                <a:ea typeface="Consolas" pitchFamily="34" charset="-122"/>
                <a:cs typeface="Consolas" pitchFamily="34" charset="-120"/>
              </a:rPr>
              <a:t>1,898</a:t>
            </a:r>
            <a:endParaRPr lang="en-US" sz="850" dirty="0"/>
          </a:p>
        </p:txBody>
      </p:sp>
      <p:sp>
        <p:nvSpPr>
          <p:cNvPr id="43" name="Text 40"/>
          <p:cNvSpPr txBox="1"/>
          <p:nvPr/>
        </p:nvSpPr>
        <p:spPr>
          <a:xfrm>
            <a:off x="5209223" y="4773168"/>
            <a:ext cx="914400" cy="365760"/>
          </a:xfrm>
          <a:prstGeom prst="rect">
            <a:avLst/>
          </a:prstGeom>
          <a:noFill/>
          <a:ln/>
        </p:spPr>
        <p:txBody>
          <a:bodyPr wrap="square" lIns="0" tIns="0" rIns="0" bIns="0" rtlCol="0" anchor="t"/>
          <a:lstStyle/>
          <a:p>
            <a:pPr marL="0" indent="0" algn="ctr">
              <a:buNone/>
            </a:pPr>
            <a:r>
              <a:rPr lang="en-US" sz="750" dirty="0">
                <a:solidFill>
                  <a:srgbClr val="3A4A66"/>
                </a:solidFill>
                <a:latin typeface="Segoe UI" pitchFamily="34" charset="0"/>
                <a:ea typeface="Segoe UI" pitchFamily="34" charset="-122"/>
                <a:cs typeface="Segoe UI" pitchFamily="34" charset="-120"/>
              </a:rPr>
              <a:t>With the</a:t>
            </a:r>
            <a:endParaRPr lang="en-US" sz="750" dirty="0"/>
          </a:p>
          <a:p>
            <a:pPr marL="0" indent="0" algn="ctr">
              <a:buNone/>
            </a:pPr>
            <a:r>
              <a:rPr lang="en-US" sz="750" dirty="0">
                <a:solidFill>
                  <a:srgbClr val="3A4A66"/>
                </a:solidFill>
                <a:latin typeface="Segoe UI" pitchFamily="34" charset="0"/>
                <a:ea typeface="Segoe UI" pitchFamily="34" charset="-122"/>
                <a:cs typeface="Segoe UI" pitchFamily="34" charset="-120"/>
              </a:rPr>
              <a:t>proposal</a:t>
            </a:r>
            <a:endParaRPr lang="en-US" sz="750" dirty="0"/>
          </a:p>
        </p:txBody>
      </p:sp>
      <p:sp>
        <p:nvSpPr>
          <p:cNvPr id="44" name="Text 41"/>
          <p:cNvSpPr txBox="1"/>
          <p:nvPr/>
        </p:nvSpPr>
        <p:spPr>
          <a:xfrm>
            <a:off x="822960" y="2395728"/>
            <a:ext cx="5212080" cy="164592"/>
          </a:xfrm>
          <a:prstGeom prst="rect">
            <a:avLst/>
          </a:prstGeom>
          <a:noFill/>
          <a:ln/>
        </p:spPr>
        <p:txBody>
          <a:bodyPr wrap="square" lIns="0" tIns="0" rIns="0" bIns="0" rtlCol="0" anchor="t"/>
          <a:lstStyle/>
          <a:p>
            <a:pPr marL="0" indent="0">
              <a:buNone/>
            </a:pPr>
            <a:r>
              <a:rPr lang="en-US" sz="750" dirty="0">
                <a:solidFill>
                  <a:srgbClr val="7B7566"/>
                </a:solidFill>
                <a:latin typeface="Consolas" pitchFamily="34" charset="0"/>
                <a:ea typeface="Consolas" pitchFamily="34" charset="-122"/>
                <a:cs typeface="Consolas" pitchFamily="34" charset="-120"/>
              </a:rPr>
              <a:t>Total patient waiting minutes · axis starts at 870 · each bar is a separate replay</a:t>
            </a:r>
            <a:endParaRPr lang="en-US" sz="750" dirty="0"/>
          </a:p>
        </p:txBody>
      </p:sp>
      <p:sp>
        <p:nvSpPr>
          <p:cNvPr id="45" name="Shape 42"/>
          <p:cNvSpPr/>
          <p:nvPr/>
        </p:nvSpPr>
        <p:spPr>
          <a:xfrm>
            <a:off x="548640" y="5212080"/>
            <a:ext cx="5486400" cy="914400"/>
          </a:xfrm>
          <a:prstGeom prst="roundRect">
            <a:avLst>
              <a:gd name="adj" fmla="val 7000"/>
            </a:avLst>
          </a:prstGeom>
          <a:solidFill>
            <a:srgbClr val="FBF9F4"/>
          </a:solidFill>
          <a:ln w="9525">
            <a:solidFill>
              <a:srgbClr val="DDD5C3"/>
            </a:solidFill>
            <a:prstDash val="solid"/>
          </a:ln>
        </p:spPr>
      </p:sp>
      <p:sp>
        <p:nvSpPr>
          <p:cNvPr id="46" name="Text 43"/>
          <p:cNvSpPr txBox="1"/>
          <p:nvPr/>
        </p:nvSpPr>
        <p:spPr>
          <a:xfrm>
            <a:off x="713232" y="5276088"/>
            <a:ext cx="2743200" cy="164592"/>
          </a:xfrm>
          <a:prstGeom prst="rect">
            <a:avLst/>
          </a:prstGeom>
          <a:noFill/>
          <a:ln/>
        </p:spPr>
        <p:txBody>
          <a:bodyPr wrap="square" lIns="0" tIns="0" rIns="0" bIns="0" rtlCol="0" anchor="t"/>
          <a:lstStyle/>
          <a:p>
            <a:pPr marL="0" indent="0">
              <a:buNone/>
            </a:pPr>
            <a:r>
              <a:rPr lang="en-US" sz="800" kern="0" spc="100" dirty="0">
                <a:solidFill>
                  <a:srgbClr val="B4642F"/>
                </a:solidFill>
                <a:latin typeface="Consolas" pitchFamily="34" charset="0"/>
                <a:ea typeface="Consolas" pitchFamily="34" charset="-122"/>
                <a:cs typeface="Consolas" pitchFamily="34" charset="-120"/>
              </a:rPr>
              <a:t>COMPARISON CONDITIONS</a:t>
            </a:r>
            <a:endParaRPr lang="en-US" sz="800" dirty="0"/>
          </a:p>
        </p:txBody>
      </p:sp>
      <p:sp>
        <p:nvSpPr>
          <p:cNvPr id="47" name="Text 44"/>
          <p:cNvSpPr txBox="1"/>
          <p:nvPr/>
        </p:nvSpPr>
        <p:spPr>
          <a:xfrm>
            <a:off x="713232" y="5458968"/>
            <a:ext cx="5257800" cy="640080"/>
          </a:xfrm>
          <a:prstGeom prst="rect">
            <a:avLst/>
          </a:prstGeom>
          <a:noFill/>
          <a:ln/>
        </p:spPr>
        <p:txBody>
          <a:bodyPr wrap="square" lIns="0" tIns="0" rIns="0" bIns="0" rtlCol="0" anchor="t"/>
          <a:lstStyle/>
          <a:p>
            <a:pPr marL="0" indent="0">
              <a:buNone/>
            </a:pPr>
            <a:r>
              <a:rPr lang="en-US" sz="900" dirty="0">
                <a:solidFill>
                  <a:srgbClr val="3A4A66"/>
                </a:solidFill>
                <a:latin typeface="Segoe UI" pitchFamily="34" charset="0"/>
                <a:ea typeface="Segoe UI" pitchFamily="34" charset="-122"/>
                <a:cs typeface="Segoe UI" pitchFamily="34" charset="-120"/>
              </a:rPr>
              <a:t>Scenario: staff unavailability (Clinician B, 10:30–13:30) · Seed 7 · 60 synthetic patients</a:t>
            </a:r>
            <a:endParaRPr lang="en-US" sz="900" dirty="0"/>
          </a:p>
          <a:p>
            <a:pPr marL="0" indent="0">
              <a:buNone/>
            </a:pPr>
            <a:r>
              <a:rPr lang="en-US" sz="900" dirty="0">
                <a:solidFill>
                  <a:srgbClr val="3A4A66"/>
                </a:solidFill>
                <a:latin typeface="Segoe UI" pitchFamily="34" charset="0"/>
                <a:ea typeface="Segoe UI" pitchFamily="34" charset="-122"/>
                <a:cs typeface="Segoe UI" pitchFamily="34" charset="-120"/>
              </a:rPr>
              <a:t>Baseline policy: first come, first served · Reflow at 10:50, objective "fewest waiting minutes"</a:t>
            </a:r>
            <a:endParaRPr lang="en-US" sz="900" dirty="0"/>
          </a:p>
          <a:p>
            <a:pPr marL="0" indent="0">
              <a:buNone/>
            </a:pPr>
            <a:r>
              <a:rPr lang="en-US" sz="900" dirty="0">
                <a:solidFill>
                  <a:srgbClr val="3A4A66"/>
                </a:solidFill>
                <a:latin typeface="Segoe UI" pitchFamily="34" charset="0"/>
                <a:ea typeface="Segoe UI" pitchFamily="34" charset="-122"/>
                <a:cs typeface="Segoe UI" pitchFamily="34" charset="-120"/>
              </a:rPr>
              <a:t>Same patients, arrivals and realised durations in all three runs; the bars add up exactly</a:t>
            </a:r>
            <a:endParaRPr lang="en-US" sz="900" dirty="0"/>
          </a:p>
        </p:txBody>
      </p:sp>
      <p:graphicFrame>
        <p:nvGraphicFramePr>
          <p:cNvPr id="4" name="S9_table"/>
          <p:cNvGraphicFramePr>
            <a:graphicFrameLocks noGrp="1"/>
          </p:cNvGraphicFramePr>
          <p:nvPr>
            <p:extLst>
              <p:ext uri="{D42A27DB-BD31-4B8C-83A1-F6EECF244321}">
                <p14:modId xmlns:p14="http://schemas.microsoft.com/office/powerpoint/2010/main" val="1579011935"/>
              </p:ext>
            </p:extLst>
          </p:nvPr>
        </p:nvGraphicFramePr>
        <p:xfrm>
          <a:off x="6355080" y="1325880"/>
          <a:ext cx="5285232" cy="914400"/>
        </p:xfrm>
        <a:graphic>
          <a:graphicData uri="http://schemas.openxmlformats.org/drawingml/2006/table">
            <a:tbl>
              <a:tblPr/>
              <a:tblGrid>
                <a:gridCol w="1993392">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896112">
                  <a:extLst>
                    <a:ext uri="{9D8B030D-6E8A-4147-A177-3AD203B41FA5}">
                      <a16:colId xmlns:a16="http://schemas.microsoft.com/office/drawing/2014/main" val="20002"/>
                    </a:ext>
                  </a:extLst>
                </a:gridCol>
                <a:gridCol w="896112">
                  <a:extLst>
                    <a:ext uri="{9D8B030D-6E8A-4147-A177-3AD203B41FA5}">
                      <a16:colId xmlns:a16="http://schemas.microsoft.com/office/drawing/2014/main" val="20003"/>
                    </a:ext>
                  </a:extLst>
                </a:gridCol>
                <a:gridCol w="768096">
                  <a:extLst>
                    <a:ext uri="{9D8B030D-6E8A-4147-A177-3AD203B41FA5}">
                      <a16:colId xmlns:a16="http://schemas.microsoft.com/office/drawing/2014/main" val="20004"/>
                    </a:ext>
                  </a:extLst>
                </a:gridCol>
              </a:tblGrid>
              <a:tr h="329184">
                <a:tc>
                  <a:txBody>
                    <a:bodyPr/>
                    <a:lstStyle/>
                    <a:p>
                      <a:pPr marL="0" indent="0" algn="l">
                        <a:buNone/>
                      </a:pPr>
                      <a:r>
                        <a:rPr lang="en-US" sz="800" b="1" dirty="0">
                          <a:solidFill>
                            <a:srgbClr val="7B7566"/>
                          </a:solidFill>
                          <a:latin typeface="Consolas" pitchFamily="34" charset="0"/>
                          <a:ea typeface="Consolas" pitchFamily="34" charset="-122"/>
                          <a:cs typeface="Consolas" pitchFamily="34" charset="-120"/>
                        </a:rPr>
                        <a:t>METRIC</a:t>
                      </a:r>
                      <a:endParaRPr lang="en-US" sz="800" dirty="0">
                        <a:latin typeface="Consolas" charset="0"/>
                        <a:ea typeface="Consolas" charset="0"/>
                        <a:cs typeface="Consolas" charset="0"/>
                      </a:endParaRPr>
                    </a:p>
                  </a:txBody>
                  <a:tcPr marL="64008" marR="64008" marT="0" marB="0" anchor="ctr">
                    <a:lnL w="0" cap="flat" cmpd="sng" algn="ctr">
                      <a:noFill/>
                    </a:lnL>
                    <a:lnR w="0" cap="flat" cmpd="sng" algn="ctr">
                      <a:noFill/>
                    </a:lnR>
                    <a:lnT w="0" cap="flat" cmpd="sng" algn="ctr">
                      <a:noFill/>
                    </a:lnT>
                    <a:lnB w="9525" cap="flat" cmpd="sng" algn="ctr">
                      <a:solidFill>
                        <a:srgbClr val="CBC2AB"/>
                      </a:solidFill>
                      <a:prstDash val="solid"/>
                      <a:round/>
                      <a:headEnd type="none" w="med" len="med"/>
                      <a:tailEnd type="none" w="med" len="med"/>
                    </a:lnB>
                    <a:solidFill>
                      <a:srgbClr val="EEE8DA"/>
                    </a:solidFill>
                  </a:tcPr>
                </a:tc>
                <a:tc>
                  <a:txBody>
                    <a:bodyPr/>
                    <a:lstStyle/>
                    <a:p>
                      <a:pPr marL="0" indent="0" algn="r">
                        <a:buNone/>
                      </a:pPr>
                      <a:r>
                        <a:rPr lang="en-US" sz="800" b="1" dirty="0">
                          <a:solidFill>
                            <a:srgbClr val="7B7566"/>
                          </a:solidFill>
                          <a:latin typeface="Consolas" pitchFamily="34" charset="0"/>
                          <a:ea typeface="Consolas" pitchFamily="34" charset="-122"/>
                          <a:cs typeface="Consolas" pitchFamily="34" charset="-120"/>
                        </a:rPr>
                        <a:t>NORMAL</a:t>
                      </a:r>
                      <a:endParaRPr lang="en-US" sz="800" dirty="0">
                        <a:latin typeface="Consolas" charset="0"/>
                        <a:ea typeface="Consolas" charset="0"/>
                        <a:cs typeface="Consolas" charset="0"/>
                      </a:endParaRPr>
                    </a:p>
                  </a:txBody>
                  <a:tcPr marL="64008" marR="64008" marT="0" marB="0" anchor="ctr">
                    <a:lnL w="0" cap="flat" cmpd="sng" algn="ctr">
                      <a:noFill/>
                    </a:lnL>
                    <a:lnR w="0" cap="flat" cmpd="sng" algn="ctr">
                      <a:noFill/>
                    </a:lnR>
                    <a:lnT w="0" cap="flat" cmpd="sng" algn="ctr">
                      <a:noFill/>
                    </a:lnT>
                    <a:lnB w="9525" cap="flat" cmpd="sng" algn="ctr">
                      <a:solidFill>
                        <a:srgbClr val="CBC2AB"/>
                      </a:solidFill>
                      <a:prstDash val="solid"/>
                      <a:round/>
                      <a:headEnd type="none" w="med" len="med"/>
                      <a:tailEnd type="none" w="med" len="med"/>
                    </a:lnB>
                    <a:solidFill>
                      <a:srgbClr val="EEE8DA"/>
                    </a:solidFill>
                  </a:tcPr>
                </a:tc>
                <a:tc>
                  <a:txBody>
                    <a:bodyPr/>
                    <a:lstStyle/>
                    <a:p>
                      <a:pPr marL="0" indent="0" algn="r">
                        <a:buNone/>
                      </a:pPr>
                      <a:r>
                        <a:rPr lang="en-US" sz="800" b="1" dirty="0">
                          <a:solidFill>
                            <a:srgbClr val="7B7566"/>
                          </a:solidFill>
                          <a:latin typeface="Consolas" pitchFamily="34" charset="0"/>
                          <a:ea typeface="Consolas" pitchFamily="34" charset="-122"/>
                          <a:cs typeface="Consolas" pitchFamily="34" charset="-120"/>
                        </a:rPr>
                        <a:t>DISRUPTED</a:t>
                      </a:r>
                      <a:endParaRPr lang="en-US" sz="800" dirty="0">
                        <a:latin typeface="Consolas" charset="0"/>
                        <a:ea typeface="Consolas" charset="0"/>
                        <a:cs typeface="Consolas" charset="0"/>
                      </a:endParaRPr>
                    </a:p>
                  </a:txBody>
                  <a:tcPr marL="64008" marR="64008" marT="0" marB="0" anchor="ctr">
                    <a:lnL w="0" cap="flat" cmpd="sng" algn="ctr">
                      <a:noFill/>
                    </a:lnL>
                    <a:lnR w="0" cap="flat" cmpd="sng" algn="ctr">
                      <a:noFill/>
                    </a:lnR>
                    <a:lnT w="0" cap="flat" cmpd="sng" algn="ctr">
                      <a:noFill/>
                    </a:lnT>
                    <a:lnB w="9525" cap="flat" cmpd="sng" algn="ctr">
                      <a:solidFill>
                        <a:srgbClr val="CBC2AB"/>
                      </a:solidFill>
                      <a:prstDash val="solid"/>
                      <a:round/>
                      <a:headEnd type="none" w="med" len="med"/>
                      <a:tailEnd type="none" w="med" len="med"/>
                    </a:lnB>
                    <a:solidFill>
                      <a:srgbClr val="EEE8DA"/>
                    </a:solidFill>
                  </a:tcPr>
                </a:tc>
                <a:tc>
                  <a:txBody>
                    <a:bodyPr/>
                    <a:lstStyle/>
                    <a:p>
                      <a:pPr marL="0" indent="0" algn="r">
                        <a:buNone/>
                      </a:pPr>
                      <a:r>
                        <a:rPr lang="en-US" sz="800" b="1" dirty="0">
                          <a:solidFill>
                            <a:srgbClr val="7B7566"/>
                          </a:solidFill>
                          <a:latin typeface="Consolas" pitchFamily="34" charset="0"/>
                          <a:ea typeface="Consolas" pitchFamily="34" charset="-122"/>
                          <a:cs typeface="Consolas" pitchFamily="34" charset="-120"/>
                        </a:rPr>
                        <a:t>OPTIMIZED</a:t>
                      </a:r>
                      <a:endParaRPr lang="en-US" sz="800" dirty="0">
                        <a:latin typeface="Consolas" charset="0"/>
                        <a:ea typeface="Consolas" charset="0"/>
                        <a:cs typeface="Consolas" charset="0"/>
                      </a:endParaRPr>
                    </a:p>
                  </a:txBody>
                  <a:tcPr marL="64008" marR="64008" marT="0" marB="0" anchor="ctr">
                    <a:lnL w="0" cap="flat" cmpd="sng" algn="ctr">
                      <a:noFill/>
                    </a:lnL>
                    <a:lnR w="0" cap="flat" cmpd="sng" algn="ctr">
                      <a:noFill/>
                    </a:lnR>
                    <a:lnT w="0" cap="flat" cmpd="sng" algn="ctr">
                      <a:noFill/>
                    </a:lnT>
                    <a:lnB w="9525" cap="flat" cmpd="sng" algn="ctr">
                      <a:solidFill>
                        <a:srgbClr val="CBC2AB"/>
                      </a:solidFill>
                      <a:prstDash val="solid"/>
                      <a:round/>
                      <a:headEnd type="none" w="med" len="med"/>
                      <a:tailEnd type="none" w="med" len="med"/>
                    </a:lnB>
                    <a:solidFill>
                      <a:srgbClr val="EEE8DA"/>
                    </a:solidFill>
                  </a:tcPr>
                </a:tc>
                <a:tc>
                  <a:txBody>
                    <a:bodyPr/>
                    <a:lstStyle/>
                    <a:p>
                      <a:pPr marL="0" indent="0" algn="r">
                        <a:buNone/>
                      </a:pPr>
                      <a:r>
                        <a:rPr lang="en-US" sz="800" b="1" dirty="0">
                          <a:solidFill>
                            <a:srgbClr val="7B7566"/>
                          </a:solidFill>
                          <a:latin typeface="Consolas" pitchFamily="34" charset="0"/>
                          <a:ea typeface="Consolas" pitchFamily="34" charset="-122"/>
                          <a:cs typeface="Consolas" pitchFamily="34" charset="-120"/>
                        </a:rPr>
                        <a:t>Δ</a:t>
                      </a:r>
                      <a:endParaRPr lang="en-US" sz="800" dirty="0">
                        <a:latin typeface="Consolas" charset="0"/>
                        <a:ea typeface="Consolas" charset="0"/>
                        <a:cs typeface="Consolas" charset="0"/>
                      </a:endParaRPr>
                    </a:p>
                  </a:txBody>
                  <a:tcPr marL="64008" marR="64008" marT="0" marB="0" anchor="ctr">
                    <a:lnL w="0" cap="flat" cmpd="sng" algn="ctr">
                      <a:noFill/>
                    </a:lnL>
                    <a:lnR w="0" cap="flat" cmpd="sng" algn="ctr">
                      <a:noFill/>
                    </a:lnR>
                    <a:lnT w="0" cap="flat" cmpd="sng" algn="ctr">
                      <a:noFill/>
                    </a:lnT>
                    <a:lnB w="9525" cap="flat" cmpd="sng" algn="ctr">
                      <a:solidFill>
                        <a:srgbClr val="CBC2AB"/>
                      </a:solidFill>
                      <a:prstDash val="solid"/>
                      <a:round/>
                      <a:headEnd type="none" w="med" len="med"/>
                      <a:tailEnd type="none" w="med" len="med"/>
                    </a:lnB>
                    <a:solidFill>
                      <a:srgbClr val="EEE8DA"/>
                    </a:solidFill>
                  </a:tcPr>
                </a:tc>
                <a:extLst>
                  <a:ext uri="{0D108BD9-81ED-4DB2-BD59-A6C34878D82A}">
                    <a16:rowId xmlns:a16="http://schemas.microsoft.com/office/drawing/2014/main" val="10000"/>
                  </a:ext>
                </a:extLst>
              </a:tr>
              <a:tr h="329184">
                <a:tc>
                  <a:txBody>
                    <a:bodyPr/>
                    <a:lstStyle/>
                    <a:p>
                      <a:pPr marL="0" indent="0" algn="l">
                        <a:buNone/>
                      </a:pPr>
                      <a:r>
                        <a:rPr lang="en-US" sz="1050" dirty="0">
                          <a:solidFill>
                            <a:srgbClr val="15233B"/>
                          </a:solidFill>
                          <a:latin typeface="Segoe UI" pitchFamily="34" charset="0"/>
                          <a:ea typeface="Segoe UI" pitchFamily="34" charset="-122"/>
                          <a:cs typeface="Segoe UI" pitchFamily="34" charset="-120"/>
                        </a:rPr>
                        <a:t>Total waiting (min)</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9525" cap="flat" cmpd="sng" algn="ctr">
                      <a:solidFill>
                        <a:srgbClr val="CBC2AB"/>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1,056</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9525" cap="flat" cmpd="sng" algn="ctr">
                      <a:solidFill>
                        <a:srgbClr val="CBC2AB"/>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1,946</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9525" cap="flat" cmpd="sng" algn="ctr">
                      <a:solidFill>
                        <a:srgbClr val="CBC2AB"/>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1,898</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9525" cap="flat" cmpd="sng" algn="ctr">
                      <a:solidFill>
                        <a:srgbClr val="CBC2AB"/>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00" b="1" dirty="0">
                          <a:solidFill>
                            <a:srgbClr val="1F7B78"/>
                          </a:solidFill>
                          <a:latin typeface="Consolas" pitchFamily="34" charset="0"/>
                          <a:ea typeface="Consolas" pitchFamily="34" charset="-122"/>
                          <a:cs typeface="Consolas" pitchFamily="34" charset="-120"/>
                        </a:rPr>
                        <a:t>−48</a:t>
                      </a:r>
                      <a:endParaRPr lang="en-US" sz="1000" dirty="0">
                        <a:latin typeface="Consolas" charset="0"/>
                        <a:ea typeface="Consolas" charset="0"/>
                        <a:cs typeface="Consolas" charset="0"/>
                      </a:endParaRPr>
                    </a:p>
                  </a:txBody>
                  <a:tcPr marL="64008" marR="64008" marT="0" marB="0" anchor="ctr">
                    <a:lnL w="0" cap="flat" cmpd="sng" algn="ctr">
                      <a:noFill/>
                    </a:lnL>
                    <a:lnR w="0" cap="flat" cmpd="sng" algn="ctr">
                      <a:noFill/>
                    </a:lnR>
                    <a:lnT w="9525" cap="flat" cmpd="sng" algn="ctr">
                      <a:solidFill>
                        <a:srgbClr val="CBC2AB"/>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lgn="l">
                        <a:buNone/>
                      </a:pPr>
                      <a:r>
                        <a:rPr lang="en-US" sz="1050" dirty="0">
                          <a:solidFill>
                            <a:srgbClr val="15233B"/>
                          </a:solidFill>
                          <a:latin typeface="Segoe UI" pitchFamily="34" charset="0"/>
                          <a:ea typeface="Segoe UI" pitchFamily="34" charset="-122"/>
                          <a:cs typeface="Segoe UI" pitchFamily="34" charset="-120"/>
                        </a:rPr>
                        <a:t>Mean wait per patient</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18</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32</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32</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00" b="1" dirty="0">
                          <a:solidFill>
                            <a:srgbClr val="1F7B78"/>
                          </a:solidFill>
                          <a:latin typeface="Consolas" pitchFamily="34" charset="0"/>
                          <a:ea typeface="Consolas" pitchFamily="34" charset="-122"/>
                          <a:cs typeface="Consolas" pitchFamily="34" charset="-120"/>
                        </a:rPr>
                        <a:t>−0.8</a:t>
                      </a:r>
                      <a:endParaRPr lang="en-US" sz="1000" dirty="0">
                        <a:latin typeface="Consolas" charset="0"/>
                        <a:ea typeface="Consolas" charset="0"/>
                        <a:cs typeface="Consolas"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lgn="l">
                        <a:buNone/>
                      </a:pPr>
                      <a:r>
                        <a:rPr lang="en-US" sz="1050" dirty="0">
                          <a:solidFill>
                            <a:srgbClr val="15233B"/>
                          </a:solidFill>
                          <a:latin typeface="Segoe UI" pitchFamily="34" charset="0"/>
                          <a:ea typeface="Segoe UI" pitchFamily="34" charset="-122"/>
                          <a:cs typeface="Segoe UI" pitchFamily="34" charset="-120"/>
                        </a:rPr>
                        <a:t>Median wait per patient</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17</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28</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29</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00" b="1" dirty="0">
                          <a:solidFill>
                            <a:srgbClr val="B4642F"/>
                          </a:solidFill>
                          <a:latin typeface="Consolas" pitchFamily="34" charset="0"/>
                          <a:ea typeface="Consolas" pitchFamily="34" charset="-122"/>
                          <a:cs typeface="Consolas" pitchFamily="34" charset="-120"/>
                        </a:rPr>
                        <a:t>+1.3</a:t>
                      </a:r>
                      <a:endParaRPr lang="en-US" sz="1000" dirty="0">
                        <a:latin typeface="Consolas" charset="0"/>
                        <a:ea typeface="Consolas" charset="0"/>
                        <a:cs typeface="Consolas"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lgn="l">
                        <a:buNone/>
                      </a:pPr>
                      <a:r>
                        <a:rPr lang="en-US" sz="1050" dirty="0">
                          <a:solidFill>
                            <a:srgbClr val="15233B"/>
                          </a:solidFill>
                          <a:latin typeface="Segoe UI" pitchFamily="34" charset="0"/>
                          <a:ea typeface="Segoe UI" pitchFamily="34" charset="-122"/>
                          <a:cs typeface="Segoe UI" pitchFamily="34" charset="-120"/>
                        </a:rPr>
                        <a:t>90th-percentile wait</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42</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75</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71</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00" b="1" dirty="0">
                          <a:solidFill>
                            <a:srgbClr val="1F7B78"/>
                          </a:solidFill>
                          <a:latin typeface="Consolas" pitchFamily="34" charset="0"/>
                          <a:ea typeface="Consolas" pitchFamily="34" charset="-122"/>
                          <a:cs typeface="Consolas" pitchFamily="34" charset="-120"/>
                        </a:rPr>
                        <a:t>−3.6</a:t>
                      </a:r>
                      <a:endParaRPr lang="en-US" sz="1000" dirty="0">
                        <a:latin typeface="Consolas" charset="0"/>
                        <a:ea typeface="Consolas" charset="0"/>
                        <a:cs typeface="Consolas"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lgn="l">
                        <a:buNone/>
                      </a:pPr>
                      <a:r>
                        <a:rPr lang="en-US" sz="1050" dirty="0">
                          <a:solidFill>
                            <a:srgbClr val="15233B"/>
                          </a:solidFill>
                          <a:latin typeface="Segoe UI" pitchFamily="34" charset="0"/>
                          <a:ea typeface="Segoe UI" pitchFamily="34" charset="-122"/>
                          <a:cs typeface="Segoe UI" pitchFamily="34" charset="-120"/>
                        </a:rPr>
                        <a:t>Throughput by 16:00</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60</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59</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59</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00" dirty="0">
                          <a:solidFill>
                            <a:srgbClr val="7B7566"/>
                          </a:solidFill>
                          <a:latin typeface="Consolas" pitchFamily="34" charset="0"/>
                          <a:ea typeface="Consolas" pitchFamily="34" charset="-122"/>
                          <a:cs typeface="Consolas" pitchFamily="34" charset="-120"/>
                        </a:rPr>
                        <a:t>±0</a:t>
                      </a:r>
                      <a:endParaRPr lang="en-US" sz="1000" dirty="0">
                        <a:latin typeface="Consolas" charset="0"/>
                        <a:ea typeface="Consolas" charset="0"/>
                        <a:cs typeface="Consolas"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extLst>
                  <a:ext uri="{0D108BD9-81ED-4DB2-BD59-A6C34878D82A}">
                    <a16:rowId xmlns:a16="http://schemas.microsoft.com/office/drawing/2014/main" val="10005"/>
                  </a:ext>
                </a:extLst>
              </a:tr>
              <a:tr h="329184">
                <a:tc>
                  <a:txBody>
                    <a:bodyPr/>
                    <a:lstStyle/>
                    <a:p>
                      <a:pPr marL="0" indent="0" algn="l">
                        <a:buNone/>
                      </a:pPr>
                      <a:r>
                        <a:rPr lang="en-US" sz="1050" dirty="0">
                          <a:solidFill>
                            <a:srgbClr val="15233B"/>
                          </a:solidFill>
                          <a:latin typeface="Segoe UI" pitchFamily="34" charset="0"/>
                          <a:ea typeface="Segoe UI" pitchFamily="34" charset="-122"/>
                          <a:cs typeface="Segoe UI" pitchFamily="34" charset="-120"/>
                        </a:rPr>
                        <a:t>Incomplete at 16:00</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0</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1</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1</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00" dirty="0">
                          <a:solidFill>
                            <a:srgbClr val="7B7566"/>
                          </a:solidFill>
                          <a:latin typeface="Consolas" pitchFamily="34" charset="0"/>
                          <a:ea typeface="Consolas" pitchFamily="34" charset="-122"/>
                          <a:cs typeface="Consolas" pitchFamily="34" charset="-120"/>
                        </a:rPr>
                        <a:t>±0</a:t>
                      </a:r>
                      <a:endParaRPr lang="en-US" sz="1000" dirty="0">
                        <a:latin typeface="Consolas" charset="0"/>
                        <a:ea typeface="Consolas" charset="0"/>
                        <a:cs typeface="Consolas"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extLst>
                  <a:ext uri="{0D108BD9-81ED-4DB2-BD59-A6C34878D82A}">
                    <a16:rowId xmlns:a16="http://schemas.microsoft.com/office/drawing/2014/main" val="10006"/>
                  </a:ext>
                </a:extLst>
              </a:tr>
              <a:tr h="329184">
                <a:tc>
                  <a:txBody>
                    <a:bodyPr/>
                    <a:lstStyle/>
                    <a:p>
                      <a:pPr marL="0" indent="0" algn="l">
                        <a:buNone/>
                      </a:pPr>
                      <a:r>
                        <a:rPr lang="en-US" sz="1050" dirty="0">
                          <a:solidFill>
                            <a:srgbClr val="15233B"/>
                          </a:solidFill>
                          <a:latin typeface="Segoe UI" pitchFamily="34" charset="0"/>
                          <a:ea typeface="Segoe UI" pitchFamily="34" charset="-122"/>
                          <a:cs typeface="Segoe UI" pitchFamily="34" charset="-120"/>
                        </a:rPr>
                        <a:t>Resource utilisation</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47%</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49%</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49%</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00" dirty="0">
                          <a:solidFill>
                            <a:srgbClr val="7B7566"/>
                          </a:solidFill>
                          <a:latin typeface="Consolas" pitchFamily="34" charset="0"/>
                          <a:ea typeface="Consolas" pitchFamily="34" charset="-122"/>
                          <a:cs typeface="Consolas" pitchFamily="34" charset="-120"/>
                        </a:rPr>
                        <a:t>±0</a:t>
                      </a:r>
                      <a:endParaRPr lang="en-US" sz="1000" dirty="0">
                        <a:latin typeface="Consolas" charset="0"/>
                        <a:ea typeface="Consolas" charset="0"/>
                        <a:cs typeface="Consolas"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extLst>
                  <a:ext uri="{0D108BD9-81ED-4DB2-BD59-A6C34878D82A}">
                    <a16:rowId xmlns:a16="http://schemas.microsoft.com/office/drawing/2014/main" val="10007"/>
                  </a:ext>
                </a:extLst>
              </a:tr>
              <a:tr h="329184">
                <a:tc>
                  <a:txBody>
                    <a:bodyPr/>
                    <a:lstStyle/>
                    <a:p>
                      <a:pPr marL="0" indent="0" algn="l">
                        <a:buNone/>
                      </a:pPr>
                      <a:r>
                        <a:rPr lang="en-US" sz="1050" dirty="0">
                          <a:solidFill>
                            <a:srgbClr val="15233B"/>
                          </a:solidFill>
                          <a:latin typeface="Segoe UI" pitchFamily="34" charset="0"/>
                          <a:ea typeface="Segoe UI" pitchFamily="34" charset="-122"/>
                          <a:cs typeface="Segoe UI" pitchFamily="34" charset="-120"/>
                        </a:rPr>
                        <a:t>Staff overtime (min)</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0</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24</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22</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00" b="1" dirty="0">
                          <a:solidFill>
                            <a:srgbClr val="1F7B78"/>
                          </a:solidFill>
                          <a:latin typeface="Consolas" pitchFamily="34" charset="0"/>
                          <a:ea typeface="Consolas" pitchFamily="34" charset="-122"/>
                          <a:cs typeface="Consolas" pitchFamily="34" charset="-120"/>
                        </a:rPr>
                        <a:t>−1.5</a:t>
                      </a:r>
                      <a:endParaRPr lang="en-US" sz="1000" dirty="0">
                        <a:latin typeface="Consolas" charset="0"/>
                        <a:ea typeface="Consolas" charset="0"/>
                        <a:cs typeface="Consolas"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extLst>
                  <a:ext uri="{0D108BD9-81ED-4DB2-BD59-A6C34878D82A}">
                    <a16:rowId xmlns:a16="http://schemas.microsoft.com/office/drawing/2014/main" val="10008"/>
                  </a:ext>
                </a:extLst>
              </a:tr>
              <a:tr h="329184">
                <a:tc>
                  <a:txBody>
                    <a:bodyPr/>
                    <a:lstStyle/>
                    <a:p>
                      <a:pPr marL="0" indent="0" algn="l">
                        <a:buNone/>
                      </a:pPr>
                      <a:r>
                        <a:rPr lang="en-US" sz="1050" dirty="0">
                          <a:solidFill>
                            <a:srgbClr val="15233B"/>
                          </a:solidFill>
                          <a:latin typeface="Segoe UI" pitchFamily="34" charset="0"/>
                          <a:ea typeface="Segoe UI" pitchFamily="34" charset="-122"/>
                          <a:cs typeface="Segoe UI" pitchFamily="34" charset="-120"/>
                        </a:rPr>
                        <a:t>Rescheduled appointments</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0</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0</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42</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00" dirty="0">
                          <a:solidFill>
                            <a:srgbClr val="7B7566"/>
                          </a:solidFill>
                          <a:latin typeface="Consolas" pitchFamily="34" charset="0"/>
                          <a:ea typeface="Consolas" pitchFamily="34" charset="-122"/>
                          <a:cs typeface="Consolas" pitchFamily="34" charset="-120"/>
                        </a:rPr>
                        <a:t>+42</a:t>
                      </a:r>
                      <a:endParaRPr lang="en-US" sz="1000" dirty="0">
                        <a:latin typeface="Consolas" charset="0"/>
                        <a:ea typeface="Consolas" charset="0"/>
                        <a:cs typeface="Consolas"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extLst>
                  <a:ext uri="{0D108BD9-81ED-4DB2-BD59-A6C34878D82A}">
                    <a16:rowId xmlns:a16="http://schemas.microsoft.com/office/drawing/2014/main" val="10009"/>
                  </a:ext>
                </a:extLst>
              </a:tr>
              <a:tr h="329184">
                <a:tc>
                  <a:txBody>
                    <a:bodyPr/>
                    <a:lstStyle/>
                    <a:p>
                      <a:pPr marL="0" indent="0" algn="l">
                        <a:buNone/>
                      </a:pPr>
                      <a:r>
                        <a:rPr lang="en-US" sz="1050" dirty="0">
                          <a:solidFill>
                            <a:srgbClr val="15233B"/>
                          </a:solidFill>
                          <a:latin typeface="Segoe UI" pitchFamily="34" charset="0"/>
                          <a:ea typeface="Segoe UI" pitchFamily="34" charset="-122"/>
                          <a:cs typeface="Segoe UI" pitchFamily="34" charset="-120"/>
                        </a:rPr>
                        <a:t>Constraint violations</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0</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0</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0</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00" dirty="0">
                          <a:solidFill>
                            <a:srgbClr val="7B7566"/>
                          </a:solidFill>
                          <a:latin typeface="Consolas" pitchFamily="34" charset="0"/>
                          <a:ea typeface="Consolas" pitchFamily="34" charset="-122"/>
                          <a:cs typeface="Consolas" pitchFamily="34" charset="-120"/>
                        </a:rPr>
                        <a:t>0</a:t>
                      </a:r>
                      <a:endParaRPr lang="en-US" sz="1000" dirty="0">
                        <a:latin typeface="Consolas" charset="0"/>
                        <a:ea typeface="Consolas" charset="0"/>
                        <a:cs typeface="Consolas"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49" name="Text 45"/>
          <p:cNvSpPr txBox="1"/>
          <p:nvPr/>
        </p:nvSpPr>
        <p:spPr>
          <a:xfrm>
            <a:off x="6355080" y="5074920"/>
            <a:ext cx="5285232" cy="457200"/>
          </a:xfrm>
          <a:prstGeom prst="rect">
            <a:avLst/>
          </a:prstGeom>
          <a:noFill/>
          <a:ln/>
        </p:spPr>
        <p:txBody>
          <a:bodyPr wrap="square" lIns="0" tIns="0" rIns="0" bIns="0" rtlCol="0" anchor="t"/>
          <a:lstStyle/>
          <a:p>
            <a:pPr marL="0" indent="0">
              <a:buNone/>
            </a:pPr>
            <a:r>
              <a:rPr lang="en-US" sz="1000" i="1" dirty="0">
                <a:solidFill>
                  <a:srgbClr val="3A4A66"/>
                </a:solidFill>
                <a:latin typeface="Segoe UI" pitchFamily="34" charset="0"/>
                <a:ea typeface="Segoe UI" pitchFamily="34" charset="-122"/>
                <a:cs typeface="Segoe UI" pitchFamily="34" charset="-120"/>
              </a:rPr>
              <a:t>Δ = optimized − disrupted. The 90th percentile improved while the median rose: the Ledger reports trade-offs, not one score.</a:t>
            </a:r>
            <a:endParaRPr lang="en-US" sz="1000" dirty="0"/>
          </a:p>
        </p:txBody>
      </p:sp>
      <p:sp>
        <p:nvSpPr>
          <p:cNvPr id="50" name="Text 46"/>
          <p:cNvSpPr txBox="1"/>
          <p:nvPr/>
        </p:nvSpPr>
        <p:spPr>
          <a:xfrm>
            <a:off x="6355080" y="5577840"/>
            <a:ext cx="5285232" cy="548640"/>
          </a:xfrm>
          <a:prstGeom prst="rect">
            <a:avLst/>
          </a:prstGeom>
          <a:noFill/>
          <a:ln/>
        </p:spPr>
        <p:txBody>
          <a:bodyPr wrap="square" lIns="0" tIns="0" rIns="0" bIns="0" rtlCol="0" anchor="t"/>
          <a:lstStyle/>
          <a:p>
            <a:pPr marL="0" indent="0">
              <a:buNone/>
            </a:pPr>
            <a:r>
              <a:rPr lang="en-US" sz="1450" i="1" dirty="0">
                <a:solidFill>
                  <a:srgbClr val="15233B"/>
                </a:solidFill>
                <a:latin typeface="Palatino Linotype" pitchFamily="34" charset="0"/>
                <a:ea typeface="Palatino Linotype" pitchFamily="34" charset="-122"/>
                <a:cs typeface="Palatino Linotype" pitchFamily="34" charset="-120"/>
              </a:rPr>
              <a:t>SAYR evaluates whether an intervention helped, what it cost, and what trade-offs remain.</a:t>
            </a:r>
            <a:endParaRPr lang="en-US" sz="1450" dirty="0"/>
          </a:p>
        </p:txBody>
      </p:sp>
      <p:sp>
        <p:nvSpPr>
          <p:cNvPr id="51" name="Text 47"/>
          <p:cNvSpPr txBox="1"/>
          <p:nvPr/>
        </p:nvSpPr>
        <p:spPr>
          <a:xfrm>
            <a:off x="548640" y="6199632"/>
            <a:ext cx="11064240" cy="256032"/>
          </a:xfrm>
          <a:prstGeom prst="rect">
            <a:avLst/>
          </a:prstGeom>
          <a:noFill/>
          <a:ln/>
        </p:spPr>
        <p:txBody>
          <a:bodyPr wrap="square" lIns="0" tIns="0" rIns="0" bIns="0" rtlCol="0" anchor="t"/>
          <a:lstStyle/>
          <a:p>
            <a:pPr marL="0" indent="0">
              <a:buNone/>
            </a:pPr>
            <a:r>
              <a:rPr lang="en-US" sz="850" dirty="0">
                <a:solidFill>
                  <a:srgbClr val="7B7566"/>
                </a:solidFill>
                <a:latin typeface="Segoe UI" pitchFamily="34" charset="0"/>
                <a:ea typeface="Segoe UI" pitchFamily="34" charset="-122"/>
                <a:cs typeface="Segoe UI" pitchFamily="34" charset="-120"/>
              </a:rPr>
              <a:t>Source: SAYR Minutes Ledger (published app). Waiting = ready to start of service. Simulated, operational measures only; fewer waiting minutes is not evidence of better clinical care.</a:t>
            </a:r>
            <a:endParaRPr lang="en-US" sz="850" dirty="0"/>
          </a:p>
        </p:txBody>
      </p:sp>
      <p:sp>
        <p:nvSpPr>
          <p:cNvPr id="48" name="Slide Number Placeholder 0"/>
          <p:cNvSpPr>
            <a:spLocks noGrp="1"/>
          </p:cNvSpPr>
          <p:nvPr>
            <p:ph type="sldNum" sz="quarter" idx="4294967295"/>
          </p:nvPr>
        </p:nvSpPr>
        <p:spPr>
          <a:xfrm>
            <a:off x="11064240" y="6492240"/>
            <a:ext cx="576072"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B7566"/>
                </a:solidFill>
                <a:latin typeface="Consolas"/>
                <a:ea typeface="Consolas"/>
                <a:cs typeface="Consolas"/>
              </a:defRPr>
            </a:lvl1pPr>
          </a:lstStyle>
          <a:p>
            <a:pPr algn="r"/>
            <a:fld id="{F7021451-1387-4CA6-816F-3879F97B5CBC}" type="slidenum">
              <a:rPr lang="en-US" b="0"/>
              <a:t>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400"/>
                                        <p:tgtEl>
                                          <p:spTgt spid="20"/>
                                        </p:tgtEl>
                                      </p:cBhvr>
                                    </p:animEffect>
                                  </p:childTnLst>
                                </p:cTn>
                              </p:par>
                            </p:childTnLst>
                          </p:cTn>
                        </p:par>
                        <p:par>
                          <p:cTn id="8" fill="hold">
                            <p:stCondLst>
                              <p:cond delay="400"/>
                            </p:stCondLst>
                            <p:childTnLst>
                              <p:par>
                                <p:cTn id="9" presetID="22" presetClass="entr" presetSubtype="4"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down)">
                                      <p:cBhvr>
                                        <p:cTn id="11" dur="400"/>
                                        <p:tgtEl>
                                          <p:spTgt spid="23"/>
                                        </p:tgtEl>
                                      </p:cBhvr>
                                    </p:animEffect>
                                  </p:childTnLst>
                                </p:cTn>
                              </p:par>
                            </p:childTnLst>
                          </p:cTn>
                        </p:par>
                        <p:par>
                          <p:cTn id="12" fill="hold">
                            <p:stCondLst>
                              <p:cond delay="800"/>
                            </p:stCondLst>
                            <p:childTnLst>
                              <p:par>
                                <p:cTn id="13" presetID="22" presetClass="entr" presetSubtype="4"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wipe(down)">
                                      <p:cBhvr>
                                        <p:cTn id="15" dur="400"/>
                                        <p:tgtEl>
                                          <p:spTgt spid="26"/>
                                        </p:tgtEl>
                                      </p:cBhvr>
                                    </p:animEffect>
                                  </p:childTnLst>
                                </p:cTn>
                              </p:par>
                            </p:childTnLst>
                          </p:cTn>
                        </p:par>
                        <p:par>
                          <p:cTn id="16" fill="hold">
                            <p:stCondLst>
                              <p:cond delay="1200"/>
                            </p:stCondLst>
                            <p:childTnLst>
                              <p:par>
                                <p:cTn id="17" presetID="22" presetClass="entr" presetSubtype="4" fill="hold" nodeType="after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wipe(down)">
                                      <p:cBhvr>
                                        <p:cTn id="19" dur="400"/>
                                        <p:tgtEl>
                                          <p:spTgt spid="29"/>
                                        </p:tgtEl>
                                      </p:cBhvr>
                                    </p:animEffect>
                                  </p:childTnLst>
                                </p:cTn>
                              </p:par>
                            </p:childTnLst>
                          </p:cTn>
                        </p:par>
                        <p:par>
                          <p:cTn id="20" fill="hold">
                            <p:stCondLst>
                              <p:cond delay="1600"/>
                            </p:stCondLst>
                            <p:childTnLst>
                              <p:par>
                                <p:cTn id="21" presetID="22" presetClass="entr" presetSubtype="4" fill="hold" nodeType="after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wipe(down)">
                                      <p:cBhvr>
                                        <p:cTn id="23" dur="400"/>
                                        <p:tgtEl>
                                          <p:spTgt spid="32"/>
                                        </p:tgtEl>
                                      </p:cBhvr>
                                    </p:animEffect>
                                  </p:childTnLst>
                                </p:cTn>
                              </p:par>
                            </p:childTnLst>
                          </p:cTn>
                        </p:par>
                        <p:par>
                          <p:cTn id="24" fill="hold">
                            <p:stCondLst>
                              <p:cond delay="2000"/>
                            </p:stCondLst>
                            <p:childTnLst>
                              <p:par>
                                <p:cTn id="25" presetID="22" presetClass="entr" presetSubtype="4" fill="hold" nodeType="after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wipe(down)">
                                      <p:cBhvr>
                                        <p:cTn id="27" dur="400"/>
                                        <p:tgtEl>
                                          <p:spTgt spid="35"/>
                                        </p:tgtEl>
                                      </p:cBhvr>
                                    </p:animEffect>
                                  </p:childTnLst>
                                </p:cTn>
                              </p:par>
                            </p:childTnLst>
                          </p:cTn>
                        </p:par>
                        <p:par>
                          <p:cTn id="28" fill="hold">
                            <p:stCondLst>
                              <p:cond delay="2400"/>
                            </p:stCondLst>
                            <p:childTnLst>
                              <p:par>
                                <p:cTn id="29" presetID="22" presetClass="entr" presetSubtype="4" fill="hold" nodeType="after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wipe(down)">
                                      <p:cBhvr>
                                        <p:cTn id="31" dur="400"/>
                                        <p:tgtEl>
                                          <p:spTgt spid="38"/>
                                        </p:tgtEl>
                                      </p:cBhvr>
                                    </p:animEffect>
                                  </p:childTnLst>
                                </p:cTn>
                              </p:par>
                            </p:childTnLst>
                          </p:cTn>
                        </p:par>
                        <p:par>
                          <p:cTn id="32" fill="hold">
                            <p:stCondLst>
                              <p:cond delay="2800"/>
                            </p:stCondLst>
                            <p:childTnLst>
                              <p:par>
                                <p:cTn id="33" presetID="22" presetClass="entr" presetSubtype="4" fill="hold" nodeType="after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wipe(down)">
                                      <p:cBhvr>
                                        <p:cTn id="35"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685800"/>
          </a:xfrm>
          <a:prstGeom prst="rect">
            <a:avLst/>
          </a:prstGeom>
          <a:noFill/>
          <a:ln/>
        </p:spPr>
        <p:txBody>
          <a:bodyPr wrap="square" lIns="0" tIns="0" rIns="0" bIns="0" rtlCol="0" anchor="t"/>
          <a:lstStyle/>
          <a:p>
            <a:pPr marL="0" indent="0" algn="l">
              <a:buNone/>
            </a:pPr>
            <a:r>
              <a:rPr lang="en-US" sz="3000" dirty="0">
                <a:solidFill>
                  <a:srgbClr val="15233B"/>
                </a:solidFill>
                <a:latin typeface="Palatino Linotype" pitchFamily="34" charset="0"/>
                <a:ea typeface="Palatino Linotype" pitchFamily="34" charset="-122"/>
                <a:cs typeface="Palatino Linotype" pitchFamily="34" charset="-120"/>
              </a:rPr>
              <a:t>Efficiency without overlooking fairness</a:t>
            </a:r>
            <a:endParaRPr lang="en-US" sz="3000" dirty="0"/>
          </a:p>
        </p:txBody>
      </p:sp>
      <p:sp>
        <p:nvSpPr>
          <p:cNvPr id="3" name="Text 1"/>
          <p:cNvSpPr txBox="1"/>
          <p:nvPr/>
        </p:nvSpPr>
        <p:spPr>
          <a:xfrm>
            <a:off x="548640" y="310896"/>
            <a:ext cx="8229600" cy="228600"/>
          </a:xfrm>
          <a:prstGeom prst="rect">
            <a:avLst/>
          </a:prstGeom>
          <a:noFill/>
          <a:ln/>
        </p:spPr>
        <p:txBody>
          <a:bodyPr wrap="square" lIns="0" tIns="0" rIns="0" bIns="0" rtlCol="0" anchor="t"/>
          <a:lstStyle/>
          <a:p>
            <a:pPr marL="0" indent="0">
              <a:buNone/>
            </a:pPr>
            <a:r>
              <a:rPr lang="en-US" sz="1050" kern="0" spc="200" dirty="0">
                <a:solidFill>
                  <a:srgbClr val="B4642F"/>
                </a:solidFill>
                <a:latin typeface="Consolas" pitchFamily="34" charset="0"/>
                <a:ea typeface="Consolas" pitchFamily="34" charset="-122"/>
                <a:cs typeface="Consolas" pitchFamily="34" charset="-120"/>
              </a:rPr>
              <a:t>WOW 3 · WHO MAY BE MADE WORSE OFF</a:t>
            </a:r>
            <a:endParaRPr lang="en-US" sz="1050" dirty="0"/>
          </a:p>
        </p:txBody>
      </p:sp>
      <p:sp>
        <p:nvSpPr>
          <p:cNvPr id="5" name="Text 2"/>
          <p:cNvSpPr txBox="1"/>
          <p:nvPr/>
        </p:nvSpPr>
        <p:spPr>
          <a:xfrm>
            <a:off x="548640" y="1280160"/>
            <a:ext cx="5486400" cy="182880"/>
          </a:xfrm>
          <a:prstGeom prst="rect">
            <a:avLst/>
          </a:prstGeom>
          <a:noFill/>
          <a:ln/>
        </p:spPr>
        <p:txBody>
          <a:bodyPr wrap="square" lIns="0" tIns="0" rIns="0" bIns="0" rtlCol="0" anchor="t"/>
          <a:lstStyle/>
          <a:p>
            <a:pPr marL="0" indent="0">
              <a:buNone/>
            </a:pPr>
            <a:r>
              <a:rPr lang="en-US" sz="850" kern="0" spc="100" dirty="0">
                <a:solidFill>
                  <a:srgbClr val="B4642F"/>
                </a:solidFill>
                <a:latin typeface="Consolas" pitchFamily="34" charset="0"/>
                <a:ea typeface="Consolas" pitchFamily="34" charset="-122"/>
                <a:cs typeface="Consolas" pitchFamily="34" charset="-120"/>
              </a:rPr>
              <a:t>WAIT AT THE 90TH PERCENTILE, BY GROUP (MIN)</a:t>
            </a:r>
            <a:endParaRPr lang="en-US" sz="850" dirty="0"/>
          </a:p>
        </p:txBody>
      </p:sp>
      <p:graphicFrame>
        <p:nvGraphicFramePr>
          <p:cNvPr id="6" name="Chart 0"/>
          <p:cNvGraphicFramePr/>
          <p:nvPr/>
        </p:nvGraphicFramePr>
        <p:xfrm>
          <a:off x="457200" y="1463040"/>
          <a:ext cx="594360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3"/>
          <p:cNvSpPr txBox="1"/>
          <p:nvPr/>
        </p:nvSpPr>
        <p:spPr>
          <a:xfrm>
            <a:off x="548640" y="4389120"/>
            <a:ext cx="822960" cy="594360"/>
          </a:xfrm>
          <a:prstGeom prst="rect">
            <a:avLst/>
          </a:prstGeom>
          <a:noFill/>
          <a:ln/>
        </p:spPr>
        <p:txBody>
          <a:bodyPr wrap="square" lIns="0" tIns="0" rIns="0" bIns="0" rtlCol="0" anchor="b"/>
          <a:lstStyle/>
          <a:p>
            <a:pPr marL="0" indent="0">
              <a:buNone/>
            </a:pPr>
            <a:r>
              <a:rPr lang="en-US" sz="3800" dirty="0">
                <a:solidFill>
                  <a:srgbClr val="B4642F"/>
                </a:solidFill>
                <a:latin typeface="Palatino Linotype" pitchFamily="34" charset="0"/>
                <a:ea typeface="Palatino Linotype" pitchFamily="34" charset="-122"/>
                <a:cs typeface="Palatino Linotype" pitchFamily="34" charset="-120"/>
              </a:rPr>
              <a:t>10</a:t>
            </a:r>
            <a:endParaRPr lang="en-US" sz="3800" dirty="0"/>
          </a:p>
        </p:txBody>
      </p:sp>
      <p:sp>
        <p:nvSpPr>
          <p:cNvPr id="8" name="Text 4"/>
          <p:cNvSpPr txBox="1"/>
          <p:nvPr/>
        </p:nvSpPr>
        <p:spPr>
          <a:xfrm>
            <a:off x="1280160" y="4572000"/>
            <a:ext cx="1097280" cy="411480"/>
          </a:xfrm>
          <a:prstGeom prst="rect">
            <a:avLst/>
          </a:prstGeom>
          <a:noFill/>
          <a:ln/>
        </p:spPr>
        <p:txBody>
          <a:bodyPr wrap="square" lIns="0" tIns="0" rIns="0" bIns="0" rtlCol="0" anchor="t"/>
          <a:lstStyle/>
          <a:p>
            <a:pPr marL="0" indent="0">
              <a:buNone/>
            </a:pPr>
            <a:r>
              <a:rPr lang="en-US" sz="800" dirty="0">
                <a:solidFill>
                  <a:srgbClr val="7B7566"/>
                </a:solidFill>
                <a:latin typeface="Consolas" pitchFamily="34" charset="0"/>
                <a:ea typeface="Consolas" pitchFamily="34" charset="-122"/>
                <a:cs typeface="Consolas" pitchFamily="34" charset="-120"/>
              </a:rPr>
              <a:t>WAIT LONGER</a:t>
            </a:r>
            <a:endParaRPr lang="en-US" sz="800" dirty="0"/>
          </a:p>
          <a:p>
            <a:pPr marL="0" indent="0">
              <a:buNone/>
            </a:pPr>
            <a:r>
              <a:rPr lang="en-US" sz="800" dirty="0">
                <a:solidFill>
                  <a:srgbClr val="7B7566"/>
                </a:solidFill>
                <a:latin typeface="Consolas" pitchFamily="34" charset="0"/>
                <a:ea typeface="Consolas" pitchFamily="34" charset="-122"/>
                <a:cs typeface="Consolas" pitchFamily="34" charset="-120"/>
              </a:rPr>
              <a:t>(≥ 5 min)</a:t>
            </a:r>
            <a:endParaRPr lang="en-US" sz="800" dirty="0"/>
          </a:p>
        </p:txBody>
      </p:sp>
      <p:sp>
        <p:nvSpPr>
          <p:cNvPr id="9" name="Text 5"/>
          <p:cNvSpPr txBox="1"/>
          <p:nvPr/>
        </p:nvSpPr>
        <p:spPr>
          <a:xfrm>
            <a:off x="2468880" y="4389120"/>
            <a:ext cx="822960" cy="594360"/>
          </a:xfrm>
          <a:prstGeom prst="rect">
            <a:avLst/>
          </a:prstGeom>
          <a:noFill/>
          <a:ln/>
        </p:spPr>
        <p:txBody>
          <a:bodyPr wrap="square" lIns="0" tIns="0" rIns="0" bIns="0" rtlCol="0" anchor="b"/>
          <a:lstStyle/>
          <a:p>
            <a:pPr marL="0" indent="0">
              <a:buNone/>
            </a:pPr>
            <a:r>
              <a:rPr lang="en-US" sz="3800" dirty="0">
                <a:solidFill>
                  <a:srgbClr val="1F7B78"/>
                </a:solidFill>
                <a:latin typeface="Palatino Linotype" pitchFamily="34" charset="0"/>
                <a:ea typeface="Palatino Linotype" pitchFamily="34" charset="-122"/>
                <a:cs typeface="Palatino Linotype" pitchFamily="34" charset="-120"/>
              </a:rPr>
              <a:t>7</a:t>
            </a:r>
            <a:endParaRPr lang="en-US" sz="3800" dirty="0"/>
          </a:p>
        </p:txBody>
      </p:sp>
      <p:sp>
        <p:nvSpPr>
          <p:cNvPr id="10" name="Text 6"/>
          <p:cNvSpPr txBox="1"/>
          <p:nvPr/>
        </p:nvSpPr>
        <p:spPr>
          <a:xfrm>
            <a:off x="2971800" y="4572000"/>
            <a:ext cx="1097280" cy="411480"/>
          </a:xfrm>
          <a:prstGeom prst="rect">
            <a:avLst/>
          </a:prstGeom>
          <a:noFill/>
          <a:ln/>
        </p:spPr>
        <p:txBody>
          <a:bodyPr wrap="square" lIns="0" tIns="0" rIns="0" bIns="0" rtlCol="0" anchor="t"/>
          <a:lstStyle/>
          <a:p>
            <a:pPr marL="0" indent="0">
              <a:buNone/>
            </a:pPr>
            <a:r>
              <a:rPr lang="en-US" sz="800" dirty="0">
                <a:solidFill>
                  <a:srgbClr val="7B7566"/>
                </a:solidFill>
                <a:latin typeface="Consolas" pitchFamily="34" charset="0"/>
                <a:ea typeface="Consolas" pitchFamily="34" charset="-122"/>
                <a:cs typeface="Consolas" pitchFamily="34" charset="-120"/>
              </a:rPr>
              <a:t>WAIT LESS</a:t>
            </a:r>
            <a:endParaRPr lang="en-US" sz="800" dirty="0"/>
          </a:p>
          <a:p>
            <a:pPr marL="0" indent="0">
              <a:buNone/>
            </a:pPr>
            <a:r>
              <a:rPr lang="en-US" sz="800" dirty="0">
                <a:solidFill>
                  <a:srgbClr val="7B7566"/>
                </a:solidFill>
                <a:latin typeface="Consolas" pitchFamily="34" charset="0"/>
                <a:ea typeface="Consolas" pitchFamily="34" charset="-122"/>
                <a:cs typeface="Consolas" pitchFamily="34" charset="-120"/>
              </a:rPr>
              <a:t>(≥ 5 min)</a:t>
            </a:r>
            <a:endParaRPr lang="en-US" sz="800" dirty="0"/>
          </a:p>
        </p:txBody>
      </p:sp>
      <p:sp>
        <p:nvSpPr>
          <p:cNvPr id="11" name="Text 7"/>
          <p:cNvSpPr txBox="1"/>
          <p:nvPr/>
        </p:nvSpPr>
        <p:spPr>
          <a:xfrm>
            <a:off x="4389120" y="4389120"/>
            <a:ext cx="822960" cy="594360"/>
          </a:xfrm>
          <a:prstGeom prst="rect">
            <a:avLst/>
          </a:prstGeom>
          <a:noFill/>
          <a:ln/>
        </p:spPr>
        <p:txBody>
          <a:bodyPr wrap="square" lIns="0" tIns="0" rIns="0" bIns="0" rtlCol="0" anchor="b"/>
          <a:lstStyle/>
          <a:p>
            <a:pPr marL="0" indent="0">
              <a:buNone/>
            </a:pPr>
            <a:r>
              <a:rPr lang="en-US" sz="3800" dirty="0">
                <a:solidFill>
                  <a:srgbClr val="15233B"/>
                </a:solidFill>
                <a:latin typeface="Palatino Linotype" pitchFamily="34" charset="0"/>
                <a:ea typeface="Palatino Linotype" pitchFamily="34" charset="-122"/>
                <a:cs typeface="Palatino Linotype" pitchFamily="34" charset="-120"/>
              </a:rPr>
              <a:t>43</a:t>
            </a:r>
            <a:endParaRPr lang="en-US" sz="3800" dirty="0"/>
          </a:p>
        </p:txBody>
      </p:sp>
      <p:sp>
        <p:nvSpPr>
          <p:cNvPr id="12" name="Text 8"/>
          <p:cNvSpPr txBox="1"/>
          <p:nvPr/>
        </p:nvSpPr>
        <p:spPr>
          <a:xfrm>
            <a:off x="5120640" y="4572000"/>
            <a:ext cx="1097280" cy="411480"/>
          </a:xfrm>
          <a:prstGeom prst="rect">
            <a:avLst/>
          </a:prstGeom>
          <a:noFill/>
          <a:ln/>
        </p:spPr>
        <p:txBody>
          <a:bodyPr wrap="square" lIns="0" tIns="0" rIns="0" bIns="0" rtlCol="0" anchor="t"/>
          <a:lstStyle/>
          <a:p>
            <a:pPr marL="0" indent="0">
              <a:buNone/>
            </a:pPr>
            <a:r>
              <a:rPr lang="en-US" sz="800" dirty="0">
                <a:solidFill>
                  <a:srgbClr val="7B7566"/>
                </a:solidFill>
                <a:latin typeface="Consolas" pitchFamily="34" charset="0"/>
                <a:ea typeface="Consolas" pitchFamily="34" charset="-122"/>
                <a:cs typeface="Consolas" pitchFamily="34" charset="-120"/>
              </a:rPr>
              <a:t>ABOUT</a:t>
            </a:r>
            <a:endParaRPr lang="en-US" sz="800" dirty="0"/>
          </a:p>
          <a:p>
            <a:pPr marL="0" indent="0">
              <a:buNone/>
            </a:pPr>
            <a:r>
              <a:rPr lang="en-US" sz="800" dirty="0">
                <a:solidFill>
                  <a:srgbClr val="7B7566"/>
                </a:solidFill>
                <a:latin typeface="Consolas" pitchFamily="34" charset="0"/>
                <a:ea typeface="Consolas" pitchFamily="34" charset="-122"/>
                <a:cs typeface="Consolas" pitchFamily="34" charset="-120"/>
              </a:rPr>
              <a:t>THE SAME</a:t>
            </a:r>
            <a:endParaRPr lang="en-US" sz="800" dirty="0"/>
          </a:p>
        </p:txBody>
      </p:sp>
      <p:sp>
        <p:nvSpPr>
          <p:cNvPr id="13" name="Text 9"/>
          <p:cNvSpPr txBox="1"/>
          <p:nvPr/>
        </p:nvSpPr>
        <p:spPr>
          <a:xfrm>
            <a:off x="548640" y="5120640"/>
            <a:ext cx="5760720" cy="457200"/>
          </a:xfrm>
          <a:prstGeom prst="rect">
            <a:avLst/>
          </a:prstGeom>
          <a:noFill/>
          <a:ln/>
        </p:spPr>
        <p:txBody>
          <a:bodyPr wrap="square" lIns="0" tIns="0" rIns="0" bIns="0" rtlCol="0" anchor="t"/>
          <a:lstStyle/>
          <a:p>
            <a:pPr marL="0" indent="0">
              <a:buNone/>
            </a:pPr>
            <a:r>
              <a:rPr lang="en-US" sz="950" dirty="0">
                <a:solidFill>
                  <a:srgbClr val="3A4A66"/>
                </a:solidFill>
                <a:latin typeface="Segoe UI" pitchFamily="34" charset="0"/>
                <a:ea typeface="Segoe UI" pitchFamily="34" charset="-122"/>
                <a:cs typeface="Segoe UI" pitchFamily="34" charset="-120"/>
              </a:rPr>
              <a:t>Optimized vs disrupted, same patients. Largest increases: J-054 +18 min, J-049 +16, J-045 (walk-in) +14, J-048 +14. Priority inversions 48 → 46.</a:t>
            </a:r>
            <a:endParaRPr lang="en-US" sz="950" dirty="0"/>
          </a:p>
        </p:txBody>
      </p:sp>
      <p:sp>
        <p:nvSpPr>
          <p:cNvPr id="14" name="Text 10"/>
          <p:cNvSpPr txBox="1"/>
          <p:nvPr/>
        </p:nvSpPr>
        <p:spPr>
          <a:xfrm>
            <a:off x="548640" y="5623560"/>
            <a:ext cx="5760720" cy="502920"/>
          </a:xfrm>
          <a:prstGeom prst="rect">
            <a:avLst/>
          </a:prstGeom>
          <a:noFill/>
          <a:ln/>
        </p:spPr>
        <p:txBody>
          <a:bodyPr wrap="square" lIns="0" tIns="0" rIns="0" bIns="0" rtlCol="0" anchor="t"/>
          <a:lstStyle/>
          <a:p>
            <a:pPr marL="0" indent="0">
              <a:buNone/>
            </a:pPr>
            <a:r>
              <a:rPr lang="en-US" sz="1600" i="1" dirty="0">
                <a:solidFill>
                  <a:srgbClr val="15233B"/>
                </a:solidFill>
                <a:latin typeface="Palatino Linotype" pitchFamily="34" charset="0"/>
                <a:ea typeface="Palatino Linotype" pitchFamily="34" charset="-122"/>
                <a:cs typeface="Palatino Linotype" pitchFamily="34" charset="-120"/>
              </a:rPr>
              <a:t>A better average does not automatically mean a fairer system.</a:t>
            </a:r>
            <a:endParaRPr lang="en-US" sz="1600" dirty="0"/>
          </a:p>
        </p:txBody>
      </p:sp>
      <p:sp>
        <p:nvSpPr>
          <p:cNvPr id="15" name="Text 11"/>
          <p:cNvSpPr txBox="1"/>
          <p:nvPr/>
        </p:nvSpPr>
        <p:spPr>
          <a:xfrm>
            <a:off x="6766560" y="1280160"/>
            <a:ext cx="4846320" cy="182880"/>
          </a:xfrm>
          <a:prstGeom prst="rect">
            <a:avLst/>
          </a:prstGeom>
          <a:noFill/>
          <a:ln/>
        </p:spPr>
        <p:txBody>
          <a:bodyPr wrap="square" lIns="0" tIns="0" rIns="0" bIns="0" rtlCol="0" anchor="t"/>
          <a:lstStyle/>
          <a:p>
            <a:pPr marL="0" indent="0">
              <a:buNone/>
            </a:pPr>
            <a:r>
              <a:rPr lang="en-US" sz="850" kern="0" spc="100" dirty="0">
                <a:solidFill>
                  <a:srgbClr val="B4642F"/>
                </a:solidFill>
                <a:latin typeface="Consolas" pitchFamily="34" charset="0"/>
                <a:ea typeface="Consolas" pitchFamily="34" charset="-122"/>
                <a:cs typeface="Consolas" pitchFamily="34" charset="-120"/>
              </a:rPr>
              <a:t>SCHEDULING POLICIES · SAME DISRUPTED DAY</a:t>
            </a:r>
            <a:endParaRPr lang="en-US" sz="850" dirty="0"/>
          </a:p>
        </p:txBody>
      </p:sp>
      <p:graphicFrame>
        <p:nvGraphicFramePr>
          <p:cNvPr id="4" name="S10_table"/>
          <p:cNvGraphicFramePr>
            <a:graphicFrameLocks noGrp="1"/>
          </p:cNvGraphicFramePr>
          <p:nvPr>
            <p:extLst>
              <p:ext uri="{D42A27DB-BD31-4B8C-83A1-F6EECF244321}">
                <p14:modId xmlns:p14="http://schemas.microsoft.com/office/powerpoint/2010/main" val="1579011935"/>
              </p:ext>
            </p:extLst>
          </p:nvPr>
        </p:nvGraphicFramePr>
        <p:xfrm>
          <a:off x="6766560" y="1508760"/>
          <a:ext cx="4873752" cy="914400"/>
        </p:xfrm>
        <a:graphic>
          <a:graphicData uri="http://schemas.openxmlformats.org/drawingml/2006/table">
            <a:tbl>
              <a:tblPr/>
              <a:tblGrid>
                <a:gridCol w="20116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1307592">
                  <a:extLst>
                    <a:ext uri="{9D8B030D-6E8A-4147-A177-3AD203B41FA5}">
                      <a16:colId xmlns:a16="http://schemas.microsoft.com/office/drawing/2014/main" val="20003"/>
                    </a:ext>
                  </a:extLst>
                </a:gridCol>
              </a:tblGrid>
              <a:tr h="310896">
                <a:tc>
                  <a:txBody>
                    <a:bodyPr/>
                    <a:lstStyle/>
                    <a:p>
                      <a:pPr marL="0" indent="0" algn="l">
                        <a:buNone/>
                      </a:pPr>
                      <a:r>
                        <a:rPr lang="en-US" sz="800" b="1" dirty="0">
                          <a:solidFill>
                            <a:srgbClr val="7B7566"/>
                          </a:solidFill>
                          <a:latin typeface="Consolas" pitchFamily="34" charset="0"/>
                          <a:ea typeface="Consolas" pitchFamily="34" charset="-122"/>
                          <a:cs typeface="Consolas" pitchFamily="34" charset="-120"/>
                        </a:rPr>
                        <a:t>POLICY</a:t>
                      </a:r>
                      <a:endParaRPr lang="en-US" sz="800" dirty="0">
                        <a:latin typeface="Consolas" charset="0"/>
                        <a:ea typeface="Consolas" charset="0"/>
                        <a:cs typeface="Consolas" charset="0"/>
                      </a:endParaRPr>
                    </a:p>
                  </a:txBody>
                  <a:tcPr marL="64008" marR="64008" marT="0" marB="0" anchor="ctr">
                    <a:lnL w="0" cap="flat" cmpd="sng" algn="ctr">
                      <a:noFill/>
                    </a:lnL>
                    <a:lnR w="0" cap="flat" cmpd="sng" algn="ctr">
                      <a:noFill/>
                    </a:lnR>
                    <a:lnT w="0" cap="flat" cmpd="sng" algn="ctr">
                      <a:noFill/>
                    </a:lnT>
                    <a:lnB w="9525" cap="flat" cmpd="sng" algn="ctr">
                      <a:solidFill>
                        <a:srgbClr val="CBC2AB"/>
                      </a:solidFill>
                      <a:prstDash val="solid"/>
                      <a:round/>
                      <a:headEnd type="none" w="med" len="med"/>
                      <a:tailEnd type="none" w="med" len="med"/>
                    </a:lnB>
                    <a:solidFill>
                      <a:srgbClr val="EEE8DA"/>
                    </a:solidFill>
                  </a:tcPr>
                </a:tc>
                <a:tc>
                  <a:txBody>
                    <a:bodyPr/>
                    <a:lstStyle/>
                    <a:p>
                      <a:pPr marL="0" indent="0" algn="r">
                        <a:buNone/>
                      </a:pPr>
                      <a:r>
                        <a:rPr lang="en-US" sz="800" b="1" dirty="0">
                          <a:solidFill>
                            <a:srgbClr val="7B7566"/>
                          </a:solidFill>
                          <a:latin typeface="Consolas" pitchFamily="34" charset="0"/>
                          <a:ea typeface="Consolas" pitchFamily="34" charset="-122"/>
                          <a:cs typeface="Consolas" pitchFamily="34" charset="-120"/>
                        </a:rPr>
                        <a:t>TOTAL MIN</a:t>
                      </a:r>
                      <a:endParaRPr lang="en-US" sz="800" dirty="0">
                        <a:latin typeface="Consolas" charset="0"/>
                        <a:ea typeface="Consolas" charset="0"/>
                        <a:cs typeface="Consolas" charset="0"/>
                      </a:endParaRPr>
                    </a:p>
                  </a:txBody>
                  <a:tcPr marL="64008" marR="64008" marT="0" marB="0" anchor="ctr">
                    <a:lnL w="0" cap="flat" cmpd="sng" algn="ctr">
                      <a:noFill/>
                    </a:lnL>
                    <a:lnR w="0" cap="flat" cmpd="sng" algn="ctr">
                      <a:noFill/>
                    </a:lnR>
                    <a:lnT w="0" cap="flat" cmpd="sng" algn="ctr">
                      <a:noFill/>
                    </a:lnT>
                    <a:lnB w="9525" cap="flat" cmpd="sng" algn="ctr">
                      <a:solidFill>
                        <a:srgbClr val="CBC2AB"/>
                      </a:solidFill>
                      <a:prstDash val="solid"/>
                      <a:round/>
                      <a:headEnd type="none" w="med" len="med"/>
                      <a:tailEnd type="none" w="med" len="med"/>
                    </a:lnB>
                    <a:solidFill>
                      <a:srgbClr val="EEE8DA"/>
                    </a:solidFill>
                  </a:tcPr>
                </a:tc>
                <a:tc>
                  <a:txBody>
                    <a:bodyPr/>
                    <a:lstStyle/>
                    <a:p>
                      <a:pPr marL="0" indent="0" algn="r">
                        <a:buNone/>
                      </a:pPr>
                      <a:r>
                        <a:rPr lang="en-US" sz="800" b="1" dirty="0">
                          <a:solidFill>
                            <a:srgbClr val="7B7566"/>
                          </a:solidFill>
                          <a:latin typeface="Consolas" pitchFamily="34" charset="0"/>
                          <a:ea typeface="Consolas" pitchFamily="34" charset="-122"/>
                          <a:cs typeface="Consolas" pitchFamily="34" charset="-120"/>
                        </a:rPr>
                        <a:t>P90</a:t>
                      </a:r>
                      <a:endParaRPr lang="en-US" sz="800" dirty="0">
                        <a:latin typeface="Consolas" charset="0"/>
                        <a:ea typeface="Consolas" charset="0"/>
                        <a:cs typeface="Consolas" charset="0"/>
                      </a:endParaRPr>
                    </a:p>
                  </a:txBody>
                  <a:tcPr marL="64008" marR="64008" marT="0" marB="0" anchor="ctr">
                    <a:lnL w="0" cap="flat" cmpd="sng" algn="ctr">
                      <a:noFill/>
                    </a:lnL>
                    <a:lnR w="0" cap="flat" cmpd="sng" algn="ctr">
                      <a:noFill/>
                    </a:lnR>
                    <a:lnT w="0" cap="flat" cmpd="sng" algn="ctr">
                      <a:noFill/>
                    </a:lnT>
                    <a:lnB w="9525" cap="flat" cmpd="sng" algn="ctr">
                      <a:solidFill>
                        <a:srgbClr val="CBC2AB"/>
                      </a:solidFill>
                      <a:prstDash val="solid"/>
                      <a:round/>
                      <a:headEnd type="none" w="med" len="med"/>
                      <a:tailEnd type="none" w="med" len="med"/>
                    </a:lnB>
                    <a:solidFill>
                      <a:srgbClr val="EEE8DA"/>
                    </a:solidFill>
                  </a:tcPr>
                </a:tc>
                <a:tc>
                  <a:txBody>
                    <a:bodyPr/>
                    <a:lstStyle/>
                    <a:p>
                      <a:pPr marL="0" indent="0" algn="r">
                        <a:buNone/>
                      </a:pPr>
                      <a:r>
                        <a:rPr lang="en-US" sz="800" b="1" dirty="0">
                          <a:solidFill>
                            <a:srgbClr val="7B7566"/>
                          </a:solidFill>
                          <a:latin typeface="Consolas" pitchFamily="34" charset="0"/>
                          <a:ea typeface="Consolas" pitchFamily="34" charset="-122"/>
                          <a:cs typeface="Consolas" pitchFamily="34" charset="-120"/>
                        </a:rPr>
                        <a:t>INVERSIONS</a:t>
                      </a:r>
                      <a:endParaRPr lang="en-US" sz="800" dirty="0">
                        <a:latin typeface="Consolas" charset="0"/>
                        <a:ea typeface="Consolas" charset="0"/>
                        <a:cs typeface="Consolas" charset="0"/>
                      </a:endParaRPr>
                    </a:p>
                  </a:txBody>
                  <a:tcPr marL="64008" marR="64008" marT="0" marB="0" anchor="ctr">
                    <a:lnL w="0" cap="flat" cmpd="sng" algn="ctr">
                      <a:noFill/>
                    </a:lnL>
                    <a:lnR w="0" cap="flat" cmpd="sng" algn="ctr">
                      <a:noFill/>
                    </a:lnR>
                    <a:lnT w="0" cap="flat" cmpd="sng" algn="ctr">
                      <a:noFill/>
                    </a:lnT>
                    <a:lnB w="9525" cap="flat" cmpd="sng" algn="ctr">
                      <a:solidFill>
                        <a:srgbClr val="CBC2AB"/>
                      </a:solidFill>
                      <a:prstDash val="solid"/>
                      <a:round/>
                      <a:headEnd type="none" w="med" len="med"/>
                      <a:tailEnd type="none" w="med" len="med"/>
                    </a:lnB>
                    <a:solidFill>
                      <a:srgbClr val="EEE8DA"/>
                    </a:solidFill>
                  </a:tcPr>
                </a:tc>
                <a:extLst>
                  <a:ext uri="{0D108BD9-81ED-4DB2-BD59-A6C34878D82A}">
                    <a16:rowId xmlns:a16="http://schemas.microsoft.com/office/drawing/2014/main" val="10000"/>
                  </a:ext>
                </a:extLst>
              </a:tr>
              <a:tr h="310896">
                <a:tc>
                  <a:txBody>
                    <a:bodyPr/>
                    <a:lstStyle/>
                    <a:p>
                      <a:pPr marL="0" indent="0" algn="l">
                        <a:buNone/>
                      </a:pPr>
                      <a:r>
                        <a:rPr lang="en-US" sz="1050" dirty="0">
                          <a:solidFill>
                            <a:srgbClr val="15233B"/>
                          </a:solidFill>
                          <a:latin typeface="Segoe UI" pitchFamily="34" charset="0"/>
                          <a:ea typeface="Segoe UI" pitchFamily="34" charset="-122"/>
                          <a:cs typeface="Segoe UI" pitchFamily="34" charset="-120"/>
                        </a:rPr>
                        <a:t>First come, first served</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9525" cap="flat" cmpd="sng" algn="ctr">
                      <a:solidFill>
                        <a:srgbClr val="CBC2AB"/>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1,946</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9525" cap="flat" cmpd="sng" algn="ctr">
                      <a:solidFill>
                        <a:srgbClr val="CBC2AB"/>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75</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9525" cap="flat" cmpd="sng" algn="ctr">
                      <a:solidFill>
                        <a:srgbClr val="CBC2AB"/>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48</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9525" cap="flat" cmpd="sng" algn="ctr">
                      <a:solidFill>
                        <a:srgbClr val="CBC2AB"/>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extLst>
                  <a:ext uri="{0D108BD9-81ED-4DB2-BD59-A6C34878D82A}">
                    <a16:rowId xmlns:a16="http://schemas.microsoft.com/office/drawing/2014/main" val="10001"/>
                  </a:ext>
                </a:extLst>
              </a:tr>
              <a:tr h="310896">
                <a:tc>
                  <a:txBody>
                    <a:bodyPr/>
                    <a:lstStyle/>
                    <a:p>
                      <a:pPr marL="0" indent="0" algn="l">
                        <a:buNone/>
                      </a:pPr>
                      <a:r>
                        <a:rPr lang="en-US" sz="1050" dirty="0">
                          <a:solidFill>
                            <a:srgbClr val="15233B"/>
                          </a:solidFill>
                          <a:latin typeface="Segoe UI" pitchFamily="34" charset="0"/>
                          <a:ea typeface="Segoe UI" pitchFamily="34" charset="-122"/>
                          <a:cs typeface="Segoe UI" pitchFamily="34" charset="-120"/>
                        </a:rPr>
                        <a:t>Priority with aging</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1,973</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67</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b="1" dirty="0">
                          <a:solidFill>
                            <a:srgbClr val="1F7B78"/>
                          </a:solidFill>
                          <a:latin typeface="Segoe UI" pitchFamily="34" charset="0"/>
                          <a:ea typeface="Segoe UI" pitchFamily="34" charset="-122"/>
                          <a:cs typeface="Segoe UI" pitchFamily="34" charset="-120"/>
                        </a:rPr>
                        <a:t>23</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extLst>
                  <a:ext uri="{0D108BD9-81ED-4DB2-BD59-A6C34878D82A}">
                    <a16:rowId xmlns:a16="http://schemas.microsoft.com/office/drawing/2014/main" val="10002"/>
                  </a:ext>
                </a:extLst>
              </a:tr>
              <a:tr h="310896">
                <a:tc>
                  <a:txBody>
                    <a:bodyPr/>
                    <a:lstStyle/>
                    <a:p>
                      <a:pPr marL="0" indent="0" algn="l">
                        <a:buNone/>
                      </a:pPr>
                      <a:r>
                        <a:rPr lang="en-US" sz="1050" dirty="0">
                          <a:solidFill>
                            <a:srgbClr val="15233B"/>
                          </a:solidFill>
                          <a:latin typeface="Segoe UI" pitchFamily="34" charset="0"/>
                          <a:ea typeface="Segoe UI" pitchFamily="34" charset="-122"/>
                          <a:cs typeface="Segoe UI" pitchFamily="34" charset="-120"/>
                        </a:rPr>
                        <a:t>Shortest task first (aged)</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b="1" dirty="0">
                          <a:solidFill>
                            <a:srgbClr val="1F7B78"/>
                          </a:solidFill>
                          <a:latin typeface="Segoe UI" pitchFamily="34" charset="0"/>
                          <a:ea typeface="Segoe UI" pitchFamily="34" charset="-122"/>
                          <a:cs typeface="Segoe UI" pitchFamily="34" charset="-120"/>
                        </a:rPr>
                        <a:t>1,616</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65</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tc>
                  <a:txBody>
                    <a:bodyPr/>
                    <a:lstStyle/>
                    <a:p>
                      <a:pPr marL="0" indent="0" algn="r">
                        <a:buNone/>
                      </a:pPr>
                      <a:r>
                        <a:rPr lang="en-US" sz="1050" dirty="0">
                          <a:solidFill>
                            <a:srgbClr val="15233B"/>
                          </a:solidFill>
                          <a:latin typeface="Segoe UI" pitchFamily="34" charset="0"/>
                          <a:ea typeface="Segoe UI" pitchFamily="34" charset="-122"/>
                          <a:cs typeface="Segoe UI" pitchFamily="34" charset="-120"/>
                        </a:rPr>
                        <a:t>45</a:t>
                      </a:r>
                      <a:endParaRPr lang="en-US" sz="1050" dirty="0">
                        <a:latin typeface="Segoe UI" charset="0"/>
                        <a:ea typeface="Segoe UI" charset="0"/>
                        <a:cs typeface="Segoe UI" charset="0"/>
                      </a:endParaRPr>
                    </a:p>
                  </a:txBody>
                  <a:tcPr marL="64008" marR="64008" marT="0" marB="0" anchor="ctr">
                    <a:lnL w="0" cap="flat" cmpd="sng" algn="ctr">
                      <a:noFill/>
                    </a:lnL>
                    <a:lnR w="0" cap="flat" cmpd="sng" algn="ctr">
                      <a:noFill/>
                    </a:lnR>
                    <a:lnT w="6350" cap="flat" cmpd="sng" algn="ctr">
                      <a:solidFill>
                        <a:srgbClr val="DDD5C3"/>
                      </a:solidFill>
                      <a:prstDash val="solid"/>
                      <a:round/>
                      <a:headEnd type="none" w="med" len="med"/>
                      <a:tailEnd type="none" w="med" len="med"/>
                    </a:lnT>
                    <a:lnB w="6350" cap="flat" cmpd="sng" algn="ctr">
                      <a:solidFill>
                        <a:srgbClr val="DDD5C3"/>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7" name="Text 12"/>
          <p:cNvSpPr txBox="1"/>
          <p:nvPr/>
        </p:nvSpPr>
        <p:spPr>
          <a:xfrm>
            <a:off x="6766560" y="2834640"/>
            <a:ext cx="4873752" cy="457200"/>
          </a:xfrm>
          <a:prstGeom prst="rect">
            <a:avLst/>
          </a:prstGeom>
          <a:noFill/>
          <a:ln/>
        </p:spPr>
        <p:txBody>
          <a:bodyPr wrap="square" lIns="0" tIns="0" rIns="0" bIns="0" rtlCol="0" anchor="t"/>
          <a:lstStyle/>
          <a:p>
            <a:pPr marL="0" indent="0">
              <a:buNone/>
            </a:pPr>
            <a:r>
              <a:rPr lang="en-US" sz="950" dirty="0">
                <a:solidFill>
                  <a:srgbClr val="3A4A66"/>
                </a:solidFill>
                <a:latin typeface="Segoe UI" pitchFamily="34" charset="0"/>
                <a:ea typeface="Segoe UI" pitchFamily="34" charset="-122"/>
                <a:cs typeface="Segoe UI" pitchFamily="34" charset="-120"/>
              </a:rPr>
              <a:t>Different objectives, different trade-offs: shortest-first needs the fewest minutes but starts a less urgent patient first 45 times.</a:t>
            </a:r>
            <a:endParaRPr lang="en-US" sz="950" dirty="0"/>
          </a:p>
        </p:txBody>
      </p:sp>
      <p:sp>
        <p:nvSpPr>
          <p:cNvPr id="18" name="Text 13"/>
          <p:cNvSpPr txBox="1"/>
          <p:nvPr/>
        </p:nvSpPr>
        <p:spPr>
          <a:xfrm>
            <a:off x="6766560" y="3401568"/>
            <a:ext cx="4846320" cy="182880"/>
          </a:xfrm>
          <a:prstGeom prst="rect">
            <a:avLst/>
          </a:prstGeom>
          <a:noFill/>
          <a:ln/>
        </p:spPr>
        <p:txBody>
          <a:bodyPr wrap="square" lIns="0" tIns="0" rIns="0" bIns="0" rtlCol="0" anchor="t"/>
          <a:lstStyle/>
          <a:p>
            <a:pPr marL="0" indent="0">
              <a:buNone/>
            </a:pPr>
            <a:r>
              <a:rPr lang="en-US" sz="850" kern="0" spc="100" dirty="0">
                <a:solidFill>
                  <a:srgbClr val="B4642F"/>
                </a:solidFill>
                <a:latin typeface="Consolas" pitchFamily="34" charset="0"/>
                <a:ea typeface="Consolas" pitchFamily="34" charset="-122"/>
                <a:cs typeface="Consolas" pitchFamily="34" charset="-120"/>
              </a:rPr>
              <a:t>ACROSS EIGHT SYNTHETIC DAYS · MINUTES SAVED BY REFLOW (10:45)</a:t>
            </a:r>
            <a:endParaRPr lang="en-US" sz="850" dirty="0"/>
          </a:p>
        </p:txBody>
      </p:sp>
      <p:graphicFrame>
        <p:nvGraphicFramePr>
          <p:cNvPr id="19" name="Chart 1"/>
          <p:cNvGraphicFramePr/>
          <p:nvPr/>
        </p:nvGraphicFramePr>
        <p:xfrm>
          <a:off x="6675120" y="3566160"/>
          <a:ext cx="5029200" cy="1965960"/>
        </p:xfrm>
        <a:graphic>
          <a:graphicData uri="http://schemas.openxmlformats.org/drawingml/2006/chart">
            <c:chart xmlns:c="http://schemas.openxmlformats.org/drawingml/2006/chart" xmlns:r="http://schemas.openxmlformats.org/officeDocument/2006/relationships" r:id="rId4"/>
          </a:graphicData>
        </a:graphic>
      </p:graphicFrame>
      <p:sp>
        <p:nvSpPr>
          <p:cNvPr id="20" name="Text 14"/>
          <p:cNvSpPr txBox="1"/>
          <p:nvPr/>
        </p:nvSpPr>
        <p:spPr>
          <a:xfrm>
            <a:off x="6766560" y="5577840"/>
            <a:ext cx="4873752" cy="457200"/>
          </a:xfrm>
          <a:prstGeom prst="rect">
            <a:avLst/>
          </a:prstGeom>
          <a:noFill/>
          <a:ln/>
        </p:spPr>
        <p:txBody>
          <a:bodyPr wrap="square" lIns="0" tIns="0" rIns="0" bIns="0" rtlCol="0" anchor="t"/>
          <a:lstStyle/>
          <a:p>
            <a:pPr marL="0" indent="0">
              <a:buNone/>
            </a:pPr>
            <a:r>
              <a:rPr lang="en-US" sz="950" dirty="0">
                <a:solidFill>
                  <a:srgbClr val="3A4A66"/>
                </a:solidFill>
                <a:latin typeface="Segoe UI" pitchFamily="34" charset="0"/>
                <a:ea typeface="Segoe UI" pitchFamily="34" charset="-122"/>
                <a:cs typeface="Segoe UI" pitchFamily="34" charset="-120"/>
              </a:rPr>
              <a:t>Helped on 7 of 8 days; worse on 1 (seed 64, +5 min). Mean saving 59.8 min, median 51.5. Nothing is cherry-picked.</a:t>
            </a:r>
            <a:endParaRPr lang="en-US" sz="950" dirty="0"/>
          </a:p>
        </p:txBody>
      </p:sp>
      <p:sp>
        <p:nvSpPr>
          <p:cNvPr id="21" name="Text 15"/>
          <p:cNvSpPr txBox="1"/>
          <p:nvPr/>
        </p:nvSpPr>
        <p:spPr>
          <a:xfrm>
            <a:off x="548640" y="6199632"/>
            <a:ext cx="11064240" cy="256032"/>
          </a:xfrm>
          <a:prstGeom prst="rect">
            <a:avLst/>
          </a:prstGeom>
          <a:noFill/>
          <a:ln/>
        </p:spPr>
        <p:txBody>
          <a:bodyPr wrap="square" lIns="0" tIns="0" rIns="0" bIns="0" rtlCol="0" anchor="t"/>
          <a:lstStyle/>
          <a:p>
            <a:pPr marL="0" indent="0">
              <a:buNone/>
            </a:pPr>
            <a:r>
              <a:rPr lang="en-US" sz="850" dirty="0">
                <a:solidFill>
                  <a:srgbClr val="7B7566"/>
                </a:solidFill>
                <a:latin typeface="Segoe UI" pitchFamily="34" charset="0"/>
                <a:ea typeface="Segoe UI" pitchFamily="34" charset="-122"/>
                <a:cs typeface="Segoe UI" pitchFamily="34" charset="-120"/>
              </a:rPr>
              <a:t>Source: SAYR Minutes Ledger: fairness table, patients made worse off, scheduling policies and "Evidence across seeds". Synthetic fairness evaluation does not establish fairness in real clinical operations.</a:t>
            </a:r>
            <a:endParaRPr lang="en-US" sz="850" dirty="0"/>
          </a:p>
        </p:txBody>
      </p:sp>
      <p:sp>
        <p:nvSpPr>
          <p:cNvPr id="25" name="Slide Number Placeholder 0"/>
          <p:cNvSpPr>
            <a:spLocks noGrp="1"/>
          </p:cNvSpPr>
          <p:nvPr>
            <p:ph type="sldNum" sz="quarter" idx="4294967295"/>
          </p:nvPr>
        </p:nvSpPr>
        <p:spPr>
          <a:xfrm>
            <a:off x="11064240" y="6492240"/>
            <a:ext cx="576072"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B7566"/>
                </a:solidFill>
                <a:latin typeface="Consolas"/>
                <a:ea typeface="Consolas"/>
                <a:cs typeface="Consolas"/>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685800"/>
          </a:xfrm>
          <a:prstGeom prst="rect">
            <a:avLst/>
          </a:prstGeom>
          <a:noFill/>
          <a:ln/>
        </p:spPr>
        <p:txBody>
          <a:bodyPr wrap="square" lIns="0" tIns="0" rIns="0" bIns="0" rtlCol="0" anchor="t"/>
          <a:lstStyle/>
          <a:p>
            <a:pPr marL="0" indent="0" algn="l">
              <a:buNone/>
            </a:pPr>
            <a:r>
              <a:rPr lang="en-US" sz="3000" dirty="0">
                <a:solidFill>
                  <a:srgbClr val="15233B"/>
                </a:solidFill>
                <a:latin typeface="Palatino Linotype" pitchFamily="34" charset="0"/>
                <a:ea typeface="Palatino Linotype" pitchFamily="34" charset="-122"/>
                <a:cs typeface="Palatino Linotype" pitchFamily="34" charset="-120"/>
              </a:rPr>
              <a:t>From simulation to real healthcare research</a:t>
            </a:r>
            <a:endParaRPr lang="en-US" sz="3000" dirty="0"/>
          </a:p>
        </p:txBody>
      </p:sp>
      <p:sp>
        <p:nvSpPr>
          <p:cNvPr id="3" name="Text 1"/>
          <p:cNvSpPr txBox="1"/>
          <p:nvPr/>
        </p:nvSpPr>
        <p:spPr>
          <a:xfrm>
            <a:off x="548640" y="310896"/>
            <a:ext cx="8229600" cy="228600"/>
          </a:xfrm>
          <a:prstGeom prst="rect">
            <a:avLst/>
          </a:prstGeom>
          <a:noFill/>
          <a:ln/>
        </p:spPr>
        <p:txBody>
          <a:bodyPr wrap="square" lIns="0" tIns="0" rIns="0" bIns="0" rtlCol="0" anchor="t"/>
          <a:lstStyle/>
          <a:p>
            <a:pPr marL="0" indent="0">
              <a:buNone/>
            </a:pPr>
            <a:r>
              <a:rPr lang="en-US" sz="1050" kern="0" spc="200" dirty="0">
                <a:solidFill>
                  <a:srgbClr val="B4642F"/>
                </a:solidFill>
                <a:latin typeface="Consolas" pitchFamily="34" charset="0"/>
                <a:ea typeface="Consolas" pitchFamily="34" charset="-122"/>
                <a:cs typeface="Consolas" pitchFamily="34" charset="-120"/>
              </a:rPr>
              <a:t>ROADMAP</a:t>
            </a:r>
            <a:endParaRPr lang="en-US" sz="1050" dirty="0"/>
          </a:p>
        </p:txBody>
      </p:sp>
      <p:sp>
        <p:nvSpPr>
          <p:cNvPr id="5" name="Shape 2"/>
          <p:cNvSpPr/>
          <p:nvPr/>
        </p:nvSpPr>
        <p:spPr>
          <a:xfrm>
            <a:off x="822960" y="2084832"/>
            <a:ext cx="10561320" cy="0"/>
          </a:xfrm>
          <a:prstGeom prst="line">
            <a:avLst/>
          </a:prstGeom>
          <a:noFill/>
          <a:ln w="25400">
            <a:solidFill>
              <a:srgbClr val="CBC2AB"/>
            </a:solidFill>
            <a:prstDash val="solid"/>
          </a:ln>
        </p:spPr>
      </p:sp>
      <p:sp>
        <p:nvSpPr>
          <p:cNvPr id="6" name="Text 3"/>
          <p:cNvSpPr txBox="1"/>
          <p:nvPr/>
        </p:nvSpPr>
        <p:spPr>
          <a:xfrm>
            <a:off x="548640" y="1371600"/>
            <a:ext cx="7315200" cy="182880"/>
          </a:xfrm>
          <a:prstGeom prst="rect">
            <a:avLst/>
          </a:prstGeom>
          <a:noFill/>
          <a:ln/>
        </p:spPr>
        <p:txBody>
          <a:bodyPr wrap="square" lIns="0" tIns="0" rIns="0" bIns="0" rtlCol="0" anchor="t"/>
          <a:lstStyle/>
          <a:p>
            <a:pPr marL="0" indent="0">
              <a:buNone/>
            </a:pPr>
            <a:r>
              <a:rPr lang="en-US" sz="850" kern="0" spc="150" dirty="0">
                <a:solidFill>
                  <a:srgbClr val="7B7566"/>
                </a:solidFill>
                <a:latin typeface="Consolas" pitchFamily="34" charset="0"/>
                <a:ea typeface="Consolas" pitchFamily="34" charset="-122"/>
                <a:cs typeface="Consolas" pitchFamily="34" charset="-120"/>
              </a:rPr>
              <a:t>PROTOTYPE TODAY  →  VALIDATION  →  SUPERVISED RESEARCH</a:t>
            </a:r>
            <a:endParaRPr lang="en-US" sz="850" dirty="0"/>
          </a:p>
        </p:txBody>
      </p:sp>
      <p:sp>
        <p:nvSpPr>
          <p:cNvPr id="7" name="S11_dot0"/>
          <p:cNvSpPr/>
          <p:nvPr/>
        </p:nvSpPr>
        <p:spPr>
          <a:xfrm>
            <a:off x="640080" y="1938528"/>
            <a:ext cx="292608" cy="292608"/>
          </a:xfrm>
          <a:prstGeom prst="ellipse">
            <a:avLst/>
          </a:prstGeom>
          <a:solidFill>
            <a:srgbClr val="1F7B78"/>
          </a:solidFill>
          <a:ln w="25400">
            <a:solidFill>
              <a:srgbClr val="1F7B78"/>
            </a:solidFill>
            <a:prstDash val="solid"/>
          </a:ln>
        </p:spPr>
      </p:sp>
      <p:sp>
        <p:nvSpPr>
          <p:cNvPr id="8" name="Text 5"/>
          <p:cNvSpPr txBox="1"/>
          <p:nvPr/>
        </p:nvSpPr>
        <p:spPr>
          <a:xfrm>
            <a:off x="1005840" y="1664208"/>
            <a:ext cx="1371600" cy="201168"/>
          </a:xfrm>
          <a:prstGeom prst="rect">
            <a:avLst/>
          </a:prstGeom>
          <a:noFill/>
          <a:ln/>
        </p:spPr>
        <p:txBody>
          <a:bodyPr wrap="square" lIns="0" tIns="0" rIns="0" bIns="0" rtlCol="0" anchor="t"/>
          <a:lstStyle/>
          <a:p>
            <a:pPr marL="0" indent="0">
              <a:buNone/>
            </a:pPr>
            <a:r>
              <a:rPr lang="en-US" sz="950" b="1" kern="0" spc="150" dirty="0">
                <a:solidFill>
                  <a:srgbClr val="1F7B78"/>
                </a:solidFill>
                <a:latin typeface="Consolas" pitchFamily="34" charset="0"/>
                <a:ea typeface="Consolas" pitchFamily="34" charset="-122"/>
                <a:cs typeface="Consolas" pitchFamily="34" charset="-120"/>
              </a:rPr>
              <a:t>PHASE 1</a:t>
            </a:r>
            <a:endParaRPr lang="en-US" sz="950" dirty="0"/>
          </a:p>
        </p:txBody>
      </p:sp>
      <p:sp>
        <p:nvSpPr>
          <p:cNvPr id="9" name="Shape 6"/>
          <p:cNvSpPr/>
          <p:nvPr/>
        </p:nvSpPr>
        <p:spPr>
          <a:xfrm>
            <a:off x="548640" y="2468880"/>
            <a:ext cx="2103120" cy="2103120"/>
          </a:xfrm>
          <a:prstGeom prst="roundRect">
            <a:avLst>
              <a:gd name="adj" fmla="val 3043"/>
            </a:avLst>
          </a:prstGeom>
          <a:solidFill>
            <a:srgbClr val="D9EBE8"/>
          </a:solidFill>
          <a:ln w="19050">
            <a:solidFill>
              <a:srgbClr val="1F7B78"/>
            </a:solidFill>
            <a:prstDash val="solid"/>
          </a:ln>
        </p:spPr>
      </p:sp>
      <p:sp>
        <p:nvSpPr>
          <p:cNvPr id="10" name="Text 7"/>
          <p:cNvSpPr txBox="1"/>
          <p:nvPr/>
        </p:nvSpPr>
        <p:spPr>
          <a:xfrm>
            <a:off x="685800" y="2578608"/>
            <a:ext cx="1828800" cy="731520"/>
          </a:xfrm>
          <a:prstGeom prst="rect">
            <a:avLst/>
          </a:prstGeom>
          <a:noFill/>
          <a:ln/>
        </p:spPr>
        <p:txBody>
          <a:bodyPr wrap="square" lIns="0" tIns="0" rIns="0" bIns="0" rtlCol="0" anchor="t"/>
          <a:lstStyle/>
          <a:p>
            <a:pPr marL="0" indent="0">
              <a:buNone/>
            </a:pPr>
            <a:r>
              <a:rPr lang="en-US" sz="1550" b="1" dirty="0">
                <a:solidFill>
                  <a:srgbClr val="1F7B78"/>
                </a:solidFill>
                <a:latin typeface="Palatino Linotype" pitchFamily="34" charset="0"/>
                <a:ea typeface="Palatino Linotype" pitchFamily="34" charset="-122"/>
                <a:cs typeface="Palatino Linotype" pitchFamily="34" charset="-120"/>
              </a:rPr>
              <a:t>Current prototype</a:t>
            </a:r>
            <a:endParaRPr lang="en-US" sz="1550" dirty="0"/>
          </a:p>
        </p:txBody>
      </p:sp>
      <p:sp>
        <p:nvSpPr>
          <p:cNvPr id="11" name="Text 8"/>
          <p:cNvSpPr txBox="1"/>
          <p:nvPr/>
        </p:nvSpPr>
        <p:spPr>
          <a:xfrm>
            <a:off x="685800" y="3337560"/>
            <a:ext cx="1828800" cy="1371600"/>
          </a:xfrm>
          <a:prstGeom prst="rect">
            <a:avLst/>
          </a:prstGeom>
          <a:noFill/>
          <a:ln/>
        </p:spPr>
        <p:txBody>
          <a:bodyPr wrap="square" lIns="0" tIns="0" rIns="0" bIns="0" rtlCol="0" anchor="t"/>
          <a:lstStyle/>
          <a:p>
            <a:pPr marL="0" indent="0">
              <a:buNone/>
            </a:pPr>
            <a:r>
              <a:rPr lang="en-US" sz="1050" dirty="0">
                <a:solidFill>
                  <a:srgbClr val="3A4A66"/>
                </a:solidFill>
                <a:latin typeface="Segoe UI" pitchFamily="34" charset="0"/>
                <a:ea typeface="Segoe UI" pitchFamily="34" charset="-122"/>
                <a:cs typeface="Segoe UI" pitchFamily="34" charset="-120"/>
              </a:rPr>
              <a:t>Synthetic patient journeys, deterministic simulation, scheduling optimization and operational evaluation.</a:t>
            </a:r>
            <a:endParaRPr lang="en-US" sz="1050" dirty="0"/>
          </a:p>
        </p:txBody>
      </p:sp>
      <p:sp>
        <p:nvSpPr>
          <p:cNvPr id="12" name="Text 9"/>
          <p:cNvSpPr txBox="1"/>
          <p:nvPr/>
        </p:nvSpPr>
        <p:spPr>
          <a:xfrm>
            <a:off x="685800" y="4315968"/>
            <a:ext cx="1645920" cy="164592"/>
          </a:xfrm>
          <a:prstGeom prst="rect">
            <a:avLst/>
          </a:prstGeom>
          <a:noFill/>
          <a:ln/>
        </p:spPr>
        <p:txBody>
          <a:bodyPr wrap="square" lIns="0" tIns="0" rIns="0" bIns="0" rtlCol="0" anchor="t"/>
          <a:lstStyle/>
          <a:p>
            <a:pPr marL="0" indent="0">
              <a:buNone/>
            </a:pPr>
            <a:r>
              <a:rPr lang="en-US" sz="800" b="1" kern="0" spc="100" dirty="0">
                <a:solidFill>
                  <a:srgbClr val="1F7B78"/>
                </a:solidFill>
                <a:latin typeface="Consolas" pitchFamily="34" charset="0"/>
                <a:ea typeface="Consolas" pitchFamily="34" charset="-122"/>
                <a:cs typeface="Consolas" pitchFamily="34" charset="-120"/>
              </a:rPr>
              <a:t>WHERE WE ARE</a:t>
            </a:r>
            <a:endParaRPr lang="en-US" sz="800" dirty="0"/>
          </a:p>
        </p:txBody>
      </p:sp>
      <p:sp>
        <p:nvSpPr>
          <p:cNvPr id="13" name="S11_dot1"/>
          <p:cNvSpPr/>
          <p:nvPr/>
        </p:nvSpPr>
        <p:spPr>
          <a:xfrm>
            <a:off x="2891790" y="1938528"/>
            <a:ext cx="292608" cy="292608"/>
          </a:xfrm>
          <a:prstGeom prst="ellipse">
            <a:avLst/>
          </a:prstGeom>
          <a:solidFill>
            <a:srgbClr val="F6F2E9"/>
          </a:solidFill>
          <a:ln w="25400">
            <a:solidFill>
              <a:srgbClr val="A39C88"/>
            </a:solidFill>
            <a:prstDash val="solid"/>
          </a:ln>
        </p:spPr>
      </p:sp>
      <p:sp>
        <p:nvSpPr>
          <p:cNvPr id="14" name="Text 11"/>
          <p:cNvSpPr txBox="1"/>
          <p:nvPr/>
        </p:nvSpPr>
        <p:spPr>
          <a:xfrm>
            <a:off x="3257550" y="1664208"/>
            <a:ext cx="1371600" cy="201168"/>
          </a:xfrm>
          <a:prstGeom prst="rect">
            <a:avLst/>
          </a:prstGeom>
          <a:noFill/>
          <a:ln/>
        </p:spPr>
        <p:txBody>
          <a:bodyPr wrap="square" lIns="0" tIns="0" rIns="0" bIns="0" rtlCol="0" anchor="t"/>
          <a:lstStyle/>
          <a:p>
            <a:pPr marL="0" indent="0">
              <a:buNone/>
            </a:pPr>
            <a:r>
              <a:rPr lang="en-US" sz="950" b="1" kern="0" spc="150" dirty="0">
                <a:solidFill>
                  <a:srgbClr val="7B7566"/>
                </a:solidFill>
                <a:latin typeface="Consolas" pitchFamily="34" charset="0"/>
                <a:ea typeface="Consolas" pitchFamily="34" charset="-122"/>
                <a:cs typeface="Consolas" pitchFamily="34" charset="-120"/>
              </a:rPr>
              <a:t>PHASE 2</a:t>
            </a:r>
            <a:endParaRPr lang="en-US" sz="950" dirty="0"/>
          </a:p>
        </p:txBody>
      </p:sp>
      <p:sp>
        <p:nvSpPr>
          <p:cNvPr id="15" name="Shape 12"/>
          <p:cNvSpPr/>
          <p:nvPr/>
        </p:nvSpPr>
        <p:spPr>
          <a:xfrm>
            <a:off x="2800350" y="2468880"/>
            <a:ext cx="2103120" cy="2103120"/>
          </a:xfrm>
          <a:prstGeom prst="roundRect">
            <a:avLst>
              <a:gd name="adj" fmla="val 3043"/>
            </a:avLst>
          </a:prstGeom>
          <a:solidFill>
            <a:srgbClr val="FBF9F4"/>
          </a:solidFill>
          <a:ln w="9525">
            <a:solidFill>
              <a:srgbClr val="DDD5C3"/>
            </a:solidFill>
            <a:prstDash val="solid"/>
          </a:ln>
        </p:spPr>
      </p:sp>
      <p:sp>
        <p:nvSpPr>
          <p:cNvPr id="16" name="Text 13"/>
          <p:cNvSpPr txBox="1"/>
          <p:nvPr/>
        </p:nvSpPr>
        <p:spPr>
          <a:xfrm>
            <a:off x="2937510" y="2578608"/>
            <a:ext cx="1828800" cy="731520"/>
          </a:xfrm>
          <a:prstGeom prst="rect">
            <a:avLst/>
          </a:prstGeom>
          <a:noFill/>
          <a:ln/>
        </p:spPr>
        <p:txBody>
          <a:bodyPr wrap="square" lIns="0" tIns="0" rIns="0" bIns="0" rtlCol="0" anchor="t"/>
          <a:lstStyle/>
          <a:p>
            <a:pPr marL="0" indent="0">
              <a:buNone/>
            </a:pPr>
            <a:r>
              <a:rPr lang="en-US" sz="1550" b="1" dirty="0">
                <a:solidFill>
                  <a:srgbClr val="15233B"/>
                </a:solidFill>
                <a:latin typeface="Palatino Linotype" pitchFamily="34" charset="0"/>
                <a:ea typeface="Palatino Linotype" pitchFamily="34" charset="-122"/>
                <a:cs typeface="Palatino Linotype" pitchFamily="34" charset="-120"/>
              </a:rPr>
              <a:t>Operational research collaboration</a:t>
            </a:r>
            <a:endParaRPr lang="en-US" sz="1550" dirty="0"/>
          </a:p>
        </p:txBody>
      </p:sp>
      <p:sp>
        <p:nvSpPr>
          <p:cNvPr id="17" name="Text 14"/>
          <p:cNvSpPr txBox="1"/>
          <p:nvPr/>
        </p:nvSpPr>
        <p:spPr>
          <a:xfrm>
            <a:off x="2937510" y="3337560"/>
            <a:ext cx="1828800" cy="1371600"/>
          </a:xfrm>
          <a:prstGeom prst="rect">
            <a:avLst/>
          </a:prstGeom>
          <a:noFill/>
          <a:ln/>
        </p:spPr>
        <p:txBody>
          <a:bodyPr wrap="square" lIns="0" tIns="0" rIns="0" bIns="0" rtlCol="0" anchor="t"/>
          <a:lstStyle/>
          <a:p>
            <a:pPr marL="0" indent="0">
              <a:buNone/>
            </a:pPr>
            <a:r>
              <a:rPr lang="en-US" sz="1050" dirty="0">
                <a:solidFill>
                  <a:srgbClr val="3A4A66"/>
                </a:solidFill>
                <a:latin typeface="Segoe UI" pitchFamily="34" charset="0"/>
                <a:ea typeface="Segoe UI" pitchFamily="34" charset="-122"/>
                <a:cs typeface="Segoe UI" pitchFamily="34" charset="-120"/>
              </a:rPr>
              <a:t>Work with healthcare operations professionals to evaluate assumptions and refine scheduling constraints.</a:t>
            </a:r>
            <a:endParaRPr lang="en-US" sz="1050" dirty="0"/>
          </a:p>
        </p:txBody>
      </p:sp>
      <p:sp>
        <p:nvSpPr>
          <p:cNvPr id="18" name="S11_dot2"/>
          <p:cNvSpPr/>
          <p:nvPr/>
        </p:nvSpPr>
        <p:spPr>
          <a:xfrm>
            <a:off x="5143500" y="1938528"/>
            <a:ext cx="292608" cy="292608"/>
          </a:xfrm>
          <a:prstGeom prst="ellipse">
            <a:avLst/>
          </a:prstGeom>
          <a:solidFill>
            <a:srgbClr val="F6F2E9"/>
          </a:solidFill>
          <a:ln w="25400">
            <a:solidFill>
              <a:srgbClr val="A39C88"/>
            </a:solidFill>
            <a:prstDash val="solid"/>
          </a:ln>
        </p:spPr>
      </p:sp>
      <p:sp>
        <p:nvSpPr>
          <p:cNvPr id="19" name="Text 16"/>
          <p:cNvSpPr txBox="1"/>
          <p:nvPr/>
        </p:nvSpPr>
        <p:spPr>
          <a:xfrm>
            <a:off x="5509260" y="1664208"/>
            <a:ext cx="1371600" cy="201168"/>
          </a:xfrm>
          <a:prstGeom prst="rect">
            <a:avLst/>
          </a:prstGeom>
          <a:noFill/>
          <a:ln/>
        </p:spPr>
        <p:txBody>
          <a:bodyPr wrap="square" lIns="0" tIns="0" rIns="0" bIns="0" rtlCol="0" anchor="t"/>
          <a:lstStyle/>
          <a:p>
            <a:pPr marL="0" indent="0">
              <a:buNone/>
            </a:pPr>
            <a:r>
              <a:rPr lang="en-US" sz="950" b="1" kern="0" spc="150" dirty="0">
                <a:solidFill>
                  <a:srgbClr val="7B7566"/>
                </a:solidFill>
                <a:latin typeface="Consolas" pitchFamily="34" charset="0"/>
                <a:ea typeface="Consolas" pitchFamily="34" charset="-122"/>
                <a:cs typeface="Consolas" pitchFamily="34" charset="-120"/>
              </a:rPr>
              <a:t>PHASE 3</a:t>
            </a:r>
            <a:endParaRPr lang="en-US" sz="950" dirty="0"/>
          </a:p>
        </p:txBody>
      </p:sp>
      <p:sp>
        <p:nvSpPr>
          <p:cNvPr id="20" name="Shape 17"/>
          <p:cNvSpPr/>
          <p:nvPr/>
        </p:nvSpPr>
        <p:spPr>
          <a:xfrm>
            <a:off x="5052060" y="2468880"/>
            <a:ext cx="2103120" cy="2103120"/>
          </a:xfrm>
          <a:prstGeom prst="roundRect">
            <a:avLst>
              <a:gd name="adj" fmla="val 3043"/>
            </a:avLst>
          </a:prstGeom>
          <a:solidFill>
            <a:srgbClr val="FBF9F4"/>
          </a:solidFill>
          <a:ln w="9525">
            <a:solidFill>
              <a:srgbClr val="DDD5C3"/>
            </a:solidFill>
            <a:prstDash val="solid"/>
          </a:ln>
        </p:spPr>
      </p:sp>
      <p:sp>
        <p:nvSpPr>
          <p:cNvPr id="21" name="Text 18"/>
          <p:cNvSpPr txBox="1"/>
          <p:nvPr/>
        </p:nvSpPr>
        <p:spPr>
          <a:xfrm>
            <a:off x="5189220" y="2578608"/>
            <a:ext cx="1828800" cy="731520"/>
          </a:xfrm>
          <a:prstGeom prst="rect">
            <a:avLst/>
          </a:prstGeom>
          <a:noFill/>
          <a:ln/>
        </p:spPr>
        <p:txBody>
          <a:bodyPr wrap="square" lIns="0" tIns="0" rIns="0" bIns="0" rtlCol="0" anchor="t"/>
          <a:lstStyle/>
          <a:p>
            <a:pPr marL="0" indent="0">
              <a:buNone/>
            </a:pPr>
            <a:r>
              <a:rPr lang="en-US" sz="1550" b="1" dirty="0">
                <a:solidFill>
                  <a:srgbClr val="15233B"/>
                </a:solidFill>
                <a:latin typeface="Palatino Linotype" pitchFamily="34" charset="0"/>
                <a:ea typeface="Palatino Linotype" pitchFamily="34" charset="-122"/>
                <a:cs typeface="Palatino Linotype" pitchFamily="34" charset="-120"/>
              </a:rPr>
              <a:t>Authorized real-world data</a:t>
            </a:r>
            <a:endParaRPr lang="en-US" sz="1550" dirty="0"/>
          </a:p>
        </p:txBody>
      </p:sp>
      <p:sp>
        <p:nvSpPr>
          <p:cNvPr id="22" name="Text 19"/>
          <p:cNvSpPr txBox="1"/>
          <p:nvPr/>
        </p:nvSpPr>
        <p:spPr>
          <a:xfrm>
            <a:off x="5189220" y="3337560"/>
            <a:ext cx="1828800" cy="1371600"/>
          </a:xfrm>
          <a:prstGeom prst="rect">
            <a:avLst/>
          </a:prstGeom>
          <a:noFill/>
          <a:ln/>
        </p:spPr>
        <p:txBody>
          <a:bodyPr wrap="square" lIns="0" tIns="0" rIns="0" bIns="0" rtlCol="0" anchor="t"/>
          <a:lstStyle/>
          <a:p>
            <a:pPr marL="0" indent="0">
              <a:buNone/>
            </a:pPr>
            <a:r>
              <a:rPr lang="en-US" sz="1050" dirty="0">
                <a:solidFill>
                  <a:srgbClr val="3A4A66"/>
                </a:solidFill>
                <a:latin typeface="Segoe UI" pitchFamily="34" charset="0"/>
                <a:ea typeface="Segoe UI" pitchFamily="34" charset="-122"/>
                <a:cs typeface="Segoe UI" pitchFamily="34" charset="-120"/>
              </a:rPr>
              <a:t>Investigate data access, privacy protection, data quality and integration requirements.</a:t>
            </a:r>
            <a:endParaRPr lang="en-US" sz="1050" dirty="0"/>
          </a:p>
        </p:txBody>
      </p:sp>
      <p:sp>
        <p:nvSpPr>
          <p:cNvPr id="23" name="S11_dot3"/>
          <p:cNvSpPr/>
          <p:nvPr/>
        </p:nvSpPr>
        <p:spPr>
          <a:xfrm>
            <a:off x="7395210" y="1938528"/>
            <a:ext cx="292608" cy="292608"/>
          </a:xfrm>
          <a:prstGeom prst="ellipse">
            <a:avLst/>
          </a:prstGeom>
          <a:solidFill>
            <a:srgbClr val="F6F2E9"/>
          </a:solidFill>
          <a:ln w="25400">
            <a:solidFill>
              <a:srgbClr val="A39C88"/>
            </a:solidFill>
            <a:prstDash val="solid"/>
          </a:ln>
        </p:spPr>
      </p:sp>
      <p:sp>
        <p:nvSpPr>
          <p:cNvPr id="24" name="Text 21"/>
          <p:cNvSpPr txBox="1"/>
          <p:nvPr/>
        </p:nvSpPr>
        <p:spPr>
          <a:xfrm>
            <a:off x="7760970" y="1664208"/>
            <a:ext cx="1371600" cy="201168"/>
          </a:xfrm>
          <a:prstGeom prst="rect">
            <a:avLst/>
          </a:prstGeom>
          <a:noFill/>
          <a:ln/>
        </p:spPr>
        <p:txBody>
          <a:bodyPr wrap="square" lIns="0" tIns="0" rIns="0" bIns="0" rtlCol="0" anchor="t"/>
          <a:lstStyle/>
          <a:p>
            <a:pPr marL="0" indent="0">
              <a:buNone/>
            </a:pPr>
            <a:r>
              <a:rPr lang="en-US" sz="950" b="1" kern="0" spc="150" dirty="0">
                <a:solidFill>
                  <a:srgbClr val="7B7566"/>
                </a:solidFill>
                <a:latin typeface="Consolas" pitchFamily="34" charset="0"/>
                <a:ea typeface="Consolas" pitchFamily="34" charset="-122"/>
                <a:cs typeface="Consolas" pitchFamily="34" charset="-120"/>
              </a:rPr>
              <a:t>PHASE 4</a:t>
            </a:r>
            <a:endParaRPr lang="en-US" sz="950" dirty="0"/>
          </a:p>
        </p:txBody>
      </p:sp>
      <p:sp>
        <p:nvSpPr>
          <p:cNvPr id="25" name="Shape 22"/>
          <p:cNvSpPr/>
          <p:nvPr/>
        </p:nvSpPr>
        <p:spPr>
          <a:xfrm>
            <a:off x="7303770" y="2468880"/>
            <a:ext cx="2103120" cy="2103120"/>
          </a:xfrm>
          <a:prstGeom prst="roundRect">
            <a:avLst>
              <a:gd name="adj" fmla="val 3043"/>
            </a:avLst>
          </a:prstGeom>
          <a:solidFill>
            <a:srgbClr val="FBF9F4"/>
          </a:solidFill>
          <a:ln w="9525">
            <a:solidFill>
              <a:srgbClr val="DDD5C3"/>
            </a:solidFill>
            <a:prstDash val="solid"/>
          </a:ln>
        </p:spPr>
      </p:sp>
      <p:sp>
        <p:nvSpPr>
          <p:cNvPr id="26" name="Text 23"/>
          <p:cNvSpPr txBox="1"/>
          <p:nvPr/>
        </p:nvSpPr>
        <p:spPr>
          <a:xfrm>
            <a:off x="7440930" y="2578608"/>
            <a:ext cx="1828800" cy="731520"/>
          </a:xfrm>
          <a:prstGeom prst="rect">
            <a:avLst/>
          </a:prstGeom>
          <a:noFill/>
          <a:ln/>
        </p:spPr>
        <p:txBody>
          <a:bodyPr wrap="square" lIns="0" tIns="0" rIns="0" bIns="0" rtlCol="0" anchor="t"/>
          <a:lstStyle/>
          <a:p>
            <a:pPr marL="0" indent="0">
              <a:buNone/>
            </a:pPr>
            <a:r>
              <a:rPr lang="en-US" sz="1550" b="1" dirty="0">
                <a:solidFill>
                  <a:srgbClr val="15233B"/>
                </a:solidFill>
                <a:latin typeface="Palatino Linotype" pitchFamily="34" charset="0"/>
                <a:ea typeface="Palatino Linotype" pitchFamily="34" charset="-122"/>
                <a:cs typeface="Palatino Linotype" pitchFamily="34" charset="-120"/>
              </a:rPr>
              <a:t>External validation</a:t>
            </a:r>
            <a:endParaRPr lang="en-US" sz="1550" dirty="0"/>
          </a:p>
        </p:txBody>
      </p:sp>
      <p:sp>
        <p:nvSpPr>
          <p:cNvPr id="27" name="Text 24"/>
          <p:cNvSpPr txBox="1"/>
          <p:nvPr/>
        </p:nvSpPr>
        <p:spPr>
          <a:xfrm>
            <a:off x="7440930" y="3337560"/>
            <a:ext cx="1828800" cy="1371600"/>
          </a:xfrm>
          <a:prstGeom prst="rect">
            <a:avLst/>
          </a:prstGeom>
          <a:noFill/>
          <a:ln/>
        </p:spPr>
        <p:txBody>
          <a:bodyPr wrap="square" lIns="0" tIns="0" rIns="0" bIns="0" rtlCol="0" anchor="t"/>
          <a:lstStyle/>
          <a:p>
            <a:pPr marL="0" indent="0">
              <a:buNone/>
            </a:pPr>
            <a:r>
              <a:rPr lang="en-US" sz="1050" dirty="0">
                <a:solidFill>
                  <a:srgbClr val="3A4A66"/>
                </a:solidFill>
                <a:latin typeface="Segoe UI" pitchFamily="34" charset="0"/>
                <a:ea typeface="Segoe UI" pitchFamily="34" charset="-122"/>
                <a:cs typeface="Segoe UI" pitchFamily="34" charset="-120"/>
              </a:rPr>
              <a:t>Compare simulator predictions with observed service patterns; assess recommendations.</a:t>
            </a:r>
            <a:endParaRPr lang="en-US" sz="1050" dirty="0"/>
          </a:p>
        </p:txBody>
      </p:sp>
      <p:sp>
        <p:nvSpPr>
          <p:cNvPr id="28" name="S11_dot4"/>
          <p:cNvSpPr/>
          <p:nvPr/>
        </p:nvSpPr>
        <p:spPr>
          <a:xfrm>
            <a:off x="9646920" y="1938528"/>
            <a:ext cx="292608" cy="292608"/>
          </a:xfrm>
          <a:prstGeom prst="ellipse">
            <a:avLst/>
          </a:prstGeom>
          <a:solidFill>
            <a:srgbClr val="F6F2E9"/>
          </a:solidFill>
          <a:ln w="25400">
            <a:solidFill>
              <a:srgbClr val="A39C88"/>
            </a:solidFill>
            <a:prstDash val="solid"/>
          </a:ln>
        </p:spPr>
      </p:sp>
      <p:sp>
        <p:nvSpPr>
          <p:cNvPr id="29" name="Text 26"/>
          <p:cNvSpPr txBox="1"/>
          <p:nvPr/>
        </p:nvSpPr>
        <p:spPr>
          <a:xfrm>
            <a:off x="10012680" y="1664208"/>
            <a:ext cx="1371600" cy="201168"/>
          </a:xfrm>
          <a:prstGeom prst="rect">
            <a:avLst/>
          </a:prstGeom>
          <a:noFill/>
          <a:ln/>
        </p:spPr>
        <p:txBody>
          <a:bodyPr wrap="square" lIns="0" tIns="0" rIns="0" bIns="0" rtlCol="0" anchor="t"/>
          <a:lstStyle/>
          <a:p>
            <a:pPr marL="0" indent="0">
              <a:buNone/>
            </a:pPr>
            <a:r>
              <a:rPr lang="en-US" sz="950" b="1" kern="0" spc="150" dirty="0">
                <a:solidFill>
                  <a:srgbClr val="7B7566"/>
                </a:solidFill>
                <a:latin typeface="Consolas" pitchFamily="34" charset="0"/>
                <a:ea typeface="Consolas" pitchFamily="34" charset="-122"/>
                <a:cs typeface="Consolas" pitchFamily="34" charset="-120"/>
              </a:rPr>
              <a:t>PHASE 5</a:t>
            </a:r>
            <a:endParaRPr lang="en-US" sz="950" dirty="0"/>
          </a:p>
        </p:txBody>
      </p:sp>
      <p:sp>
        <p:nvSpPr>
          <p:cNvPr id="30" name="Shape 27"/>
          <p:cNvSpPr/>
          <p:nvPr/>
        </p:nvSpPr>
        <p:spPr>
          <a:xfrm>
            <a:off x="9555480" y="2468880"/>
            <a:ext cx="2103120" cy="2103120"/>
          </a:xfrm>
          <a:prstGeom prst="roundRect">
            <a:avLst>
              <a:gd name="adj" fmla="val 3043"/>
            </a:avLst>
          </a:prstGeom>
          <a:solidFill>
            <a:srgbClr val="FBF9F4"/>
          </a:solidFill>
          <a:ln w="9525">
            <a:solidFill>
              <a:srgbClr val="DDD5C3"/>
            </a:solidFill>
            <a:prstDash val="solid"/>
          </a:ln>
        </p:spPr>
      </p:sp>
      <p:sp>
        <p:nvSpPr>
          <p:cNvPr id="31" name="Text 28"/>
          <p:cNvSpPr txBox="1"/>
          <p:nvPr/>
        </p:nvSpPr>
        <p:spPr>
          <a:xfrm>
            <a:off x="9692640" y="2578608"/>
            <a:ext cx="1828800" cy="731520"/>
          </a:xfrm>
          <a:prstGeom prst="rect">
            <a:avLst/>
          </a:prstGeom>
          <a:noFill/>
          <a:ln/>
        </p:spPr>
        <p:txBody>
          <a:bodyPr wrap="square" lIns="0" tIns="0" rIns="0" bIns="0" rtlCol="0" anchor="t"/>
          <a:lstStyle/>
          <a:p>
            <a:pPr marL="0" indent="0">
              <a:buNone/>
            </a:pPr>
            <a:r>
              <a:rPr lang="en-US" sz="1550" b="1" dirty="0">
                <a:solidFill>
                  <a:srgbClr val="15233B"/>
                </a:solidFill>
                <a:latin typeface="Palatino Linotype" pitchFamily="34" charset="0"/>
                <a:ea typeface="Palatino Linotype" pitchFamily="34" charset="-122"/>
                <a:cs typeface="Palatino Linotype" pitchFamily="34" charset="-120"/>
              </a:rPr>
              <a:t>Controlled deployment research</a:t>
            </a:r>
            <a:endParaRPr lang="en-US" sz="1550" dirty="0"/>
          </a:p>
        </p:txBody>
      </p:sp>
      <p:sp>
        <p:nvSpPr>
          <p:cNvPr id="32" name="Text 29"/>
          <p:cNvSpPr txBox="1"/>
          <p:nvPr/>
        </p:nvSpPr>
        <p:spPr>
          <a:xfrm>
            <a:off x="9692640" y="3337560"/>
            <a:ext cx="1828800" cy="1371600"/>
          </a:xfrm>
          <a:prstGeom prst="rect">
            <a:avLst/>
          </a:prstGeom>
          <a:noFill/>
          <a:ln/>
        </p:spPr>
        <p:txBody>
          <a:bodyPr wrap="square" lIns="0" tIns="0" rIns="0" bIns="0" rtlCol="0" anchor="t"/>
          <a:lstStyle/>
          <a:p>
            <a:pPr marL="0" indent="0">
              <a:buNone/>
            </a:pPr>
            <a:r>
              <a:rPr lang="en-US" sz="1050" dirty="0">
                <a:solidFill>
                  <a:srgbClr val="3A4A66"/>
                </a:solidFill>
                <a:latin typeface="Segoe UI" pitchFamily="34" charset="0"/>
                <a:ea typeface="Segoe UI" pitchFamily="34" charset="-122"/>
                <a:cs typeface="Segoe UI" pitchFamily="34" charset="-120"/>
              </a:rPr>
              <a:t>Supervised prospective testing, security assessment, workflow integration and approvals before any real use.</a:t>
            </a:r>
            <a:endParaRPr lang="en-US" sz="1050" dirty="0"/>
          </a:p>
        </p:txBody>
      </p:sp>
      <p:sp>
        <p:nvSpPr>
          <p:cNvPr id="33" name="Shape 30"/>
          <p:cNvSpPr/>
          <p:nvPr/>
        </p:nvSpPr>
        <p:spPr>
          <a:xfrm>
            <a:off x="548640" y="4846320"/>
            <a:ext cx="6949440" cy="1188720"/>
          </a:xfrm>
          <a:prstGeom prst="roundRect">
            <a:avLst>
              <a:gd name="adj" fmla="val 5385"/>
            </a:avLst>
          </a:prstGeom>
          <a:solidFill>
            <a:srgbClr val="FBF9F4"/>
          </a:solidFill>
          <a:ln w="9525">
            <a:solidFill>
              <a:srgbClr val="DDD5C3"/>
            </a:solidFill>
            <a:prstDash val="solid"/>
          </a:ln>
        </p:spPr>
      </p:sp>
      <p:sp>
        <p:nvSpPr>
          <p:cNvPr id="34" name="Text 31"/>
          <p:cNvSpPr txBox="1"/>
          <p:nvPr/>
        </p:nvSpPr>
        <p:spPr>
          <a:xfrm>
            <a:off x="731520" y="4937760"/>
            <a:ext cx="2743200" cy="164592"/>
          </a:xfrm>
          <a:prstGeom prst="rect">
            <a:avLst/>
          </a:prstGeom>
          <a:noFill/>
          <a:ln/>
        </p:spPr>
        <p:txBody>
          <a:bodyPr wrap="square" lIns="0" tIns="0" rIns="0" bIns="0" rtlCol="0" anchor="t"/>
          <a:lstStyle/>
          <a:p>
            <a:pPr marL="0" indent="0">
              <a:buNone/>
            </a:pPr>
            <a:r>
              <a:rPr lang="en-US" sz="800" kern="0" spc="100" dirty="0">
                <a:solidFill>
                  <a:srgbClr val="B4642F"/>
                </a:solidFill>
                <a:latin typeface="Consolas" pitchFamily="34" charset="0"/>
                <a:ea typeface="Consolas" pitchFamily="34" charset="-122"/>
                <a:cs typeface="Consolas" pitchFamily="34" charset="-120"/>
              </a:rPr>
              <a:t>AL DHAFRA CONTEXT</a:t>
            </a:r>
            <a:endParaRPr lang="en-US" sz="800" dirty="0"/>
          </a:p>
        </p:txBody>
      </p:sp>
      <p:sp>
        <p:nvSpPr>
          <p:cNvPr id="35" name="Text 32"/>
          <p:cNvSpPr txBox="1"/>
          <p:nvPr/>
        </p:nvSpPr>
        <p:spPr>
          <a:xfrm>
            <a:off x="731520" y="5193792"/>
            <a:ext cx="6583680" cy="777240"/>
          </a:xfrm>
          <a:prstGeom prst="rect">
            <a:avLst/>
          </a:prstGeom>
          <a:noFill/>
          <a:ln/>
        </p:spPr>
        <p:txBody>
          <a:bodyPr wrap="square" lIns="0" tIns="0" rIns="0" bIns="0" rtlCol="0" anchor="t"/>
          <a:lstStyle/>
          <a:p>
            <a:pPr marL="0" indent="0">
              <a:buNone/>
            </a:pPr>
            <a:r>
              <a:rPr lang="en-US" sz="1150" dirty="0">
                <a:solidFill>
                  <a:srgbClr val="3A4A66"/>
                </a:solidFill>
                <a:latin typeface="Segoe UI" pitchFamily="34" charset="0"/>
                <a:ea typeface="Segoe UI" pitchFamily="34" charset="-122"/>
                <a:cs typeface="Segoe UI" pitchFamily="34" charset="-120"/>
              </a:rPr>
              <a:t>Al Dhafra is a wide region, so coordinating services across places is a research question worth studying with local healthcare partners. We have not used, and do not state, any regional or facility performance data.</a:t>
            </a:r>
            <a:endParaRPr lang="en-US" sz="1150" dirty="0"/>
          </a:p>
        </p:txBody>
      </p:sp>
      <p:sp>
        <p:nvSpPr>
          <p:cNvPr id="36" name="Shape 33"/>
          <p:cNvSpPr/>
          <p:nvPr/>
        </p:nvSpPr>
        <p:spPr>
          <a:xfrm>
            <a:off x="7680960" y="4846320"/>
            <a:ext cx="3959352" cy="1188720"/>
          </a:xfrm>
          <a:prstGeom prst="roundRect">
            <a:avLst>
              <a:gd name="adj" fmla="val 5385"/>
            </a:avLst>
          </a:prstGeom>
          <a:solidFill>
            <a:srgbClr val="15233B"/>
          </a:solidFill>
          <a:ln/>
        </p:spPr>
      </p:sp>
      <p:sp>
        <p:nvSpPr>
          <p:cNvPr id="37" name="Text 34"/>
          <p:cNvSpPr txBox="1"/>
          <p:nvPr/>
        </p:nvSpPr>
        <p:spPr>
          <a:xfrm>
            <a:off x="7863840" y="4892040"/>
            <a:ext cx="3611880" cy="1097280"/>
          </a:xfrm>
          <a:prstGeom prst="rect">
            <a:avLst/>
          </a:prstGeom>
          <a:noFill/>
          <a:ln/>
        </p:spPr>
        <p:txBody>
          <a:bodyPr wrap="square" lIns="0" tIns="0" rIns="0" bIns="0" rtlCol="0" anchor="ctr"/>
          <a:lstStyle/>
          <a:p>
            <a:pPr marL="0" indent="0">
              <a:buNone/>
            </a:pPr>
            <a:r>
              <a:rPr lang="en-US" sz="1700" i="1" dirty="0">
                <a:solidFill>
                  <a:srgbClr val="F6F2E9"/>
                </a:solidFill>
                <a:latin typeface="Palatino Linotype" pitchFamily="34" charset="0"/>
                <a:ea typeface="Palatino Linotype" pitchFamily="34" charset="-122"/>
                <a:cs typeface="Palatino Linotype" pitchFamily="34" charset="-120"/>
              </a:rPr>
              <a:t>The next step is validation, not deployment by assumption.</a:t>
            </a:r>
            <a:endParaRPr lang="en-US" sz="1700" dirty="0"/>
          </a:p>
        </p:txBody>
      </p:sp>
      <p:sp>
        <p:nvSpPr>
          <p:cNvPr id="38" name="Text 35"/>
          <p:cNvSpPr txBox="1"/>
          <p:nvPr/>
        </p:nvSpPr>
        <p:spPr>
          <a:xfrm>
            <a:off x="548640" y="6199632"/>
            <a:ext cx="11064240" cy="256032"/>
          </a:xfrm>
          <a:prstGeom prst="rect">
            <a:avLst/>
          </a:prstGeom>
          <a:noFill/>
          <a:ln/>
        </p:spPr>
        <p:txBody>
          <a:bodyPr wrap="square" lIns="0" tIns="0" rIns="0" bIns="0" rtlCol="0" anchor="t"/>
          <a:lstStyle/>
          <a:p>
            <a:pPr marL="0" indent="0">
              <a:buNone/>
            </a:pPr>
            <a:r>
              <a:rPr lang="en-US" sz="850" dirty="0">
                <a:solidFill>
                  <a:srgbClr val="7B7566"/>
                </a:solidFill>
                <a:latin typeface="Segoe UI" pitchFamily="34" charset="0"/>
                <a:ea typeface="Segoe UI" pitchFamily="34" charset="-122"/>
                <a:cs typeface="Segoe UI" pitchFamily="34" charset="-120"/>
              </a:rPr>
              <a:t>Roadmap is a proposal for future research, not a record of work done. Real-world use would require validation with healthcare operations specialists, authorized data, and privacy and security review (SAYR, Responsible AI).</a:t>
            </a:r>
            <a:endParaRPr lang="en-US" sz="850" dirty="0"/>
          </a:p>
        </p:txBody>
      </p:sp>
      <p:sp>
        <p:nvSpPr>
          <p:cNvPr id="4" name="Slide Number Placeholder 0"/>
          <p:cNvSpPr>
            <a:spLocks noGrp="1"/>
          </p:cNvSpPr>
          <p:nvPr>
            <p:ph type="sldNum" sz="quarter" idx="4294967295"/>
          </p:nvPr>
        </p:nvSpPr>
        <p:spPr>
          <a:xfrm>
            <a:off x="11064240" y="6492240"/>
            <a:ext cx="576072"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B7566"/>
                </a:solidFill>
                <a:latin typeface="Consolas"/>
                <a:ea typeface="Consolas"/>
                <a:cs typeface="Consolas"/>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txBox="1"/>
          <p:nvPr/>
        </p:nvSpPr>
        <p:spPr>
          <a:xfrm>
            <a:off x="640080" y="457200"/>
            <a:ext cx="7315200" cy="274320"/>
          </a:xfrm>
          <a:prstGeom prst="rect">
            <a:avLst/>
          </a:prstGeom>
          <a:noFill/>
          <a:ln/>
        </p:spPr>
        <p:txBody>
          <a:bodyPr wrap="square" lIns="0" tIns="0" rIns="0" bIns="0" rtlCol="0" anchor="t"/>
          <a:lstStyle/>
          <a:p>
            <a:pPr marL="0" indent="0">
              <a:buNone/>
            </a:pPr>
            <a:r>
              <a:rPr lang="en-US" sz="1000" kern="0" spc="200" dirty="0">
                <a:solidFill>
                  <a:srgbClr val="CBC2AB"/>
                </a:solidFill>
                <a:latin typeface="Consolas" pitchFamily="34" charset="0"/>
                <a:ea typeface="Consolas" pitchFamily="34" charset="-122"/>
                <a:cs typeface="Consolas" pitchFamily="34" charset="-120"/>
              </a:rPr>
              <a:t>AL DHAFRA HEALTH FORUM  ·  DEVELOPING HEALTHCARE SERVICES</a:t>
            </a:r>
            <a:endParaRPr lang="en-US" sz="1000" dirty="0"/>
          </a:p>
        </p:txBody>
      </p:sp>
      <p:sp>
        <p:nvSpPr>
          <p:cNvPr id="4" name="Text 1"/>
          <p:cNvSpPr txBox="1"/>
          <p:nvPr/>
        </p:nvSpPr>
        <p:spPr>
          <a:xfrm>
            <a:off x="640080" y="1051560"/>
            <a:ext cx="7863840" cy="1737360"/>
          </a:xfrm>
          <a:prstGeom prst="rect">
            <a:avLst/>
          </a:prstGeom>
          <a:noFill/>
          <a:ln/>
        </p:spPr>
        <p:txBody>
          <a:bodyPr wrap="square" lIns="0" tIns="0" rIns="0" bIns="0" rtlCol="0" anchor="t"/>
          <a:lstStyle/>
          <a:p>
            <a:pPr marL="0" indent="0">
              <a:buNone/>
            </a:pPr>
            <a:r>
              <a:rPr lang="en-US" sz="2400" i="1" dirty="0">
                <a:solidFill>
                  <a:srgbClr val="F6F2E9"/>
                </a:solidFill>
                <a:latin typeface="Palatino Linotype" pitchFamily="34" charset="0"/>
                <a:ea typeface="Palatino Linotype" pitchFamily="34" charset="-122"/>
                <a:cs typeface="Palatino Linotype" pitchFamily="34" charset="-120"/>
              </a:rPr>
              <a:t>Healthcare does not operate one appointment at a time.</a:t>
            </a:r>
            <a:endParaRPr lang="en-US" sz="2400" dirty="0"/>
          </a:p>
          <a:p>
            <a:pPr marL="0" indent="0">
              <a:buNone/>
            </a:pPr>
            <a:r>
              <a:rPr lang="en-US" sz="2400" i="1" dirty="0">
                <a:solidFill>
                  <a:srgbClr val="F6F2E9"/>
                </a:solidFill>
                <a:latin typeface="Palatino Linotype" pitchFamily="34" charset="0"/>
                <a:ea typeface="Palatino Linotype" pitchFamily="34" charset="-122"/>
                <a:cs typeface="Palatino Linotype" pitchFamily="34" charset="-120"/>
              </a:rPr>
              <a:t>It operates as an interconnected system, and every minute matters.</a:t>
            </a:r>
            <a:endParaRPr lang="en-US" sz="2400" dirty="0"/>
          </a:p>
        </p:txBody>
      </p:sp>
      <p:sp>
        <p:nvSpPr>
          <p:cNvPr id="5" name="Shape 2"/>
          <p:cNvSpPr/>
          <p:nvPr/>
        </p:nvSpPr>
        <p:spPr>
          <a:xfrm>
            <a:off x="640080" y="3017520"/>
            <a:ext cx="1371600" cy="1051560"/>
          </a:xfrm>
          <a:prstGeom prst="roundRect">
            <a:avLst>
              <a:gd name="adj" fmla="val 5217"/>
            </a:avLst>
          </a:prstGeom>
          <a:ln w="15875">
            <a:solidFill>
              <a:srgbClr val="3A9B97"/>
            </a:solidFill>
            <a:prstDash val="solid"/>
          </a:ln>
        </p:spPr>
      </p:sp>
      <p:sp>
        <p:nvSpPr>
          <p:cNvPr id="6" name="Text 3"/>
          <p:cNvSpPr txBox="1"/>
          <p:nvPr/>
        </p:nvSpPr>
        <p:spPr>
          <a:xfrm>
            <a:off x="713232" y="3081528"/>
            <a:ext cx="1225296" cy="566928"/>
          </a:xfrm>
          <a:prstGeom prst="rect">
            <a:avLst/>
          </a:prstGeom>
          <a:noFill/>
          <a:ln/>
        </p:spPr>
        <p:txBody>
          <a:bodyPr wrap="square" lIns="0" tIns="0" rIns="0" bIns="0" rtlCol="0" anchor="ctr"/>
          <a:lstStyle/>
          <a:p>
            <a:pPr marL="0" indent="0">
              <a:buNone/>
            </a:pPr>
            <a:r>
              <a:rPr lang="en-US" sz="1250" b="1" dirty="0">
                <a:solidFill>
                  <a:srgbClr val="F6F2E9"/>
                </a:solidFill>
                <a:latin typeface="Palatino Linotype" pitchFamily="34" charset="0"/>
                <a:ea typeface="Palatino Linotype" pitchFamily="34" charset="-122"/>
                <a:cs typeface="Palatino Linotype" pitchFamily="34" charset="-120"/>
              </a:rPr>
              <a:t>Visibility</a:t>
            </a:r>
            <a:endParaRPr lang="en-US" sz="1250" dirty="0"/>
          </a:p>
        </p:txBody>
      </p:sp>
      <p:sp>
        <p:nvSpPr>
          <p:cNvPr id="7" name="Text 4"/>
          <p:cNvSpPr txBox="1"/>
          <p:nvPr/>
        </p:nvSpPr>
        <p:spPr>
          <a:xfrm>
            <a:off x="713232" y="3703320"/>
            <a:ext cx="1225296" cy="274320"/>
          </a:xfrm>
          <a:prstGeom prst="rect">
            <a:avLst/>
          </a:prstGeom>
          <a:noFill/>
          <a:ln/>
        </p:spPr>
        <p:txBody>
          <a:bodyPr wrap="square" lIns="0" tIns="0" rIns="0" bIns="0" rtlCol="0" anchor="t"/>
          <a:lstStyle/>
          <a:p>
            <a:pPr marL="0" indent="0">
              <a:buNone/>
            </a:pPr>
            <a:r>
              <a:rPr lang="en-US" sz="700" dirty="0">
                <a:solidFill>
                  <a:srgbClr val="CBC2AB"/>
                </a:solidFill>
                <a:latin typeface="Consolas" pitchFamily="34" charset="0"/>
                <a:ea typeface="Consolas" pitchFamily="34" charset="-122"/>
                <a:cs typeface="Consolas" pitchFamily="34" charset="-120"/>
              </a:rPr>
              <a:t>CONTROL ROOM</a:t>
            </a:r>
            <a:endParaRPr lang="en-US" sz="700" dirty="0"/>
          </a:p>
        </p:txBody>
      </p:sp>
      <p:sp>
        <p:nvSpPr>
          <p:cNvPr id="8" name="Shape 5"/>
          <p:cNvSpPr/>
          <p:nvPr/>
        </p:nvSpPr>
        <p:spPr>
          <a:xfrm>
            <a:off x="2121408" y="3017520"/>
            <a:ext cx="1371600" cy="1051560"/>
          </a:xfrm>
          <a:prstGeom prst="roundRect">
            <a:avLst>
              <a:gd name="adj" fmla="val 5217"/>
            </a:avLst>
          </a:prstGeom>
          <a:ln w="15875">
            <a:solidFill>
              <a:srgbClr val="3A9B97"/>
            </a:solidFill>
            <a:prstDash val="solid"/>
          </a:ln>
        </p:spPr>
      </p:sp>
      <p:sp>
        <p:nvSpPr>
          <p:cNvPr id="9" name="Text 6"/>
          <p:cNvSpPr txBox="1"/>
          <p:nvPr/>
        </p:nvSpPr>
        <p:spPr>
          <a:xfrm>
            <a:off x="2194560" y="3081528"/>
            <a:ext cx="1225296" cy="566928"/>
          </a:xfrm>
          <a:prstGeom prst="rect">
            <a:avLst/>
          </a:prstGeom>
          <a:noFill/>
          <a:ln/>
        </p:spPr>
        <p:txBody>
          <a:bodyPr wrap="square" lIns="0" tIns="0" rIns="0" bIns="0" rtlCol="0" anchor="ctr"/>
          <a:lstStyle/>
          <a:p>
            <a:pPr marL="0" indent="0">
              <a:buNone/>
            </a:pPr>
            <a:r>
              <a:rPr lang="en-US" sz="1250" b="1" dirty="0">
                <a:solidFill>
                  <a:srgbClr val="F6F2E9"/>
                </a:solidFill>
                <a:latin typeface="Palatino Linotype" pitchFamily="34" charset="0"/>
                <a:ea typeface="Palatino Linotype" pitchFamily="34" charset="-122"/>
                <a:cs typeface="Palatino Linotype" pitchFamily="34" charset="-120"/>
              </a:rPr>
              <a:t>Coordination</a:t>
            </a:r>
            <a:endParaRPr lang="en-US" sz="1250" dirty="0"/>
          </a:p>
        </p:txBody>
      </p:sp>
      <p:sp>
        <p:nvSpPr>
          <p:cNvPr id="10" name="Text 7"/>
          <p:cNvSpPr txBox="1"/>
          <p:nvPr/>
        </p:nvSpPr>
        <p:spPr>
          <a:xfrm>
            <a:off x="2194560" y="3703320"/>
            <a:ext cx="1225296" cy="274320"/>
          </a:xfrm>
          <a:prstGeom prst="rect">
            <a:avLst/>
          </a:prstGeom>
          <a:noFill/>
          <a:ln/>
        </p:spPr>
        <p:txBody>
          <a:bodyPr wrap="square" lIns="0" tIns="0" rIns="0" bIns="0" rtlCol="0" anchor="t"/>
          <a:lstStyle/>
          <a:p>
            <a:pPr marL="0" indent="0">
              <a:buNone/>
            </a:pPr>
            <a:r>
              <a:rPr lang="en-US" sz="700" dirty="0">
                <a:solidFill>
                  <a:srgbClr val="CBC2AB"/>
                </a:solidFill>
                <a:latin typeface="Consolas" pitchFamily="34" charset="0"/>
                <a:ea typeface="Consolas" pitchFamily="34" charset="-122"/>
                <a:cs typeface="Consolas" pitchFamily="34" charset="-120"/>
              </a:rPr>
              <a:t>REFLOW</a:t>
            </a:r>
            <a:endParaRPr lang="en-US" sz="700" dirty="0"/>
          </a:p>
        </p:txBody>
      </p:sp>
      <p:sp>
        <p:nvSpPr>
          <p:cNvPr id="11" name="Shape 8"/>
          <p:cNvSpPr/>
          <p:nvPr/>
        </p:nvSpPr>
        <p:spPr>
          <a:xfrm>
            <a:off x="3602736" y="3017520"/>
            <a:ext cx="1371600" cy="1051560"/>
          </a:xfrm>
          <a:prstGeom prst="roundRect">
            <a:avLst>
              <a:gd name="adj" fmla="val 5217"/>
            </a:avLst>
          </a:prstGeom>
          <a:ln w="15875">
            <a:solidFill>
              <a:srgbClr val="3A9B97"/>
            </a:solidFill>
            <a:prstDash val="solid"/>
          </a:ln>
        </p:spPr>
      </p:sp>
      <p:sp>
        <p:nvSpPr>
          <p:cNvPr id="12" name="Text 9"/>
          <p:cNvSpPr txBox="1"/>
          <p:nvPr/>
        </p:nvSpPr>
        <p:spPr>
          <a:xfrm>
            <a:off x="3675888" y="3081528"/>
            <a:ext cx="1225296" cy="566928"/>
          </a:xfrm>
          <a:prstGeom prst="rect">
            <a:avLst/>
          </a:prstGeom>
          <a:noFill/>
          <a:ln/>
        </p:spPr>
        <p:txBody>
          <a:bodyPr wrap="square" lIns="0" tIns="0" rIns="0" bIns="0" rtlCol="0" anchor="ctr"/>
          <a:lstStyle/>
          <a:p>
            <a:pPr marL="0" indent="0">
              <a:buNone/>
            </a:pPr>
            <a:r>
              <a:rPr lang="en-US" sz="1250" b="1" dirty="0">
                <a:solidFill>
                  <a:srgbClr val="F6F2E9"/>
                </a:solidFill>
                <a:latin typeface="Palatino Linotype" pitchFamily="34" charset="0"/>
                <a:ea typeface="Palatino Linotype" pitchFamily="34" charset="-122"/>
                <a:cs typeface="Palatino Linotype" pitchFamily="34" charset="-120"/>
              </a:rPr>
              <a:t>Explainability</a:t>
            </a:r>
            <a:endParaRPr lang="en-US" sz="1250" dirty="0"/>
          </a:p>
        </p:txBody>
      </p:sp>
      <p:sp>
        <p:nvSpPr>
          <p:cNvPr id="13" name="Text 10"/>
          <p:cNvSpPr txBox="1"/>
          <p:nvPr/>
        </p:nvSpPr>
        <p:spPr>
          <a:xfrm>
            <a:off x="3675888" y="3703320"/>
            <a:ext cx="1225296" cy="274320"/>
          </a:xfrm>
          <a:prstGeom prst="rect">
            <a:avLst/>
          </a:prstGeom>
          <a:noFill/>
          <a:ln/>
        </p:spPr>
        <p:txBody>
          <a:bodyPr wrap="square" lIns="0" tIns="0" rIns="0" bIns="0" rtlCol="0" anchor="t"/>
          <a:lstStyle/>
          <a:p>
            <a:pPr marL="0" indent="0">
              <a:buNone/>
            </a:pPr>
            <a:r>
              <a:rPr lang="en-US" sz="700" dirty="0">
                <a:solidFill>
                  <a:srgbClr val="CBC2AB"/>
                </a:solidFill>
                <a:latin typeface="Consolas" pitchFamily="34" charset="0"/>
                <a:ea typeface="Consolas" pitchFamily="34" charset="-122"/>
                <a:cs typeface="Consolas" pitchFamily="34" charset="-120"/>
              </a:rPr>
              <a:t>RIPPLE TRACE</a:t>
            </a:r>
            <a:endParaRPr lang="en-US" sz="700" dirty="0"/>
          </a:p>
        </p:txBody>
      </p:sp>
      <p:sp>
        <p:nvSpPr>
          <p:cNvPr id="14" name="Shape 11"/>
          <p:cNvSpPr/>
          <p:nvPr/>
        </p:nvSpPr>
        <p:spPr>
          <a:xfrm>
            <a:off x="5084064" y="3017520"/>
            <a:ext cx="1371600" cy="1051560"/>
          </a:xfrm>
          <a:prstGeom prst="roundRect">
            <a:avLst>
              <a:gd name="adj" fmla="val 5217"/>
            </a:avLst>
          </a:prstGeom>
          <a:ln w="15875">
            <a:solidFill>
              <a:srgbClr val="3A9B97"/>
            </a:solidFill>
            <a:prstDash val="solid"/>
          </a:ln>
        </p:spPr>
      </p:sp>
      <p:sp>
        <p:nvSpPr>
          <p:cNvPr id="15" name="Text 12"/>
          <p:cNvSpPr txBox="1"/>
          <p:nvPr/>
        </p:nvSpPr>
        <p:spPr>
          <a:xfrm>
            <a:off x="5157216" y="3081528"/>
            <a:ext cx="1225296" cy="566928"/>
          </a:xfrm>
          <a:prstGeom prst="rect">
            <a:avLst/>
          </a:prstGeom>
          <a:noFill/>
          <a:ln/>
        </p:spPr>
        <p:txBody>
          <a:bodyPr wrap="square" lIns="0" tIns="0" rIns="0" bIns="0" rtlCol="0" anchor="ctr"/>
          <a:lstStyle/>
          <a:p>
            <a:pPr marL="0" indent="0">
              <a:buNone/>
            </a:pPr>
            <a:r>
              <a:rPr lang="en-US" sz="1250" b="1" dirty="0">
                <a:solidFill>
                  <a:srgbClr val="F6F2E9"/>
                </a:solidFill>
                <a:latin typeface="Palatino Linotype" pitchFamily="34" charset="0"/>
                <a:ea typeface="Palatino Linotype" pitchFamily="34" charset="-122"/>
                <a:cs typeface="Palatino Linotype" pitchFamily="34" charset="-120"/>
              </a:rPr>
              <a:t>Measurable outcomes</a:t>
            </a:r>
            <a:endParaRPr lang="en-US" sz="1250" dirty="0"/>
          </a:p>
        </p:txBody>
      </p:sp>
      <p:sp>
        <p:nvSpPr>
          <p:cNvPr id="16" name="Text 13"/>
          <p:cNvSpPr txBox="1"/>
          <p:nvPr/>
        </p:nvSpPr>
        <p:spPr>
          <a:xfrm>
            <a:off x="5157216" y="3703320"/>
            <a:ext cx="1225296" cy="274320"/>
          </a:xfrm>
          <a:prstGeom prst="rect">
            <a:avLst/>
          </a:prstGeom>
          <a:noFill/>
          <a:ln/>
        </p:spPr>
        <p:txBody>
          <a:bodyPr wrap="square" lIns="0" tIns="0" rIns="0" bIns="0" rtlCol="0" anchor="t"/>
          <a:lstStyle/>
          <a:p>
            <a:pPr marL="0" indent="0">
              <a:buNone/>
            </a:pPr>
            <a:r>
              <a:rPr lang="en-US" sz="700" dirty="0">
                <a:solidFill>
                  <a:srgbClr val="CBC2AB"/>
                </a:solidFill>
                <a:latin typeface="Consolas" pitchFamily="34" charset="0"/>
                <a:ea typeface="Consolas" pitchFamily="34" charset="-122"/>
                <a:cs typeface="Consolas" pitchFamily="34" charset="-120"/>
              </a:rPr>
              <a:t>MINUTES LEDGER</a:t>
            </a:r>
            <a:endParaRPr lang="en-US" sz="700" dirty="0"/>
          </a:p>
        </p:txBody>
      </p:sp>
      <p:sp>
        <p:nvSpPr>
          <p:cNvPr id="17" name="Shape 14"/>
          <p:cNvSpPr/>
          <p:nvPr/>
        </p:nvSpPr>
        <p:spPr>
          <a:xfrm>
            <a:off x="6565392" y="3017520"/>
            <a:ext cx="1371600" cy="1051560"/>
          </a:xfrm>
          <a:prstGeom prst="roundRect">
            <a:avLst>
              <a:gd name="adj" fmla="val 5217"/>
            </a:avLst>
          </a:prstGeom>
          <a:ln w="15875">
            <a:solidFill>
              <a:srgbClr val="CF8250"/>
            </a:solidFill>
            <a:prstDash val="solid"/>
          </a:ln>
        </p:spPr>
      </p:sp>
      <p:sp>
        <p:nvSpPr>
          <p:cNvPr id="18" name="Text 15"/>
          <p:cNvSpPr txBox="1"/>
          <p:nvPr/>
        </p:nvSpPr>
        <p:spPr>
          <a:xfrm>
            <a:off x="6638544" y="3081528"/>
            <a:ext cx="1225296" cy="566928"/>
          </a:xfrm>
          <a:prstGeom prst="rect">
            <a:avLst/>
          </a:prstGeom>
          <a:noFill/>
          <a:ln/>
        </p:spPr>
        <p:txBody>
          <a:bodyPr wrap="square" lIns="0" tIns="0" rIns="0" bIns="0" rtlCol="0" anchor="ctr"/>
          <a:lstStyle/>
          <a:p>
            <a:pPr marL="0" indent="0">
              <a:buNone/>
            </a:pPr>
            <a:r>
              <a:rPr lang="en-US" sz="1250" b="1" dirty="0">
                <a:solidFill>
                  <a:srgbClr val="F6F2E9"/>
                </a:solidFill>
                <a:latin typeface="Palatino Linotype" pitchFamily="34" charset="0"/>
                <a:ea typeface="Palatino Linotype" pitchFamily="34" charset="-122"/>
                <a:cs typeface="Palatino Linotype" pitchFamily="34" charset="-120"/>
              </a:rPr>
              <a:t>Human oversight</a:t>
            </a:r>
            <a:endParaRPr lang="en-US" sz="1250" dirty="0"/>
          </a:p>
        </p:txBody>
      </p:sp>
      <p:sp>
        <p:nvSpPr>
          <p:cNvPr id="19" name="Text 16"/>
          <p:cNvSpPr txBox="1"/>
          <p:nvPr/>
        </p:nvSpPr>
        <p:spPr>
          <a:xfrm>
            <a:off x="6638544" y="3703320"/>
            <a:ext cx="1225296" cy="274320"/>
          </a:xfrm>
          <a:prstGeom prst="rect">
            <a:avLst/>
          </a:prstGeom>
          <a:noFill/>
          <a:ln/>
        </p:spPr>
        <p:txBody>
          <a:bodyPr wrap="square" lIns="0" tIns="0" rIns="0" bIns="0" rtlCol="0" anchor="t"/>
          <a:lstStyle/>
          <a:p>
            <a:pPr marL="0" indent="0">
              <a:buNone/>
            </a:pPr>
            <a:r>
              <a:rPr lang="en-US" sz="700" dirty="0">
                <a:solidFill>
                  <a:srgbClr val="CBC2AB"/>
                </a:solidFill>
                <a:latin typeface="Consolas" pitchFamily="34" charset="0"/>
                <a:ea typeface="Consolas" pitchFamily="34" charset="-122"/>
                <a:cs typeface="Consolas" pitchFamily="34" charset="-120"/>
              </a:rPr>
              <a:t>ACTION DESK</a:t>
            </a:r>
            <a:endParaRPr lang="en-US" sz="700" dirty="0"/>
          </a:p>
        </p:txBody>
      </p:sp>
      <p:sp>
        <p:nvSpPr>
          <p:cNvPr id="20" name="Text 17"/>
          <p:cNvSpPr txBox="1"/>
          <p:nvPr/>
        </p:nvSpPr>
        <p:spPr>
          <a:xfrm>
            <a:off x="640080" y="4434840"/>
            <a:ext cx="7223760" cy="457200"/>
          </a:xfrm>
          <a:prstGeom prst="rect">
            <a:avLst/>
          </a:prstGeom>
          <a:noFill/>
          <a:ln/>
        </p:spPr>
        <p:txBody>
          <a:bodyPr wrap="square" lIns="0" tIns="0" rIns="0" bIns="0" rtlCol="0" anchor="t"/>
          <a:lstStyle/>
          <a:p>
            <a:pPr marL="0" indent="0">
              <a:buNone/>
            </a:pPr>
            <a:r>
              <a:rPr lang="en-US" sz="1600" dirty="0">
                <a:solidFill>
                  <a:srgbClr val="8FCBC7"/>
                </a:solidFill>
                <a:latin typeface="Palatino Linotype" pitchFamily="34" charset="0"/>
                <a:ea typeface="Palatino Linotype" pitchFamily="34" charset="-122"/>
                <a:cs typeface="Palatino Linotype" pitchFamily="34" charset="-120"/>
              </a:rPr>
              <a:t>Behind every healthcare schedule is a patient waiting for care.</a:t>
            </a:r>
            <a:endParaRPr lang="en-US" sz="1600" dirty="0"/>
          </a:p>
        </p:txBody>
      </p:sp>
      <p:sp>
        <p:nvSpPr>
          <p:cNvPr id="21" name="Text 18"/>
          <p:cNvSpPr txBox="1"/>
          <p:nvPr/>
        </p:nvSpPr>
        <p:spPr>
          <a:xfrm>
            <a:off x="640080" y="5074920"/>
            <a:ext cx="7315200" cy="457200"/>
          </a:xfrm>
          <a:prstGeom prst="rect">
            <a:avLst/>
          </a:prstGeom>
          <a:noFill/>
          <a:ln/>
        </p:spPr>
        <p:txBody>
          <a:bodyPr wrap="square" lIns="0" tIns="0" rIns="0" bIns="0" rtlCol="0" anchor="t"/>
          <a:lstStyle/>
          <a:p>
            <a:pPr marL="0" indent="0">
              <a:buNone/>
            </a:pPr>
            <a:r>
              <a:rPr lang="en-US" sz="2200" b="1" kern="0" spc="400" dirty="0">
                <a:solidFill>
                  <a:srgbClr val="F6F2E9"/>
                </a:solidFill>
                <a:latin typeface="Palatino Linotype" pitchFamily="34" charset="0"/>
                <a:ea typeface="Palatino Linotype" pitchFamily="34" charset="-122"/>
                <a:cs typeface="Palatino Linotype" pitchFamily="34" charset="-120"/>
              </a:rPr>
              <a:t>SAYR AI</a:t>
            </a:r>
            <a:r>
              <a:rPr lang="en-US" sz="2200" i="1" dirty="0">
                <a:solidFill>
                  <a:srgbClr val="CF8250"/>
                </a:solidFill>
                <a:latin typeface="Palatino Linotype" pitchFamily="34" charset="0"/>
                <a:ea typeface="Palatino Linotype" pitchFamily="34" charset="-122"/>
                <a:cs typeface="Palatino Linotype" pitchFamily="34" charset="-120"/>
              </a:rPr>
              <a:t>   Care in Motion</a:t>
            </a:r>
            <a:endParaRPr lang="en-US" sz="1400" dirty="0"/>
          </a:p>
        </p:txBody>
      </p:sp>
      <p:sp>
        <p:nvSpPr>
          <p:cNvPr id="22" name="Text 19"/>
          <p:cNvSpPr txBox="1"/>
          <p:nvPr/>
        </p:nvSpPr>
        <p:spPr>
          <a:xfrm>
            <a:off x="640080" y="5669280"/>
            <a:ext cx="2468880" cy="228600"/>
          </a:xfrm>
          <a:prstGeom prst="rect">
            <a:avLst/>
          </a:prstGeom>
          <a:noFill/>
          <a:ln/>
        </p:spPr>
        <p:txBody>
          <a:bodyPr wrap="square" lIns="0" tIns="0" rIns="0" bIns="0" rtlCol="0" anchor="t"/>
          <a:lstStyle/>
          <a:p>
            <a:pPr marL="0" indent="0">
              <a:buNone/>
            </a:pPr>
            <a:r>
              <a:rPr lang="en-US" sz="1100" dirty="0">
                <a:solidFill>
                  <a:srgbClr val="F6F2E9"/>
                </a:solidFill>
                <a:latin typeface="Segoe UI" pitchFamily="34" charset="0"/>
                <a:ea typeface="Segoe UI" pitchFamily="34" charset="-122"/>
                <a:cs typeface="Segoe UI" pitchFamily="34" charset="-120"/>
              </a:rPr>
              <a:t>Lujain Ahmed Mourad</a:t>
            </a:r>
            <a:r>
              <a:rPr lang="en-US" sz="900" dirty="0">
                <a:solidFill>
                  <a:srgbClr val="CF8250"/>
                </a:solidFill>
                <a:latin typeface="Consolas" pitchFamily="34" charset="0"/>
                <a:ea typeface="Consolas" pitchFamily="34" charset="-122"/>
                <a:cs typeface="Consolas" pitchFamily="34" charset="-120"/>
              </a:rPr>
              <a:t> 8D</a:t>
            </a:r>
            <a:endParaRPr lang="en-US" sz="1100" dirty="0"/>
          </a:p>
        </p:txBody>
      </p:sp>
      <p:sp>
        <p:nvSpPr>
          <p:cNvPr id="23" name="Text 20"/>
          <p:cNvSpPr txBox="1"/>
          <p:nvPr/>
        </p:nvSpPr>
        <p:spPr>
          <a:xfrm>
            <a:off x="3154680" y="5669280"/>
            <a:ext cx="2468880" cy="228600"/>
          </a:xfrm>
          <a:prstGeom prst="rect">
            <a:avLst/>
          </a:prstGeom>
          <a:noFill/>
          <a:ln/>
        </p:spPr>
        <p:txBody>
          <a:bodyPr wrap="square" lIns="0" tIns="0" rIns="0" bIns="0" rtlCol="0" anchor="t"/>
          <a:lstStyle/>
          <a:p>
            <a:pPr marL="0" indent="0">
              <a:buNone/>
            </a:pPr>
            <a:r>
              <a:rPr lang="en-US" sz="1100" dirty="0">
                <a:solidFill>
                  <a:srgbClr val="F6F2E9"/>
                </a:solidFill>
                <a:latin typeface="Segoe UI" pitchFamily="34" charset="0"/>
                <a:ea typeface="Segoe UI" pitchFamily="34" charset="-122"/>
                <a:cs typeface="Segoe UI" pitchFamily="34" charset="-120"/>
              </a:rPr>
              <a:t>Yosr Amgad</a:t>
            </a:r>
            <a:r>
              <a:rPr lang="en-US" sz="900" dirty="0">
                <a:solidFill>
                  <a:srgbClr val="CF8250"/>
                </a:solidFill>
                <a:latin typeface="Consolas" pitchFamily="34" charset="0"/>
                <a:ea typeface="Consolas" pitchFamily="34" charset="-122"/>
                <a:cs typeface="Consolas" pitchFamily="34" charset="-120"/>
              </a:rPr>
              <a:t> 8D</a:t>
            </a:r>
            <a:endParaRPr lang="en-US" sz="1100" dirty="0"/>
          </a:p>
        </p:txBody>
      </p:sp>
      <p:sp>
        <p:nvSpPr>
          <p:cNvPr id="24" name="Text 21"/>
          <p:cNvSpPr txBox="1"/>
          <p:nvPr/>
        </p:nvSpPr>
        <p:spPr>
          <a:xfrm>
            <a:off x="5669280" y="5669280"/>
            <a:ext cx="2468880" cy="228600"/>
          </a:xfrm>
          <a:prstGeom prst="rect">
            <a:avLst/>
          </a:prstGeom>
          <a:noFill/>
          <a:ln/>
        </p:spPr>
        <p:txBody>
          <a:bodyPr wrap="square" lIns="0" tIns="0" rIns="0" bIns="0" rtlCol="0" anchor="t"/>
          <a:lstStyle/>
          <a:p>
            <a:pPr marL="0" indent="0">
              <a:buNone/>
            </a:pPr>
            <a:r>
              <a:rPr lang="en-US" sz="1100" dirty="0">
                <a:solidFill>
                  <a:srgbClr val="F6F2E9"/>
                </a:solidFill>
                <a:latin typeface="Segoe UI" pitchFamily="34" charset="0"/>
                <a:ea typeface="Segoe UI" pitchFamily="34" charset="-122"/>
                <a:cs typeface="Segoe UI" pitchFamily="34" charset="-120"/>
              </a:rPr>
              <a:t>Precious Fuentes</a:t>
            </a:r>
            <a:r>
              <a:rPr lang="en-US" sz="900" dirty="0">
                <a:solidFill>
                  <a:srgbClr val="CF8250"/>
                </a:solidFill>
                <a:latin typeface="Consolas" pitchFamily="34" charset="0"/>
                <a:ea typeface="Consolas" pitchFamily="34" charset="-122"/>
                <a:cs typeface="Consolas" pitchFamily="34" charset="-120"/>
              </a:rPr>
              <a:t> 8D</a:t>
            </a:r>
            <a:endParaRPr lang="en-US" sz="1100" dirty="0"/>
          </a:p>
        </p:txBody>
      </p:sp>
      <p:sp>
        <p:nvSpPr>
          <p:cNvPr id="25" name="Text 22"/>
          <p:cNvSpPr txBox="1"/>
          <p:nvPr/>
        </p:nvSpPr>
        <p:spPr>
          <a:xfrm>
            <a:off x="640080" y="5907024"/>
            <a:ext cx="2468880" cy="228600"/>
          </a:xfrm>
          <a:prstGeom prst="rect">
            <a:avLst/>
          </a:prstGeom>
          <a:noFill/>
          <a:ln/>
        </p:spPr>
        <p:txBody>
          <a:bodyPr wrap="square" lIns="0" tIns="0" rIns="0" bIns="0" rtlCol="0" anchor="t"/>
          <a:lstStyle/>
          <a:p>
            <a:pPr marL="0" indent="0">
              <a:buNone/>
            </a:pPr>
            <a:r>
              <a:rPr lang="en-US" sz="1100" dirty="0">
                <a:solidFill>
                  <a:srgbClr val="F6F2E9"/>
                </a:solidFill>
                <a:latin typeface="Segoe UI" pitchFamily="34" charset="0"/>
                <a:ea typeface="Segoe UI" pitchFamily="34" charset="-122"/>
                <a:cs typeface="Segoe UI" pitchFamily="34" charset="-120"/>
              </a:rPr>
              <a:t>Maryam Ammara Jelita</a:t>
            </a:r>
            <a:r>
              <a:rPr lang="en-US" sz="900" dirty="0">
                <a:solidFill>
                  <a:srgbClr val="CF8250"/>
                </a:solidFill>
                <a:latin typeface="Consolas" pitchFamily="34" charset="0"/>
                <a:ea typeface="Consolas" pitchFamily="34" charset="-122"/>
                <a:cs typeface="Consolas" pitchFamily="34" charset="-120"/>
              </a:rPr>
              <a:t> 8D</a:t>
            </a:r>
            <a:endParaRPr lang="en-US" sz="1100" dirty="0"/>
          </a:p>
        </p:txBody>
      </p:sp>
      <p:sp>
        <p:nvSpPr>
          <p:cNvPr id="26" name="Text 23"/>
          <p:cNvSpPr txBox="1"/>
          <p:nvPr/>
        </p:nvSpPr>
        <p:spPr>
          <a:xfrm>
            <a:off x="3154680" y="5907024"/>
            <a:ext cx="2468880" cy="228600"/>
          </a:xfrm>
          <a:prstGeom prst="rect">
            <a:avLst/>
          </a:prstGeom>
          <a:noFill/>
          <a:ln/>
        </p:spPr>
        <p:txBody>
          <a:bodyPr wrap="square" lIns="0" tIns="0" rIns="0" bIns="0" rtlCol="0" anchor="t"/>
          <a:lstStyle/>
          <a:p>
            <a:pPr marL="0" indent="0">
              <a:buNone/>
            </a:pPr>
            <a:r>
              <a:rPr lang="en-US" sz="1100" dirty="0">
                <a:solidFill>
                  <a:srgbClr val="F6F2E9"/>
                </a:solidFill>
                <a:latin typeface="Segoe UI" pitchFamily="34" charset="0"/>
                <a:ea typeface="Segoe UI" pitchFamily="34" charset="-122"/>
                <a:cs typeface="Segoe UI" pitchFamily="34" charset="-120"/>
              </a:rPr>
              <a:t>Eleen Amr</a:t>
            </a:r>
            <a:r>
              <a:rPr lang="en-US" sz="900" dirty="0">
                <a:solidFill>
                  <a:srgbClr val="CF8250"/>
                </a:solidFill>
                <a:latin typeface="Consolas" pitchFamily="34" charset="0"/>
                <a:ea typeface="Consolas" pitchFamily="34" charset="-122"/>
                <a:cs typeface="Consolas" pitchFamily="34" charset="-120"/>
              </a:rPr>
              <a:t> 8D</a:t>
            </a:r>
            <a:endParaRPr lang="en-US" sz="1100" dirty="0"/>
          </a:p>
        </p:txBody>
      </p:sp>
      <p:sp>
        <p:nvSpPr>
          <p:cNvPr id="27" name="Text 24"/>
          <p:cNvSpPr txBox="1"/>
          <p:nvPr/>
        </p:nvSpPr>
        <p:spPr>
          <a:xfrm>
            <a:off x="5669280" y="5907024"/>
            <a:ext cx="2468880" cy="228600"/>
          </a:xfrm>
          <a:prstGeom prst="rect">
            <a:avLst/>
          </a:prstGeom>
          <a:noFill/>
          <a:ln/>
        </p:spPr>
        <p:txBody>
          <a:bodyPr wrap="square" lIns="0" tIns="0" rIns="0" bIns="0" rtlCol="0" anchor="t"/>
          <a:lstStyle/>
          <a:p>
            <a:pPr marL="0" indent="0">
              <a:buNone/>
            </a:pPr>
            <a:r>
              <a:rPr lang="en-US" sz="1100" dirty="0">
                <a:solidFill>
                  <a:srgbClr val="F6F2E9"/>
                </a:solidFill>
                <a:latin typeface="Segoe UI" pitchFamily="34" charset="0"/>
                <a:ea typeface="Segoe UI" pitchFamily="34" charset="-122"/>
                <a:cs typeface="Segoe UI" pitchFamily="34" charset="-120"/>
              </a:rPr>
              <a:t>Shaden Ahmed Mourad</a:t>
            </a:r>
            <a:r>
              <a:rPr lang="en-US" sz="900" dirty="0">
                <a:solidFill>
                  <a:srgbClr val="CF8250"/>
                </a:solidFill>
                <a:latin typeface="Consolas" pitchFamily="34" charset="0"/>
                <a:ea typeface="Consolas" pitchFamily="34" charset="-122"/>
                <a:cs typeface="Consolas" pitchFamily="34" charset="-120"/>
              </a:rPr>
              <a:t> 6D</a:t>
            </a:r>
            <a:endParaRPr lang="en-US" sz="1100" dirty="0"/>
          </a:p>
        </p:txBody>
      </p:sp>
      <p:sp>
        <p:nvSpPr>
          <p:cNvPr id="28" name="Text 25"/>
          <p:cNvSpPr txBox="1"/>
          <p:nvPr/>
        </p:nvSpPr>
        <p:spPr>
          <a:xfrm>
            <a:off x="640080" y="6263640"/>
            <a:ext cx="3657600" cy="228600"/>
          </a:xfrm>
          <a:prstGeom prst="rect">
            <a:avLst/>
          </a:prstGeom>
          <a:noFill/>
          <a:ln/>
        </p:spPr>
        <p:txBody>
          <a:bodyPr wrap="square" lIns="0" tIns="0" rIns="0" bIns="0" rtlCol="0" anchor="t"/>
          <a:lstStyle/>
          <a:p>
            <a:pPr marL="0" indent="0">
              <a:buNone/>
            </a:pPr>
            <a:r>
              <a:rPr lang="en-US" sz="900" dirty="0">
                <a:solidFill>
                  <a:srgbClr val="CBC2AB"/>
                </a:solidFill>
                <a:latin typeface="Consolas" pitchFamily="34" charset="0"/>
                <a:ea typeface="Consolas" pitchFamily="34" charset="-122"/>
                <a:cs typeface="Consolas" pitchFamily="34" charset="-120"/>
              </a:rPr>
              <a:t>ADNOC Schools, Madinat Zayed</a:t>
            </a:r>
            <a:endParaRPr lang="en-US" sz="900" dirty="0"/>
          </a:p>
        </p:txBody>
      </p:sp>
      <p:sp>
        <p:nvSpPr>
          <p:cNvPr id="29" name="Shape 26"/>
          <p:cNvSpPr/>
          <p:nvPr/>
        </p:nvSpPr>
        <p:spPr>
          <a:xfrm>
            <a:off x="8686800" y="1005840"/>
            <a:ext cx="3017520" cy="3611880"/>
          </a:xfrm>
          <a:prstGeom prst="roundRect">
            <a:avLst>
              <a:gd name="adj" fmla="val 3030"/>
            </a:avLst>
          </a:prstGeom>
          <a:solidFill>
            <a:srgbClr val="FBF9F4"/>
          </a:solidFill>
          <a:ln/>
        </p:spPr>
      </p:sp>
      <p:pic>
        <p:nvPicPr>
          <p:cNvPr id="30" name="S12_qr" descr="QR code linking to the SAYR AI published prototype">
            <a:hlinkClick r:id="rId3" tooltip="Open SAYR AI: Care in Motion"/>
          </p:cNvPr>
          <p:cNvPicPr>
            <a:picLocks noChangeAspect="1"/>
          </p:cNvPicPr>
          <p:nvPr/>
        </p:nvPicPr>
        <p:blipFill>
          <a:blip r:embed="rId4"/>
          <a:stretch>
            <a:fillRect/>
          </a:stretch>
        </p:blipFill>
        <p:spPr>
          <a:xfrm>
            <a:off x="8915400" y="1188720"/>
            <a:ext cx="2560320" cy="2560320"/>
          </a:xfrm>
          <a:prstGeom prst="rect">
            <a:avLst/>
          </a:prstGeom>
        </p:spPr>
      </p:pic>
      <p:sp>
        <p:nvSpPr>
          <p:cNvPr id="31" name="Text 27"/>
          <p:cNvSpPr txBox="1"/>
          <p:nvPr/>
        </p:nvSpPr>
        <p:spPr>
          <a:xfrm>
            <a:off x="8686800" y="3794760"/>
            <a:ext cx="3017520" cy="182880"/>
          </a:xfrm>
          <a:prstGeom prst="rect">
            <a:avLst/>
          </a:prstGeom>
          <a:noFill/>
          <a:ln/>
        </p:spPr>
        <p:txBody>
          <a:bodyPr wrap="square" lIns="0" tIns="0" rIns="0" bIns="0" rtlCol="0" anchor="t"/>
          <a:lstStyle/>
          <a:p>
            <a:pPr marL="0" indent="0" algn="ctr">
              <a:buNone/>
            </a:pPr>
            <a:r>
              <a:rPr lang="en-US" sz="900" b="1" kern="0" spc="150" dirty="0">
                <a:solidFill>
                  <a:srgbClr val="B4642F"/>
                </a:solidFill>
                <a:latin typeface="Consolas" pitchFamily="34" charset="0"/>
                <a:ea typeface="Consolas" pitchFamily="34" charset="-122"/>
                <a:cs typeface="Consolas" pitchFamily="34" charset="-120"/>
              </a:rPr>
              <a:t>SCAN TO TRY SAYR</a:t>
            </a:r>
            <a:endParaRPr lang="en-US" sz="900" dirty="0"/>
          </a:p>
        </p:txBody>
      </p:sp>
      <p:sp>
        <p:nvSpPr>
          <p:cNvPr id="32" name="Text 28">
            <a:hlinkClick r:id="rId3" tooltip="Open SAYR AI: Care in Motion"/>
          </p:cNvPr>
          <p:cNvSpPr txBox="1"/>
          <p:nvPr/>
        </p:nvSpPr>
        <p:spPr>
          <a:xfrm>
            <a:off x="8686800" y="4023360"/>
            <a:ext cx="3017520" cy="365760"/>
          </a:xfrm>
          <a:prstGeom prst="rect">
            <a:avLst/>
          </a:prstGeom>
          <a:noFill/>
          <a:ln/>
        </p:spPr>
        <p:txBody>
          <a:bodyPr wrap="square" lIns="0" tIns="0" rIns="0" bIns="0" rtlCol="0" anchor="t"/>
          <a:lstStyle/>
          <a:p>
            <a:pPr marL="0" indent="0" algn="ctr">
              <a:buNone/>
            </a:pPr>
            <a:r>
              <a:rPr lang="en-US" sz="850" u="sng" dirty="0">
                <a:solidFill>
                  <a:srgbClr val="1F7B78"/>
                </a:solidFill>
                <a:latin typeface="Consolas" pitchFamily="34" charset="0"/>
                <a:ea typeface="Consolas" pitchFamily="34" charset="-122"/>
                <a:cs typeface="Consolas" pitchFamily="34" charset="-120"/>
                <a:hlinkClick r:id="rId3" tooltip="Open SAYR AI: Care in Motion">
                  <a:extLst>
                    <a:ext uri="{A12FA001-AC4F-418D-AE19-62706E023703}">
                      <ahyp:hlinkClr xmlns:ahyp="http://schemas.microsoft.com/office/drawing/2018/hyperlinkcolor" val="tx"/>
                    </a:ext>
                  </a:extLst>
                </a:hlinkClick>
              </a:rPr>
              <a:t>maymourad.github.io/SAYR-AI-Care-In-Motion</a:t>
            </a:r>
            <a:endParaRPr lang="en-US" sz="850" dirty="0"/>
          </a:p>
        </p:txBody>
      </p:sp>
      <p:sp>
        <p:nvSpPr>
          <p:cNvPr id="33" name="Text 29"/>
          <p:cNvSpPr txBox="1"/>
          <p:nvPr/>
        </p:nvSpPr>
        <p:spPr>
          <a:xfrm>
            <a:off x="8686800" y="4754880"/>
            <a:ext cx="3017520" cy="457200"/>
          </a:xfrm>
          <a:prstGeom prst="rect">
            <a:avLst/>
          </a:prstGeom>
          <a:noFill/>
          <a:ln/>
        </p:spPr>
        <p:txBody>
          <a:bodyPr wrap="square" lIns="0" tIns="0" rIns="0" bIns="0" rtlCol="0" anchor="t"/>
          <a:lstStyle/>
          <a:p>
            <a:pPr marL="0" indent="0" algn="ctr">
              <a:buNone/>
            </a:pPr>
            <a:r>
              <a:rPr lang="en-US" sz="900" dirty="0">
                <a:solidFill>
                  <a:srgbClr val="CBC2AB"/>
                </a:solidFill>
                <a:latin typeface="Segoe UI" pitchFamily="34" charset="0"/>
                <a:ea typeface="Segoe UI" pitchFamily="34" charset="-122"/>
                <a:cs typeface="Segoe UI" pitchFamily="34" charset="-120"/>
              </a:rPr>
              <a:t>Synthetic data only. A decision-support prototype, not a clinical tool.</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685800"/>
          </a:xfrm>
          <a:prstGeom prst="rect">
            <a:avLst/>
          </a:prstGeom>
          <a:noFill/>
          <a:ln/>
        </p:spPr>
        <p:txBody>
          <a:bodyPr wrap="square" lIns="0" tIns="0" rIns="0" bIns="0" rtlCol="0" anchor="t"/>
          <a:lstStyle/>
          <a:p>
            <a:pPr marL="0" indent="0" algn="l">
              <a:buNone/>
            </a:pPr>
            <a:r>
              <a:rPr lang="en-US" sz="3000" dirty="0">
                <a:solidFill>
                  <a:srgbClr val="15233B"/>
                </a:solidFill>
                <a:latin typeface="Palatino Linotype" pitchFamily="34" charset="0"/>
                <a:ea typeface="Palatino Linotype" pitchFamily="34" charset="-122"/>
                <a:cs typeface="Palatino Linotype" pitchFamily="34" charset="-120"/>
              </a:rPr>
              <a:t>Appendix A · How the simulation works</a:t>
            </a:r>
            <a:endParaRPr lang="en-US" sz="3000" dirty="0"/>
          </a:p>
        </p:txBody>
      </p:sp>
      <p:sp>
        <p:nvSpPr>
          <p:cNvPr id="3" name="Text 1"/>
          <p:cNvSpPr txBox="1"/>
          <p:nvPr/>
        </p:nvSpPr>
        <p:spPr>
          <a:xfrm>
            <a:off x="548640" y="310896"/>
            <a:ext cx="8229600" cy="228600"/>
          </a:xfrm>
          <a:prstGeom prst="rect">
            <a:avLst/>
          </a:prstGeom>
          <a:noFill/>
          <a:ln/>
        </p:spPr>
        <p:txBody>
          <a:bodyPr wrap="square" lIns="0" tIns="0" rIns="0" bIns="0" rtlCol="0" anchor="t"/>
          <a:lstStyle/>
          <a:p>
            <a:pPr marL="0" indent="0">
              <a:buNone/>
            </a:pPr>
            <a:r>
              <a:rPr lang="en-US" sz="1050" kern="0" spc="200" dirty="0">
                <a:solidFill>
                  <a:srgbClr val="B4642F"/>
                </a:solidFill>
                <a:latin typeface="Consolas" pitchFamily="34" charset="0"/>
                <a:ea typeface="Consolas" pitchFamily="34" charset="-122"/>
                <a:cs typeface="Consolas" pitchFamily="34" charset="-120"/>
              </a:rPr>
              <a:t>TECHNICAL APPENDIX</a:t>
            </a:r>
            <a:endParaRPr lang="en-US" sz="1050" dirty="0"/>
          </a:p>
        </p:txBody>
      </p:sp>
      <p:sp>
        <p:nvSpPr>
          <p:cNvPr id="5" name="Shape 2"/>
          <p:cNvSpPr/>
          <p:nvPr/>
        </p:nvSpPr>
        <p:spPr>
          <a:xfrm>
            <a:off x="548640" y="1371600"/>
            <a:ext cx="2606040" cy="1051560"/>
          </a:xfrm>
          <a:prstGeom prst="roundRect">
            <a:avLst>
              <a:gd name="adj" fmla="val 6087"/>
            </a:avLst>
          </a:prstGeom>
          <a:solidFill>
            <a:srgbClr val="FBF9F4"/>
          </a:solidFill>
          <a:ln w="9525">
            <a:solidFill>
              <a:srgbClr val="DDD5C3"/>
            </a:solidFill>
            <a:prstDash val="solid"/>
          </a:ln>
        </p:spPr>
      </p:sp>
      <p:sp>
        <p:nvSpPr>
          <p:cNvPr id="6" name="Text 3"/>
          <p:cNvSpPr txBox="1"/>
          <p:nvPr/>
        </p:nvSpPr>
        <p:spPr>
          <a:xfrm>
            <a:off x="685800" y="1444752"/>
            <a:ext cx="2377440" cy="320040"/>
          </a:xfrm>
          <a:prstGeom prst="rect">
            <a:avLst/>
          </a:prstGeom>
          <a:noFill/>
          <a:ln/>
        </p:spPr>
        <p:txBody>
          <a:bodyPr wrap="square" lIns="0" tIns="0" rIns="0" bIns="0" rtlCol="0" anchor="t"/>
          <a:lstStyle/>
          <a:p>
            <a:pPr marL="0" indent="0">
              <a:buNone/>
            </a:pPr>
            <a:r>
              <a:rPr lang="en-US" sz="1500" b="1" dirty="0">
                <a:solidFill>
                  <a:srgbClr val="15233B"/>
                </a:solidFill>
                <a:latin typeface="Palatino Linotype" pitchFamily="34" charset="0"/>
                <a:ea typeface="Palatino Linotype" pitchFamily="34" charset="-122"/>
                <a:cs typeface="Palatino Linotype" pitchFamily="34" charset="-120"/>
              </a:rPr>
              <a:t>1  Next event</a:t>
            </a:r>
            <a:endParaRPr lang="en-US" sz="1500" dirty="0"/>
          </a:p>
        </p:txBody>
      </p:sp>
      <p:sp>
        <p:nvSpPr>
          <p:cNvPr id="7" name="Text 4"/>
          <p:cNvSpPr txBox="1"/>
          <p:nvPr/>
        </p:nvSpPr>
        <p:spPr>
          <a:xfrm>
            <a:off x="685800" y="1828800"/>
            <a:ext cx="2377440" cy="457200"/>
          </a:xfrm>
          <a:prstGeom prst="rect">
            <a:avLst/>
          </a:prstGeom>
          <a:noFill/>
          <a:ln/>
        </p:spPr>
        <p:txBody>
          <a:bodyPr wrap="square" lIns="0" tIns="0" rIns="0" bIns="0" rtlCol="0" anchor="t"/>
          <a:lstStyle/>
          <a:p>
            <a:pPr marL="0" indent="0">
              <a:buNone/>
            </a:pPr>
            <a:r>
              <a:rPr lang="en-US" sz="1050" dirty="0">
                <a:solidFill>
                  <a:srgbClr val="3A4A66"/>
                </a:solidFill>
                <a:latin typeface="Segoe UI" pitchFamily="34" charset="0"/>
                <a:ea typeface="Segoe UI" pitchFamily="34" charset="-122"/>
                <a:cs typeface="Segoe UI" pitchFamily="34" charset="-120"/>
              </a:rPr>
              <a:t>earliest time in the event queue</a:t>
            </a:r>
            <a:endParaRPr lang="en-US" sz="1050" dirty="0"/>
          </a:p>
        </p:txBody>
      </p:sp>
      <p:sp>
        <p:nvSpPr>
          <p:cNvPr id="8" name="Shape 5"/>
          <p:cNvSpPr/>
          <p:nvPr/>
        </p:nvSpPr>
        <p:spPr>
          <a:xfrm>
            <a:off x="3182112" y="1892808"/>
            <a:ext cx="173736" cy="0"/>
          </a:xfrm>
          <a:prstGeom prst="line">
            <a:avLst/>
          </a:prstGeom>
          <a:noFill/>
          <a:ln w="19050">
            <a:solidFill>
              <a:srgbClr val="A39C88"/>
            </a:solidFill>
            <a:prstDash val="solid"/>
            <a:tailEnd type="triangle"/>
          </a:ln>
        </p:spPr>
      </p:sp>
      <p:sp>
        <p:nvSpPr>
          <p:cNvPr id="9" name="Shape 6"/>
          <p:cNvSpPr/>
          <p:nvPr/>
        </p:nvSpPr>
        <p:spPr>
          <a:xfrm>
            <a:off x="3383280" y="1371600"/>
            <a:ext cx="2606040" cy="1051560"/>
          </a:xfrm>
          <a:prstGeom prst="roundRect">
            <a:avLst>
              <a:gd name="adj" fmla="val 6087"/>
            </a:avLst>
          </a:prstGeom>
          <a:solidFill>
            <a:srgbClr val="FBF9F4"/>
          </a:solidFill>
          <a:ln w="9525">
            <a:solidFill>
              <a:srgbClr val="DDD5C3"/>
            </a:solidFill>
            <a:prstDash val="solid"/>
          </a:ln>
        </p:spPr>
      </p:sp>
      <p:sp>
        <p:nvSpPr>
          <p:cNvPr id="10" name="Text 7"/>
          <p:cNvSpPr txBox="1"/>
          <p:nvPr/>
        </p:nvSpPr>
        <p:spPr>
          <a:xfrm>
            <a:off x="3520440" y="1444752"/>
            <a:ext cx="2377440" cy="320040"/>
          </a:xfrm>
          <a:prstGeom prst="rect">
            <a:avLst/>
          </a:prstGeom>
          <a:noFill/>
          <a:ln/>
        </p:spPr>
        <p:txBody>
          <a:bodyPr wrap="square" lIns="0" tIns="0" rIns="0" bIns="0" rtlCol="0" anchor="t"/>
          <a:lstStyle/>
          <a:p>
            <a:pPr marL="0" indent="0">
              <a:buNone/>
            </a:pPr>
            <a:r>
              <a:rPr lang="en-US" sz="1500" b="1" dirty="0">
                <a:solidFill>
                  <a:srgbClr val="15233B"/>
                </a:solidFill>
                <a:latin typeface="Palatino Linotype" pitchFamily="34" charset="0"/>
                <a:ea typeface="Palatino Linotype" pitchFamily="34" charset="-122"/>
                <a:cs typeface="Palatino Linotype" pitchFamily="34" charset="-120"/>
              </a:rPr>
              <a:t>2  Update state</a:t>
            </a:r>
            <a:endParaRPr lang="en-US" sz="1500" dirty="0"/>
          </a:p>
        </p:txBody>
      </p:sp>
      <p:sp>
        <p:nvSpPr>
          <p:cNvPr id="11" name="Text 8"/>
          <p:cNvSpPr txBox="1"/>
          <p:nvPr/>
        </p:nvSpPr>
        <p:spPr>
          <a:xfrm>
            <a:off x="3520440" y="1828800"/>
            <a:ext cx="2377440" cy="457200"/>
          </a:xfrm>
          <a:prstGeom prst="rect">
            <a:avLst/>
          </a:prstGeom>
          <a:noFill/>
          <a:ln/>
        </p:spPr>
        <p:txBody>
          <a:bodyPr wrap="square" lIns="0" tIns="0" rIns="0" bIns="0" rtlCol="0" anchor="t"/>
          <a:lstStyle/>
          <a:p>
            <a:pPr marL="0" indent="0">
              <a:buNone/>
            </a:pPr>
            <a:r>
              <a:rPr lang="en-US" sz="1050" dirty="0">
                <a:solidFill>
                  <a:srgbClr val="3A4A66"/>
                </a:solidFill>
                <a:latin typeface="Segoe UI" pitchFamily="34" charset="0"/>
                <a:ea typeface="Segoe UI" pitchFamily="34" charset="-122"/>
                <a:cs typeface="Segoe UI" pitchFamily="34" charset="-120"/>
              </a:rPr>
              <a:t>patients, resources, queues</a:t>
            </a:r>
            <a:endParaRPr lang="en-US" sz="1050" dirty="0"/>
          </a:p>
        </p:txBody>
      </p:sp>
      <p:sp>
        <p:nvSpPr>
          <p:cNvPr id="12" name="Shape 9"/>
          <p:cNvSpPr/>
          <p:nvPr/>
        </p:nvSpPr>
        <p:spPr>
          <a:xfrm>
            <a:off x="6016752" y="1892808"/>
            <a:ext cx="173736" cy="0"/>
          </a:xfrm>
          <a:prstGeom prst="line">
            <a:avLst/>
          </a:prstGeom>
          <a:noFill/>
          <a:ln w="19050">
            <a:solidFill>
              <a:srgbClr val="A39C88"/>
            </a:solidFill>
            <a:prstDash val="solid"/>
            <a:tailEnd type="triangle"/>
          </a:ln>
        </p:spPr>
      </p:sp>
      <p:sp>
        <p:nvSpPr>
          <p:cNvPr id="13" name="Shape 10"/>
          <p:cNvSpPr/>
          <p:nvPr/>
        </p:nvSpPr>
        <p:spPr>
          <a:xfrm>
            <a:off x="6217920" y="1371600"/>
            <a:ext cx="2606040" cy="1051560"/>
          </a:xfrm>
          <a:prstGeom prst="roundRect">
            <a:avLst>
              <a:gd name="adj" fmla="val 6087"/>
            </a:avLst>
          </a:prstGeom>
          <a:solidFill>
            <a:srgbClr val="FBF9F4"/>
          </a:solidFill>
          <a:ln w="9525">
            <a:solidFill>
              <a:srgbClr val="DDD5C3"/>
            </a:solidFill>
            <a:prstDash val="solid"/>
          </a:ln>
        </p:spPr>
      </p:sp>
      <p:sp>
        <p:nvSpPr>
          <p:cNvPr id="14" name="Text 11"/>
          <p:cNvSpPr txBox="1"/>
          <p:nvPr/>
        </p:nvSpPr>
        <p:spPr>
          <a:xfrm>
            <a:off x="6355080" y="1444752"/>
            <a:ext cx="2377440" cy="320040"/>
          </a:xfrm>
          <a:prstGeom prst="rect">
            <a:avLst/>
          </a:prstGeom>
          <a:noFill/>
          <a:ln/>
        </p:spPr>
        <p:txBody>
          <a:bodyPr wrap="square" lIns="0" tIns="0" rIns="0" bIns="0" rtlCol="0" anchor="t"/>
          <a:lstStyle/>
          <a:p>
            <a:pPr marL="0" indent="0">
              <a:buNone/>
            </a:pPr>
            <a:r>
              <a:rPr lang="en-US" sz="1500" b="1" dirty="0">
                <a:solidFill>
                  <a:srgbClr val="B4642F"/>
                </a:solidFill>
                <a:latin typeface="Palatino Linotype" pitchFamily="34" charset="0"/>
                <a:ea typeface="Palatino Linotype" pitchFamily="34" charset="-122"/>
                <a:cs typeface="Palatino Linotype" pitchFamily="34" charset="-120"/>
              </a:rPr>
              <a:t>3  Write to log</a:t>
            </a:r>
            <a:endParaRPr lang="en-US" sz="1500" dirty="0"/>
          </a:p>
        </p:txBody>
      </p:sp>
      <p:sp>
        <p:nvSpPr>
          <p:cNvPr id="15" name="Text 12"/>
          <p:cNvSpPr txBox="1"/>
          <p:nvPr/>
        </p:nvSpPr>
        <p:spPr>
          <a:xfrm>
            <a:off x="6355080" y="1828800"/>
            <a:ext cx="2377440" cy="457200"/>
          </a:xfrm>
          <a:prstGeom prst="rect">
            <a:avLst/>
          </a:prstGeom>
          <a:noFill/>
          <a:ln/>
        </p:spPr>
        <p:txBody>
          <a:bodyPr wrap="square" lIns="0" tIns="0" rIns="0" bIns="0" rtlCol="0" anchor="t"/>
          <a:lstStyle/>
          <a:p>
            <a:pPr marL="0" indent="0">
              <a:buNone/>
            </a:pPr>
            <a:r>
              <a:rPr lang="en-US" sz="1050" dirty="0">
                <a:solidFill>
                  <a:srgbClr val="3A4A66"/>
                </a:solidFill>
                <a:latin typeface="Segoe UI" pitchFamily="34" charset="0"/>
                <a:ea typeface="Segoe UI" pitchFamily="34" charset="-122"/>
                <a:cs typeface="Segoe UI" pitchFamily="34" charset="-120"/>
              </a:rPr>
              <a:t>time, event, cause pointer</a:t>
            </a:r>
            <a:endParaRPr lang="en-US" sz="1050" dirty="0"/>
          </a:p>
        </p:txBody>
      </p:sp>
      <p:sp>
        <p:nvSpPr>
          <p:cNvPr id="16" name="Shape 13"/>
          <p:cNvSpPr/>
          <p:nvPr/>
        </p:nvSpPr>
        <p:spPr>
          <a:xfrm>
            <a:off x="8851392" y="1892808"/>
            <a:ext cx="173736" cy="0"/>
          </a:xfrm>
          <a:prstGeom prst="line">
            <a:avLst/>
          </a:prstGeom>
          <a:noFill/>
          <a:ln w="19050">
            <a:solidFill>
              <a:srgbClr val="A39C88"/>
            </a:solidFill>
            <a:prstDash val="solid"/>
            <a:tailEnd type="triangle"/>
          </a:ln>
        </p:spPr>
      </p:sp>
      <p:sp>
        <p:nvSpPr>
          <p:cNvPr id="17" name="Shape 14"/>
          <p:cNvSpPr/>
          <p:nvPr/>
        </p:nvSpPr>
        <p:spPr>
          <a:xfrm>
            <a:off x="9052560" y="1371600"/>
            <a:ext cx="2606040" cy="1051560"/>
          </a:xfrm>
          <a:prstGeom prst="roundRect">
            <a:avLst>
              <a:gd name="adj" fmla="val 6087"/>
            </a:avLst>
          </a:prstGeom>
          <a:solidFill>
            <a:srgbClr val="FBF9F4"/>
          </a:solidFill>
          <a:ln w="9525">
            <a:solidFill>
              <a:srgbClr val="DDD5C3"/>
            </a:solidFill>
            <a:prstDash val="solid"/>
          </a:ln>
        </p:spPr>
      </p:sp>
      <p:sp>
        <p:nvSpPr>
          <p:cNvPr id="18" name="Text 15"/>
          <p:cNvSpPr txBox="1"/>
          <p:nvPr/>
        </p:nvSpPr>
        <p:spPr>
          <a:xfrm>
            <a:off x="9189720" y="1444752"/>
            <a:ext cx="2377440" cy="320040"/>
          </a:xfrm>
          <a:prstGeom prst="rect">
            <a:avLst/>
          </a:prstGeom>
          <a:noFill/>
          <a:ln/>
        </p:spPr>
        <p:txBody>
          <a:bodyPr wrap="square" lIns="0" tIns="0" rIns="0" bIns="0" rtlCol="0" anchor="t"/>
          <a:lstStyle/>
          <a:p>
            <a:pPr marL="0" indent="0">
              <a:buNone/>
            </a:pPr>
            <a:r>
              <a:rPr lang="en-US" sz="1500" b="1" dirty="0">
                <a:solidFill>
                  <a:srgbClr val="15233B"/>
                </a:solidFill>
                <a:latin typeface="Palatino Linotype" pitchFamily="34" charset="0"/>
                <a:ea typeface="Palatino Linotype" pitchFamily="34" charset="-122"/>
                <a:cs typeface="Palatino Linotype" pitchFamily="34" charset="-120"/>
              </a:rPr>
              <a:t>4  Schedule follow-ups</a:t>
            </a:r>
            <a:endParaRPr lang="en-US" sz="1500" dirty="0"/>
          </a:p>
        </p:txBody>
      </p:sp>
      <p:sp>
        <p:nvSpPr>
          <p:cNvPr id="19" name="Text 16"/>
          <p:cNvSpPr txBox="1"/>
          <p:nvPr/>
        </p:nvSpPr>
        <p:spPr>
          <a:xfrm>
            <a:off x="9189720" y="1828800"/>
            <a:ext cx="2377440" cy="457200"/>
          </a:xfrm>
          <a:prstGeom prst="rect">
            <a:avLst/>
          </a:prstGeom>
          <a:noFill/>
          <a:ln/>
        </p:spPr>
        <p:txBody>
          <a:bodyPr wrap="square" lIns="0" tIns="0" rIns="0" bIns="0" rtlCol="0" anchor="t"/>
          <a:lstStyle/>
          <a:p>
            <a:pPr marL="0" indent="0">
              <a:buNone/>
            </a:pPr>
            <a:r>
              <a:rPr lang="en-US" sz="1050" dirty="0">
                <a:solidFill>
                  <a:srgbClr val="3A4A66"/>
                </a:solidFill>
                <a:latin typeface="Segoe UI" pitchFamily="34" charset="0"/>
                <a:ea typeface="Segoe UI" pitchFamily="34" charset="-122"/>
                <a:cs typeface="Segoe UI" pitchFamily="34" charset="-120"/>
              </a:rPr>
              <a:t>finish, release, transfer, next stage</a:t>
            </a:r>
            <a:endParaRPr lang="en-US" sz="1050" dirty="0"/>
          </a:p>
        </p:txBody>
      </p:sp>
      <p:sp>
        <p:nvSpPr>
          <p:cNvPr id="20" name="Text 17"/>
          <p:cNvSpPr txBox="1"/>
          <p:nvPr/>
        </p:nvSpPr>
        <p:spPr>
          <a:xfrm>
            <a:off x="548640" y="2697480"/>
            <a:ext cx="2743200" cy="182880"/>
          </a:xfrm>
          <a:prstGeom prst="rect">
            <a:avLst/>
          </a:prstGeom>
          <a:noFill/>
          <a:ln/>
        </p:spPr>
        <p:txBody>
          <a:bodyPr wrap="square" lIns="0" tIns="0" rIns="0" bIns="0" rtlCol="0" anchor="t"/>
          <a:lstStyle/>
          <a:p>
            <a:pPr marL="0" indent="0">
              <a:buNone/>
            </a:pPr>
            <a:r>
              <a:rPr lang="en-US" sz="850" kern="0" spc="100" dirty="0">
                <a:solidFill>
                  <a:srgbClr val="B4642F"/>
                </a:solidFill>
                <a:latin typeface="Consolas" pitchFamily="34" charset="0"/>
                <a:ea typeface="Consolas" pitchFamily="34" charset="-122"/>
                <a:cs typeface="Consolas" pitchFamily="34" charset="-120"/>
              </a:rPr>
              <a:t>EVENT TYPES</a:t>
            </a:r>
            <a:endParaRPr lang="en-US" sz="850" dirty="0"/>
          </a:p>
        </p:txBody>
      </p:sp>
      <p:sp>
        <p:nvSpPr>
          <p:cNvPr id="21" name="Shape 18"/>
          <p:cNvSpPr/>
          <p:nvPr/>
        </p:nvSpPr>
        <p:spPr>
          <a:xfrm>
            <a:off x="548640" y="2944368"/>
            <a:ext cx="1261872" cy="310896"/>
          </a:xfrm>
          <a:prstGeom prst="roundRect">
            <a:avLst>
              <a:gd name="adj" fmla="val 50000"/>
            </a:avLst>
          </a:prstGeom>
          <a:solidFill>
            <a:srgbClr val="EEE8DA"/>
          </a:solidFill>
          <a:ln w="9525">
            <a:solidFill>
              <a:srgbClr val="DDD5C3"/>
            </a:solidFill>
            <a:prstDash val="solid"/>
          </a:ln>
        </p:spPr>
      </p:sp>
      <p:sp>
        <p:nvSpPr>
          <p:cNvPr id="22" name="Text 19"/>
          <p:cNvSpPr txBox="1"/>
          <p:nvPr/>
        </p:nvSpPr>
        <p:spPr>
          <a:xfrm>
            <a:off x="548640" y="2944368"/>
            <a:ext cx="1261872" cy="310896"/>
          </a:xfrm>
          <a:prstGeom prst="rect">
            <a:avLst/>
          </a:prstGeom>
          <a:noFill/>
          <a:ln/>
        </p:spPr>
        <p:txBody>
          <a:bodyPr wrap="square" lIns="0" tIns="0" rIns="0" bIns="0" rtlCol="0" anchor="ctr"/>
          <a:lstStyle/>
          <a:p>
            <a:pPr marL="0" indent="0" algn="ctr">
              <a:buNone/>
            </a:pPr>
            <a:r>
              <a:rPr lang="en-US" sz="950" dirty="0">
                <a:solidFill>
                  <a:srgbClr val="15233B"/>
                </a:solidFill>
                <a:latin typeface="Consolas" pitchFamily="34" charset="0"/>
                <a:ea typeface="Consolas" pitchFamily="34" charset="-122"/>
                <a:cs typeface="Consolas" pitchFamily="34" charset="-120"/>
              </a:rPr>
              <a:t>arrival</a:t>
            </a:r>
            <a:endParaRPr lang="en-US" sz="950" dirty="0"/>
          </a:p>
        </p:txBody>
      </p:sp>
      <p:sp>
        <p:nvSpPr>
          <p:cNvPr id="23" name="Shape 20"/>
          <p:cNvSpPr/>
          <p:nvPr/>
        </p:nvSpPr>
        <p:spPr>
          <a:xfrm>
            <a:off x="1920240" y="2944368"/>
            <a:ext cx="1261872" cy="310896"/>
          </a:xfrm>
          <a:prstGeom prst="roundRect">
            <a:avLst>
              <a:gd name="adj" fmla="val 50000"/>
            </a:avLst>
          </a:prstGeom>
          <a:solidFill>
            <a:srgbClr val="EEE8DA"/>
          </a:solidFill>
          <a:ln w="9525">
            <a:solidFill>
              <a:srgbClr val="DDD5C3"/>
            </a:solidFill>
            <a:prstDash val="solid"/>
          </a:ln>
        </p:spPr>
      </p:sp>
      <p:sp>
        <p:nvSpPr>
          <p:cNvPr id="24" name="Text 21"/>
          <p:cNvSpPr txBox="1"/>
          <p:nvPr/>
        </p:nvSpPr>
        <p:spPr>
          <a:xfrm>
            <a:off x="1920240" y="2944368"/>
            <a:ext cx="1261872" cy="310896"/>
          </a:xfrm>
          <a:prstGeom prst="rect">
            <a:avLst/>
          </a:prstGeom>
          <a:noFill/>
          <a:ln/>
        </p:spPr>
        <p:txBody>
          <a:bodyPr wrap="square" lIns="0" tIns="0" rIns="0" bIns="0" rtlCol="0" anchor="ctr"/>
          <a:lstStyle/>
          <a:p>
            <a:pPr marL="0" indent="0" algn="ctr">
              <a:buNone/>
            </a:pPr>
            <a:r>
              <a:rPr lang="en-US" sz="950" dirty="0">
                <a:solidFill>
                  <a:srgbClr val="15233B"/>
                </a:solidFill>
                <a:latin typeface="Consolas" pitchFamily="34" charset="0"/>
                <a:ea typeface="Consolas" pitchFamily="34" charset="-122"/>
                <a:cs typeface="Consolas" pitchFamily="34" charset="-120"/>
              </a:rPr>
              <a:t>queue</a:t>
            </a:r>
            <a:endParaRPr lang="en-US" sz="950" dirty="0"/>
          </a:p>
        </p:txBody>
      </p:sp>
      <p:sp>
        <p:nvSpPr>
          <p:cNvPr id="25" name="Shape 22"/>
          <p:cNvSpPr/>
          <p:nvPr/>
        </p:nvSpPr>
        <p:spPr>
          <a:xfrm>
            <a:off x="3291840" y="2944368"/>
            <a:ext cx="1261872" cy="310896"/>
          </a:xfrm>
          <a:prstGeom prst="roundRect">
            <a:avLst>
              <a:gd name="adj" fmla="val 50000"/>
            </a:avLst>
          </a:prstGeom>
          <a:solidFill>
            <a:srgbClr val="EEE8DA"/>
          </a:solidFill>
          <a:ln w="9525">
            <a:solidFill>
              <a:srgbClr val="DDD5C3"/>
            </a:solidFill>
            <a:prstDash val="solid"/>
          </a:ln>
        </p:spPr>
      </p:sp>
      <p:sp>
        <p:nvSpPr>
          <p:cNvPr id="26" name="Text 23"/>
          <p:cNvSpPr txBox="1"/>
          <p:nvPr/>
        </p:nvSpPr>
        <p:spPr>
          <a:xfrm>
            <a:off x="3291840" y="2944368"/>
            <a:ext cx="1261872" cy="310896"/>
          </a:xfrm>
          <a:prstGeom prst="rect">
            <a:avLst/>
          </a:prstGeom>
          <a:noFill/>
          <a:ln/>
        </p:spPr>
        <p:txBody>
          <a:bodyPr wrap="square" lIns="0" tIns="0" rIns="0" bIns="0" rtlCol="0" anchor="ctr"/>
          <a:lstStyle/>
          <a:p>
            <a:pPr marL="0" indent="0" algn="ctr">
              <a:buNone/>
            </a:pPr>
            <a:r>
              <a:rPr lang="en-US" sz="950" dirty="0">
                <a:solidFill>
                  <a:srgbClr val="15233B"/>
                </a:solidFill>
                <a:latin typeface="Consolas" pitchFamily="34" charset="0"/>
                <a:ea typeface="Consolas" pitchFamily="34" charset="-122"/>
                <a:cs typeface="Consolas" pitchFamily="34" charset="-120"/>
              </a:rPr>
              <a:t>service start</a:t>
            </a:r>
            <a:endParaRPr lang="en-US" sz="950" dirty="0"/>
          </a:p>
        </p:txBody>
      </p:sp>
      <p:sp>
        <p:nvSpPr>
          <p:cNvPr id="27" name="Shape 24"/>
          <p:cNvSpPr/>
          <p:nvPr/>
        </p:nvSpPr>
        <p:spPr>
          <a:xfrm>
            <a:off x="4663440" y="2944368"/>
            <a:ext cx="1261872" cy="310896"/>
          </a:xfrm>
          <a:prstGeom prst="roundRect">
            <a:avLst>
              <a:gd name="adj" fmla="val 50000"/>
            </a:avLst>
          </a:prstGeom>
          <a:solidFill>
            <a:srgbClr val="EEE8DA"/>
          </a:solidFill>
          <a:ln w="9525">
            <a:solidFill>
              <a:srgbClr val="DDD5C3"/>
            </a:solidFill>
            <a:prstDash val="solid"/>
          </a:ln>
        </p:spPr>
      </p:sp>
      <p:sp>
        <p:nvSpPr>
          <p:cNvPr id="28" name="Text 25"/>
          <p:cNvSpPr txBox="1"/>
          <p:nvPr/>
        </p:nvSpPr>
        <p:spPr>
          <a:xfrm>
            <a:off x="4663440" y="2944368"/>
            <a:ext cx="1261872" cy="310896"/>
          </a:xfrm>
          <a:prstGeom prst="rect">
            <a:avLst/>
          </a:prstGeom>
          <a:noFill/>
          <a:ln/>
        </p:spPr>
        <p:txBody>
          <a:bodyPr wrap="square" lIns="0" tIns="0" rIns="0" bIns="0" rtlCol="0" anchor="ctr"/>
          <a:lstStyle/>
          <a:p>
            <a:pPr marL="0" indent="0" algn="ctr">
              <a:buNone/>
            </a:pPr>
            <a:r>
              <a:rPr lang="en-US" sz="950" dirty="0">
                <a:solidFill>
                  <a:srgbClr val="15233B"/>
                </a:solidFill>
                <a:latin typeface="Consolas" pitchFamily="34" charset="0"/>
                <a:ea typeface="Consolas" pitchFamily="34" charset="-122"/>
                <a:cs typeface="Consolas" pitchFamily="34" charset="-120"/>
              </a:rPr>
              <a:t>service finish</a:t>
            </a:r>
            <a:endParaRPr lang="en-US" sz="950" dirty="0"/>
          </a:p>
        </p:txBody>
      </p:sp>
      <p:sp>
        <p:nvSpPr>
          <p:cNvPr id="29" name="Shape 26"/>
          <p:cNvSpPr/>
          <p:nvPr/>
        </p:nvSpPr>
        <p:spPr>
          <a:xfrm>
            <a:off x="6035040" y="2944368"/>
            <a:ext cx="1261872" cy="310896"/>
          </a:xfrm>
          <a:prstGeom prst="roundRect">
            <a:avLst>
              <a:gd name="adj" fmla="val 50000"/>
            </a:avLst>
          </a:prstGeom>
          <a:solidFill>
            <a:srgbClr val="EEE8DA"/>
          </a:solidFill>
          <a:ln w="9525">
            <a:solidFill>
              <a:srgbClr val="DDD5C3"/>
            </a:solidFill>
            <a:prstDash val="solid"/>
          </a:ln>
        </p:spPr>
      </p:sp>
      <p:sp>
        <p:nvSpPr>
          <p:cNvPr id="30" name="Text 27"/>
          <p:cNvSpPr txBox="1"/>
          <p:nvPr/>
        </p:nvSpPr>
        <p:spPr>
          <a:xfrm>
            <a:off x="6035040" y="2944368"/>
            <a:ext cx="1261872" cy="310896"/>
          </a:xfrm>
          <a:prstGeom prst="rect">
            <a:avLst/>
          </a:prstGeom>
          <a:noFill/>
          <a:ln/>
        </p:spPr>
        <p:txBody>
          <a:bodyPr wrap="square" lIns="0" tIns="0" rIns="0" bIns="0" rtlCol="0" anchor="ctr"/>
          <a:lstStyle/>
          <a:p>
            <a:pPr marL="0" indent="0" algn="ctr">
              <a:buNone/>
            </a:pPr>
            <a:r>
              <a:rPr lang="en-US" sz="950" dirty="0">
                <a:solidFill>
                  <a:srgbClr val="15233B"/>
                </a:solidFill>
                <a:latin typeface="Consolas" pitchFamily="34" charset="0"/>
                <a:ea typeface="Consolas" pitchFamily="34" charset="-122"/>
                <a:cs typeface="Consolas" pitchFamily="34" charset="-120"/>
              </a:rPr>
              <a:t>release</a:t>
            </a:r>
            <a:endParaRPr lang="en-US" sz="950" dirty="0"/>
          </a:p>
        </p:txBody>
      </p:sp>
      <p:sp>
        <p:nvSpPr>
          <p:cNvPr id="31" name="Shape 28"/>
          <p:cNvSpPr/>
          <p:nvPr/>
        </p:nvSpPr>
        <p:spPr>
          <a:xfrm>
            <a:off x="7406640" y="2944368"/>
            <a:ext cx="1261872" cy="310896"/>
          </a:xfrm>
          <a:prstGeom prst="roundRect">
            <a:avLst>
              <a:gd name="adj" fmla="val 50000"/>
            </a:avLst>
          </a:prstGeom>
          <a:solidFill>
            <a:srgbClr val="EEE8DA"/>
          </a:solidFill>
          <a:ln w="9525">
            <a:solidFill>
              <a:srgbClr val="DDD5C3"/>
            </a:solidFill>
            <a:prstDash val="solid"/>
          </a:ln>
        </p:spPr>
      </p:sp>
      <p:sp>
        <p:nvSpPr>
          <p:cNvPr id="32" name="Text 29"/>
          <p:cNvSpPr txBox="1"/>
          <p:nvPr/>
        </p:nvSpPr>
        <p:spPr>
          <a:xfrm>
            <a:off x="7406640" y="2944368"/>
            <a:ext cx="1261872" cy="310896"/>
          </a:xfrm>
          <a:prstGeom prst="rect">
            <a:avLst/>
          </a:prstGeom>
          <a:noFill/>
          <a:ln/>
        </p:spPr>
        <p:txBody>
          <a:bodyPr wrap="square" lIns="0" tIns="0" rIns="0" bIns="0" rtlCol="0" anchor="ctr"/>
          <a:lstStyle/>
          <a:p>
            <a:pPr marL="0" indent="0" algn="ctr">
              <a:buNone/>
            </a:pPr>
            <a:r>
              <a:rPr lang="en-US" sz="950" dirty="0">
                <a:solidFill>
                  <a:srgbClr val="15233B"/>
                </a:solidFill>
                <a:latin typeface="Consolas" pitchFamily="34" charset="0"/>
                <a:ea typeface="Consolas" pitchFamily="34" charset="-122"/>
                <a:cs typeface="Consolas" pitchFamily="34" charset="-120"/>
              </a:rPr>
              <a:t>transfer</a:t>
            </a:r>
            <a:endParaRPr lang="en-US" sz="950" dirty="0"/>
          </a:p>
        </p:txBody>
      </p:sp>
      <p:sp>
        <p:nvSpPr>
          <p:cNvPr id="33" name="Shape 30"/>
          <p:cNvSpPr/>
          <p:nvPr/>
        </p:nvSpPr>
        <p:spPr>
          <a:xfrm>
            <a:off x="8778240" y="2944368"/>
            <a:ext cx="1261872" cy="310896"/>
          </a:xfrm>
          <a:prstGeom prst="roundRect">
            <a:avLst>
              <a:gd name="adj" fmla="val 50000"/>
            </a:avLst>
          </a:prstGeom>
          <a:solidFill>
            <a:srgbClr val="EEE8DA"/>
          </a:solidFill>
          <a:ln w="9525">
            <a:solidFill>
              <a:srgbClr val="DDD5C3"/>
            </a:solidFill>
            <a:prstDash val="solid"/>
          </a:ln>
        </p:spPr>
      </p:sp>
      <p:sp>
        <p:nvSpPr>
          <p:cNvPr id="34" name="Text 31"/>
          <p:cNvSpPr txBox="1"/>
          <p:nvPr/>
        </p:nvSpPr>
        <p:spPr>
          <a:xfrm>
            <a:off x="8778240" y="2944368"/>
            <a:ext cx="1261872" cy="310896"/>
          </a:xfrm>
          <a:prstGeom prst="rect">
            <a:avLst/>
          </a:prstGeom>
          <a:noFill/>
          <a:ln/>
        </p:spPr>
        <p:txBody>
          <a:bodyPr wrap="square" lIns="0" tIns="0" rIns="0" bIns="0" rtlCol="0" anchor="ctr"/>
          <a:lstStyle/>
          <a:p>
            <a:pPr marL="0" indent="0" algn="ctr">
              <a:buNone/>
            </a:pPr>
            <a:r>
              <a:rPr lang="en-US" sz="950" dirty="0">
                <a:solidFill>
                  <a:srgbClr val="15233B"/>
                </a:solidFill>
                <a:latin typeface="Consolas" pitchFamily="34" charset="0"/>
                <a:ea typeface="Consolas" pitchFamily="34" charset="-122"/>
                <a:cs typeface="Consolas" pitchFamily="34" charset="-120"/>
              </a:rPr>
              <a:t>outage</a:t>
            </a:r>
            <a:endParaRPr lang="en-US" sz="950" dirty="0"/>
          </a:p>
        </p:txBody>
      </p:sp>
      <p:sp>
        <p:nvSpPr>
          <p:cNvPr id="35" name="Text 32"/>
          <p:cNvSpPr txBox="1"/>
          <p:nvPr/>
        </p:nvSpPr>
        <p:spPr>
          <a:xfrm>
            <a:off x="548640" y="3566160"/>
            <a:ext cx="5486400" cy="182880"/>
          </a:xfrm>
          <a:prstGeom prst="rect">
            <a:avLst/>
          </a:prstGeom>
          <a:noFill/>
          <a:ln/>
        </p:spPr>
        <p:txBody>
          <a:bodyPr wrap="square" lIns="0" tIns="0" rIns="0" bIns="0" rtlCol="0" anchor="t"/>
          <a:lstStyle/>
          <a:p>
            <a:pPr marL="0" indent="0">
              <a:buNone/>
            </a:pPr>
            <a:r>
              <a:rPr lang="en-US" sz="850" kern="0" spc="100" dirty="0">
                <a:solidFill>
                  <a:srgbClr val="B4642F"/>
                </a:solidFill>
                <a:latin typeface="Consolas" pitchFamily="34" charset="0"/>
                <a:ea typeface="Consolas" pitchFamily="34" charset="-122"/>
                <a:cs typeface="Consolas" pitchFamily="34" charset="-120"/>
              </a:rPr>
              <a:t>ONE APPOINTMENT, TIMESTAMPS THE ENGINE KEEPS</a:t>
            </a:r>
            <a:endParaRPr lang="en-US" sz="850" dirty="0"/>
          </a:p>
        </p:txBody>
      </p:sp>
      <p:sp>
        <p:nvSpPr>
          <p:cNvPr id="36" name="Shape 33"/>
          <p:cNvSpPr/>
          <p:nvPr/>
        </p:nvSpPr>
        <p:spPr>
          <a:xfrm>
            <a:off x="822960" y="4114800"/>
            <a:ext cx="2377440" cy="384048"/>
          </a:xfrm>
          <a:prstGeom prst="rect">
            <a:avLst/>
          </a:prstGeom>
          <a:solidFill>
            <a:srgbClr val="B4642F"/>
          </a:solidFill>
          <a:ln/>
        </p:spPr>
      </p:sp>
      <p:sp>
        <p:nvSpPr>
          <p:cNvPr id="37" name="Text 34"/>
          <p:cNvSpPr txBox="1"/>
          <p:nvPr/>
        </p:nvSpPr>
        <p:spPr>
          <a:xfrm>
            <a:off x="822960" y="4526280"/>
            <a:ext cx="2377440" cy="182880"/>
          </a:xfrm>
          <a:prstGeom prst="rect">
            <a:avLst/>
          </a:prstGeom>
          <a:noFill/>
          <a:ln/>
        </p:spPr>
        <p:txBody>
          <a:bodyPr wrap="square" lIns="0" tIns="0" rIns="0" bIns="0" rtlCol="0" anchor="t"/>
          <a:lstStyle/>
          <a:p>
            <a:pPr marL="0" indent="0" algn="ctr">
              <a:buNone/>
            </a:pPr>
            <a:r>
              <a:rPr lang="en-US" sz="850" dirty="0">
                <a:solidFill>
                  <a:srgbClr val="3A4A66"/>
                </a:solidFill>
                <a:latin typeface="Consolas" pitchFamily="34" charset="0"/>
                <a:ea typeface="Consolas" pitchFamily="34" charset="-122"/>
                <a:cs typeface="Consolas" pitchFamily="34" charset="-120"/>
              </a:rPr>
              <a:t>waiting</a:t>
            </a:r>
            <a:endParaRPr lang="en-US" sz="850" dirty="0"/>
          </a:p>
        </p:txBody>
      </p:sp>
      <p:sp>
        <p:nvSpPr>
          <p:cNvPr id="38" name="Shape 35"/>
          <p:cNvSpPr/>
          <p:nvPr/>
        </p:nvSpPr>
        <p:spPr>
          <a:xfrm>
            <a:off x="3200400" y="4114800"/>
            <a:ext cx="2011680" cy="384048"/>
          </a:xfrm>
          <a:prstGeom prst="rect">
            <a:avLst/>
          </a:prstGeom>
          <a:solidFill>
            <a:srgbClr val="1F7B78"/>
          </a:solidFill>
          <a:ln/>
        </p:spPr>
      </p:sp>
      <p:sp>
        <p:nvSpPr>
          <p:cNvPr id="39" name="Text 36"/>
          <p:cNvSpPr txBox="1"/>
          <p:nvPr/>
        </p:nvSpPr>
        <p:spPr>
          <a:xfrm>
            <a:off x="3200400" y="4526280"/>
            <a:ext cx="2011680" cy="182880"/>
          </a:xfrm>
          <a:prstGeom prst="rect">
            <a:avLst/>
          </a:prstGeom>
          <a:noFill/>
          <a:ln/>
        </p:spPr>
        <p:txBody>
          <a:bodyPr wrap="square" lIns="0" tIns="0" rIns="0" bIns="0" rtlCol="0" anchor="t"/>
          <a:lstStyle/>
          <a:p>
            <a:pPr marL="0" indent="0" algn="ctr">
              <a:buNone/>
            </a:pPr>
            <a:r>
              <a:rPr lang="en-US" sz="850" dirty="0">
                <a:solidFill>
                  <a:srgbClr val="3A4A66"/>
                </a:solidFill>
                <a:latin typeface="Consolas" pitchFamily="34" charset="0"/>
                <a:ea typeface="Consolas" pitchFamily="34" charset="-122"/>
                <a:cs typeface="Consolas" pitchFamily="34" charset="-120"/>
              </a:rPr>
              <a:t>service</a:t>
            </a:r>
            <a:endParaRPr lang="en-US" sz="850" dirty="0"/>
          </a:p>
        </p:txBody>
      </p:sp>
      <p:sp>
        <p:nvSpPr>
          <p:cNvPr id="40" name="Shape 37"/>
          <p:cNvSpPr/>
          <p:nvPr/>
        </p:nvSpPr>
        <p:spPr>
          <a:xfrm>
            <a:off x="5212080" y="4114800"/>
            <a:ext cx="822960" cy="384048"/>
          </a:xfrm>
          <a:prstGeom prst="rect">
            <a:avLst/>
          </a:prstGeom>
          <a:solidFill>
            <a:srgbClr val="A39C88"/>
          </a:solidFill>
          <a:ln/>
        </p:spPr>
      </p:sp>
      <p:sp>
        <p:nvSpPr>
          <p:cNvPr id="41" name="Text 38"/>
          <p:cNvSpPr txBox="1"/>
          <p:nvPr/>
        </p:nvSpPr>
        <p:spPr>
          <a:xfrm>
            <a:off x="5212080" y="4526280"/>
            <a:ext cx="822960" cy="182880"/>
          </a:xfrm>
          <a:prstGeom prst="rect">
            <a:avLst/>
          </a:prstGeom>
          <a:noFill/>
          <a:ln/>
        </p:spPr>
        <p:txBody>
          <a:bodyPr wrap="square" lIns="0" tIns="0" rIns="0" bIns="0" rtlCol="0" anchor="t"/>
          <a:lstStyle/>
          <a:p>
            <a:pPr marL="0" indent="0" algn="ctr">
              <a:buNone/>
            </a:pPr>
            <a:r>
              <a:rPr lang="en-US" sz="850" dirty="0">
                <a:solidFill>
                  <a:srgbClr val="3A4A66"/>
                </a:solidFill>
                <a:latin typeface="Consolas" pitchFamily="34" charset="0"/>
                <a:ea typeface="Consolas" pitchFamily="34" charset="-122"/>
                <a:cs typeface="Consolas" pitchFamily="34" charset="-120"/>
              </a:rPr>
              <a:t>transfer</a:t>
            </a:r>
            <a:endParaRPr lang="en-US" sz="850" dirty="0"/>
          </a:p>
        </p:txBody>
      </p:sp>
      <p:sp>
        <p:nvSpPr>
          <p:cNvPr id="42" name="Shape 39"/>
          <p:cNvSpPr/>
          <p:nvPr/>
        </p:nvSpPr>
        <p:spPr>
          <a:xfrm>
            <a:off x="822960" y="4005072"/>
            <a:ext cx="0" cy="109728"/>
          </a:xfrm>
          <a:prstGeom prst="line">
            <a:avLst/>
          </a:prstGeom>
          <a:noFill/>
          <a:ln w="12700">
            <a:solidFill>
              <a:srgbClr val="7B7566"/>
            </a:solidFill>
            <a:prstDash val="solid"/>
          </a:ln>
        </p:spPr>
      </p:sp>
      <p:sp>
        <p:nvSpPr>
          <p:cNvPr id="43" name="Text 40"/>
          <p:cNvSpPr txBox="1"/>
          <p:nvPr/>
        </p:nvSpPr>
        <p:spPr>
          <a:xfrm>
            <a:off x="365760" y="3840480"/>
            <a:ext cx="914400" cy="146304"/>
          </a:xfrm>
          <a:prstGeom prst="rect">
            <a:avLst/>
          </a:prstGeom>
          <a:noFill/>
          <a:ln/>
        </p:spPr>
        <p:txBody>
          <a:bodyPr wrap="square" lIns="0" tIns="0" rIns="0" bIns="0" rtlCol="0" anchor="t"/>
          <a:lstStyle/>
          <a:p>
            <a:pPr marL="0" indent="0" algn="ctr">
              <a:buNone/>
            </a:pPr>
            <a:r>
              <a:rPr lang="en-US" sz="750" dirty="0">
                <a:solidFill>
                  <a:srgbClr val="7B7566"/>
                </a:solidFill>
                <a:latin typeface="Consolas" pitchFamily="34" charset="0"/>
                <a:ea typeface="Consolas" pitchFamily="34" charset="-122"/>
                <a:cs typeface="Consolas" pitchFamily="34" charset="-120"/>
              </a:rPr>
              <a:t>ready</a:t>
            </a:r>
            <a:endParaRPr lang="en-US" sz="750" dirty="0"/>
          </a:p>
        </p:txBody>
      </p:sp>
      <p:sp>
        <p:nvSpPr>
          <p:cNvPr id="44" name="Shape 41"/>
          <p:cNvSpPr/>
          <p:nvPr/>
        </p:nvSpPr>
        <p:spPr>
          <a:xfrm>
            <a:off x="3200400" y="4005072"/>
            <a:ext cx="0" cy="109728"/>
          </a:xfrm>
          <a:prstGeom prst="line">
            <a:avLst/>
          </a:prstGeom>
          <a:noFill/>
          <a:ln w="12700">
            <a:solidFill>
              <a:srgbClr val="7B7566"/>
            </a:solidFill>
            <a:prstDash val="solid"/>
          </a:ln>
        </p:spPr>
      </p:sp>
      <p:sp>
        <p:nvSpPr>
          <p:cNvPr id="45" name="Text 42"/>
          <p:cNvSpPr txBox="1"/>
          <p:nvPr/>
        </p:nvSpPr>
        <p:spPr>
          <a:xfrm>
            <a:off x="2743200" y="3840480"/>
            <a:ext cx="914400" cy="146304"/>
          </a:xfrm>
          <a:prstGeom prst="rect">
            <a:avLst/>
          </a:prstGeom>
          <a:noFill/>
          <a:ln/>
        </p:spPr>
        <p:txBody>
          <a:bodyPr wrap="square" lIns="0" tIns="0" rIns="0" bIns="0" rtlCol="0" anchor="t"/>
          <a:lstStyle/>
          <a:p>
            <a:pPr marL="0" indent="0" algn="ctr">
              <a:buNone/>
            </a:pPr>
            <a:r>
              <a:rPr lang="en-US" sz="750" dirty="0">
                <a:solidFill>
                  <a:srgbClr val="7B7566"/>
                </a:solidFill>
                <a:latin typeface="Consolas" pitchFamily="34" charset="0"/>
                <a:ea typeface="Consolas" pitchFamily="34" charset="-122"/>
                <a:cs typeface="Consolas" pitchFamily="34" charset="-120"/>
              </a:rPr>
              <a:t>service starts</a:t>
            </a:r>
            <a:endParaRPr lang="en-US" sz="750" dirty="0"/>
          </a:p>
        </p:txBody>
      </p:sp>
      <p:sp>
        <p:nvSpPr>
          <p:cNvPr id="46" name="Shape 43"/>
          <p:cNvSpPr/>
          <p:nvPr/>
        </p:nvSpPr>
        <p:spPr>
          <a:xfrm>
            <a:off x="5212080" y="4005072"/>
            <a:ext cx="0" cy="109728"/>
          </a:xfrm>
          <a:prstGeom prst="line">
            <a:avLst/>
          </a:prstGeom>
          <a:noFill/>
          <a:ln w="12700">
            <a:solidFill>
              <a:srgbClr val="7B7566"/>
            </a:solidFill>
            <a:prstDash val="solid"/>
          </a:ln>
        </p:spPr>
      </p:sp>
      <p:sp>
        <p:nvSpPr>
          <p:cNvPr id="47" name="Text 44"/>
          <p:cNvSpPr txBox="1"/>
          <p:nvPr/>
        </p:nvSpPr>
        <p:spPr>
          <a:xfrm>
            <a:off x="4754880" y="3840480"/>
            <a:ext cx="914400" cy="146304"/>
          </a:xfrm>
          <a:prstGeom prst="rect">
            <a:avLst/>
          </a:prstGeom>
          <a:noFill/>
          <a:ln/>
        </p:spPr>
        <p:txBody>
          <a:bodyPr wrap="square" lIns="0" tIns="0" rIns="0" bIns="0" rtlCol="0" anchor="t"/>
          <a:lstStyle/>
          <a:p>
            <a:pPr marL="0" indent="0" algn="ctr">
              <a:buNone/>
            </a:pPr>
            <a:r>
              <a:rPr lang="en-US" sz="750" dirty="0">
                <a:solidFill>
                  <a:srgbClr val="7B7566"/>
                </a:solidFill>
                <a:latin typeface="Consolas" pitchFamily="34" charset="0"/>
                <a:ea typeface="Consolas" pitchFamily="34" charset="-122"/>
                <a:cs typeface="Consolas" pitchFamily="34" charset="-120"/>
              </a:rPr>
              <a:t>service ends</a:t>
            </a:r>
            <a:endParaRPr lang="en-US" sz="750" dirty="0"/>
          </a:p>
        </p:txBody>
      </p:sp>
      <p:sp>
        <p:nvSpPr>
          <p:cNvPr id="48" name="Shape 45"/>
          <p:cNvSpPr/>
          <p:nvPr/>
        </p:nvSpPr>
        <p:spPr>
          <a:xfrm>
            <a:off x="6035040" y="4005072"/>
            <a:ext cx="0" cy="109728"/>
          </a:xfrm>
          <a:prstGeom prst="line">
            <a:avLst/>
          </a:prstGeom>
          <a:noFill/>
          <a:ln w="12700">
            <a:solidFill>
              <a:srgbClr val="7B7566"/>
            </a:solidFill>
            <a:prstDash val="solid"/>
          </a:ln>
        </p:spPr>
      </p:sp>
      <p:sp>
        <p:nvSpPr>
          <p:cNvPr id="49" name="Text 46"/>
          <p:cNvSpPr txBox="1"/>
          <p:nvPr/>
        </p:nvSpPr>
        <p:spPr>
          <a:xfrm>
            <a:off x="4846320" y="3685032"/>
            <a:ext cx="1463040" cy="146304"/>
          </a:xfrm>
          <a:prstGeom prst="rect">
            <a:avLst/>
          </a:prstGeom>
          <a:noFill/>
          <a:ln/>
        </p:spPr>
        <p:txBody>
          <a:bodyPr wrap="square" lIns="0" tIns="0" rIns="0" bIns="0" rtlCol="0" anchor="t"/>
          <a:lstStyle/>
          <a:p>
            <a:pPr marL="0" indent="0" algn="r">
              <a:buNone/>
            </a:pPr>
            <a:r>
              <a:rPr lang="en-US" sz="750" dirty="0">
                <a:solidFill>
                  <a:srgbClr val="7B7566"/>
                </a:solidFill>
                <a:latin typeface="Consolas" pitchFamily="34" charset="0"/>
                <a:ea typeface="Consolas" pitchFamily="34" charset="-122"/>
                <a:cs typeface="Consolas" pitchFamily="34" charset="-120"/>
              </a:rPr>
              <a:t>next stage ready</a:t>
            </a:r>
            <a:endParaRPr lang="en-US" sz="750" dirty="0"/>
          </a:p>
        </p:txBody>
      </p:sp>
      <p:sp>
        <p:nvSpPr>
          <p:cNvPr id="50" name="Text 47"/>
          <p:cNvSpPr txBox="1"/>
          <p:nvPr/>
        </p:nvSpPr>
        <p:spPr>
          <a:xfrm>
            <a:off x="822960" y="4169664"/>
            <a:ext cx="2377440" cy="274320"/>
          </a:xfrm>
          <a:prstGeom prst="rect">
            <a:avLst/>
          </a:prstGeom>
          <a:noFill/>
          <a:ln/>
        </p:spPr>
        <p:txBody>
          <a:bodyPr wrap="square" lIns="0" tIns="0" rIns="0" bIns="0" rtlCol="0" anchor="t"/>
          <a:lstStyle/>
          <a:p>
            <a:pPr marL="0" indent="0" algn="ctr">
              <a:buNone/>
            </a:pPr>
            <a:r>
              <a:rPr lang="en-US" sz="900" b="1" dirty="0">
                <a:solidFill>
                  <a:srgbClr val="FFFFFF"/>
                </a:solidFill>
                <a:latin typeface="Consolas" pitchFamily="34" charset="0"/>
                <a:ea typeface="Consolas" pitchFamily="34" charset="-122"/>
                <a:cs typeface="Consolas" pitchFamily="34" charset="-120"/>
              </a:rPr>
              <a:t>wait = start of service − ready</a:t>
            </a:r>
            <a:endParaRPr lang="en-US" sz="900" dirty="0"/>
          </a:p>
        </p:txBody>
      </p:sp>
      <p:sp>
        <p:nvSpPr>
          <p:cNvPr id="51" name="Text 48"/>
          <p:cNvSpPr txBox="1"/>
          <p:nvPr/>
        </p:nvSpPr>
        <p:spPr>
          <a:xfrm>
            <a:off x="548640" y="4800600"/>
            <a:ext cx="6035040" cy="640080"/>
          </a:xfrm>
          <a:prstGeom prst="rect">
            <a:avLst/>
          </a:prstGeom>
          <a:noFill/>
          <a:ln/>
        </p:spPr>
        <p:txBody>
          <a:bodyPr wrap="square" lIns="0" tIns="0" rIns="0" bIns="0" rtlCol="0" anchor="t"/>
          <a:lstStyle/>
          <a:p>
            <a:pPr marL="0" indent="0">
              <a:buNone/>
            </a:pPr>
            <a:r>
              <a:rPr lang="en-US" sz="1050" dirty="0">
                <a:solidFill>
                  <a:srgbClr val="3A4A66"/>
                </a:solidFill>
                <a:latin typeface="Segoe UI" pitchFamily="34" charset="0"/>
                <a:ea typeface="Segoe UI" pitchFamily="34" charset="-122"/>
                <a:cs typeface="Segoe UI" pitchFamily="34" charset="-120"/>
              </a:rPr>
              <a:t>Waiting excludes transfers and service time. Total waiting sums waits over all appointments; mean, median and 90th percentile are per patient.</a:t>
            </a:r>
            <a:endParaRPr lang="en-US" sz="1050" dirty="0"/>
          </a:p>
        </p:txBody>
      </p:sp>
      <p:sp>
        <p:nvSpPr>
          <p:cNvPr id="52" name="Shape 49"/>
          <p:cNvSpPr/>
          <p:nvPr/>
        </p:nvSpPr>
        <p:spPr>
          <a:xfrm>
            <a:off x="6858000" y="3566160"/>
            <a:ext cx="4782312" cy="2331720"/>
          </a:xfrm>
          <a:prstGeom prst="roundRect">
            <a:avLst>
              <a:gd name="adj" fmla="val 2745"/>
            </a:avLst>
          </a:prstGeom>
          <a:solidFill>
            <a:srgbClr val="D9EBE8"/>
          </a:solidFill>
          <a:ln w="9525">
            <a:solidFill>
              <a:srgbClr val="1F7B78"/>
            </a:solidFill>
            <a:prstDash val="solid"/>
          </a:ln>
        </p:spPr>
      </p:sp>
      <p:sp>
        <p:nvSpPr>
          <p:cNvPr id="53" name="Text 50"/>
          <p:cNvSpPr txBox="1"/>
          <p:nvPr/>
        </p:nvSpPr>
        <p:spPr>
          <a:xfrm>
            <a:off x="7040880" y="3657600"/>
            <a:ext cx="4389120" cy="182880"/>
          </a:xfrm>
          <a:prstGeom prst="rect">
            <a:avLst/>
          </a:prstGeom>
          <a:noFill/>
          <a:ln/>
        </p:spPr>
        <p:txBody>
          <a:bodyPr wrap="square" lIns="0" tIns="0" rIns="0" bIns="0" rtlCol="0" anchor="t"/>
          <a:lstStyle/>
          <a:p>
            <a:pPr marL="0" indent="0">
              <a:buNone/>
            </a:pPr>
            <a:r>
              <a:rPr lang="en-US" sz="850" kern="0" spc="100" dirty="0">
                <a:solidFill>
                  <a:srgbClr val="1F7B78"/>
                </a:solidFill>
                <a:latin typeface="Consolas" pitchFamily="34" charset="0"/>
                <a:ea typeface="Consolas" pitchFamily="34" charset="-122"/>
                <a:cs typeface="Consolas" pitchFamily="34" charset="-120"/>
              </a:rPr>
              <a:t>DETERMINISM AND REPRODUCIBILITY</a:t>
            </a:r>
            <a:endParaRPr lang="en-US" sz="850" dirty="0"/>
          </a:p>
        </p:txBody>
      </p:sp>
      <p:sp>
        <p:nvSpPr>
          <p:cNvPr id="54" name="Text 51"/>
          <p:cNvSpPr txBox="1"/>
          <p:nvPr/>
        </p:nvSpPr>
        <p:spPr>
          <a:xfrm>
            <a:off x="7040880" y="3931920"/>
            <a:ext cx="4434840" cy="914400"/>
          </a:xfrm>
          <a:prstGeom prst="rect">
            <a:avLst/>
          </a:prstGeom>
          <a:noFill/>
          <a:ln/>
        </p:spPr>
        <p:txBody>
          <a:bodyPr wrap="square" lIns="0" tIns="0" rIns="0" bIns="0" rtlCol="0" anchor="t"/>
          <a:lstStyle/>
          <a:p>
            <a:pPr marL="0" indent="0">
              <a:buNone/>
            </a:pPr>
            <a:r>
              <a:rPr lang="en-US" sz="1050" dirty="0">
                <a:solidFill>
                  <a:srgbClr val="15233B"/>
                </a:solidFill>
                <a:latin typeface="Segoe UI" pitchFamily="34" charset="0"/>
                <a:ea typeface="Segoe UI" pitchFamily="34" charset="-122"/>
                <a:cs typeface="Segoe UI" pitchFamily="34" charset="-120"/>
              </a:rPr>
              <a:t>Seed 7 always creates the same 60 patients, lateness, no-shows and durations. Baseline, disrupted and optimized runs share the same base patients, so any difference is caused by the change.</a:t>
            </a:r>
            <a:endParaRPr lang="en-US" sz="1050" dirty="0"/>
          </a:p>
        </p:txBody>
      </p:sp>
      <p:sp>
        <p:nvSpPr>
          <p:cNvPr id="55" name="Text 52"/>
          <p:cNvSpPr txBox="1"/>
          <p:nvPr/>
        </p:nvSpPr>
        <p:spPr>
          <a:xfrm>
            <a:off x="7040880" y="4892040"/>
            <a:ext cx="4434840" cy="822960"/>
          </a:xfrm>
          <a:prstGeom prst="rect">
            <a:avLst/>
          </a:prstGeom>
          <a:noFill/>
          <a:ln/>
        </p:spPr>
        <p:txBody>
          <a:bodyPr wrap="square" lIns="0" tIns="0" rIns="0" bIns="0" rtlCol="0" anchor="t"/>
          <a:lstStyle/>
          <a:p>
            <a:pPr marL="0" indent="0">
              <a:buNone/>
            </a:pPr>
            <a:r>
              <a:rPr lang="en-US" sz="1050" b="1" dirty="0">
                <a:solidFill>
                  <a:srgbClr val="15233B"/>
                </a:solidFill>
                <a:latin typeface="Segoe UI" pitchFamily="34" charset="0"/>
                <a:ea typeface="Segoe UI" pitchFamily="34" charset="-122"/>
                <a:cs typeface="Segoe UI" pitchFamily="34" charset="-120"/>
              </a:rPr>
              <a:t>Verified for this deck: the full demonstration path was run twice on the published app and produced identical figures (the optimizer examined 36,850 plans both times).</a:t>
            </a:r>
            <a:endParaRPr lang="en-US" sz="1050" dirty="0"/>
          </a:p>
        </p:txBody>
      </p:sp>
      <p:sp>
        <p:nvSpPr>
          <p:cNvPr id="56" name="Text 53"/>
          <p:cNvSpPr txBox="1"/>
          <p:nvPr/>
        </p:nvSpPr>
        <p:spPr>
          <a:xfrm>
            <a:off x="548640" y="5486400"/>
            <a:ext cx="6035040" cy="457200"/>
          </a:xfrm>
          <a:prstGeom prst="rect">
            <a:avLst/>
          </a:prstGeom>
          <a:noFill/>
          <a:ln/>
        </p:spPr>
        <p:txBody>
          <a:bodyPr wrap="square" lIns="0" tIns="0" rIns="0" bIns="0" rtlCol="0" anchor="t"/>
          <a:lstStyle/>
          <a:p>
            <a:pPr marL="0" indent="0">
              <a:buNone/>
            </a:pPr>
            <a:r>
              <a:rPr lang="en-US" sz="1000" i="1" dirty="0">
                <a:solidFill>
                  <a:srgbClr val="3A4A66"/>
                </a:solidFill>
                <a:latin typeface="Segoe UI" pitchFamily="34" charset="0"/>
                <a:ea typeface="Segoe UI" pitchFamily="34" charset="-122"/>
                <a:cs typeface="Segoe UI" pitchFamily="34" charset="-120"/>
              </a:rPr>
              <a:t>Planning uses booked lengths; the replay uses realised ones (variability 0.25), which is why projected and measured savings differ.</a:t>
            </a:r>
            <a:endParaRPr lang="en-US" sz="1000" dirty="0"/>
          </a:p>
        </p:txBody>
      </p:sp>
      <p:sp>
        <p:nvSpPr>
          <p:cNvPr id="57" name="Text 54"/>
          <p:cNvSpPr txBox="1"/>
          <p:nvPr/>
        </p:nvSpPr>
        <p:spPr>
          <a:xfrm>
            <a:off x="548640" y="6199632"/>
            <a:ext cx="11064240" cy="256032"/>
          </a:xfrm>
          <a:prstGeom prst="rect">
            <a:avLst/>
          </a:prstGeom>
          <a:noFill/>
          <a:ln/>
        </p:spPr>
        <p:txBody>
          <a:bodyPr wrap="square" lIns="0" tIns="0" rIns="0" bIns="0" rtlCol="0" anchor="t"/>
          <a:lstStyle/>
          <a:p>
            <a:pPr marL="0" indent="0">
              <a:buNone/>
            </a:pPr>
            <a:r>
              <a:rPr lang="en-US" sz="850" dirty="0">
                <a:solidFill>
                  <a:srgbClr val="7B7566"/>
                </a:solidFill>
                <a:latin typeface="Segoe UI" pitchFamily="34" charset="0"/>
                <a:ea typeface="Segoe UI" pitchFamily="34" charset="-122"/>
                <a:cs typeface="Segoe UI" pitchFamily="34" charset="-120"/>
              </a:rPr>
              <a:t>Source: SAYR About, methods &amp; credits (Discrete-event simulation); Minutes Ledger methodology (seed 7). Known limits: a clinician is tied to a room; no breaks, equipment, multiple sites or clinical variation.</a:t>
            </a:r>
            <a:endParaRPr lang="en-US" sz="850" dirty="0"/>
          </a:p>
        </p:txBody>
      </p:sp>
      <p:sp>
        <p:nvSpPr>
          <p:cNvPr id="4" name="Slide Number Placeholder 0"/>
          <p:cNvSpPr>
            <a:spLocks noGrp="1"/>
          </p:cNvSpPr>
          <p:nvPr>
            <p:ph type="sldNum" sz="quarter" idx="4294967295"/>
          </p:nvPr>
        </p:nvSpPr>
        <p:spPr>
          <a:xfrm>
            <a:off x="11064240" y="6492240"/>
            <a:ext cx="576072"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B7566"/>
                </a:solidFill>
                <a:latin typeface="Consolas"/>
                <a:ea typeface="Consolas"/>
                <a:cs typeface="Consolas"/>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685800"/>
          </a:xfrm>
          <a:prstGeom prst="rect">
            <a:avLst/>
          </a:prstGeom>
          <a:noFill/>
          <a:ln/>
        </p:spPr>
        <p:txBody>
          <a:bodyPr wrap="square" lIns="0" tIns="0" rIns="0" bIns="0" rtlCol="0" anchor="t"/>
          <a:lstStyle/>
          <a:p>
            <a:pPr marL="0" indent="0" algn="l">
              <a:buNone/>
            </a:pPr>
            <a:r>
              <a:rPr lang="en-US" sz="3000" dirty="0">
                <a:solidFill>
                  <a:srgbClr val="15233B"/>
                </a:solidFill>
                <a:latin typeface="Palatino Linotype" pitchFamily="34" charset="0"/>
                <a:ea typeface="Palatino Linotype" pitchFamily="34" charset="-122"/>
                <a:cs typeface="Palatino Linotype" pitchFamily="34" charset="-120"/>
              </a:rPr>
              <a:t>Appendix B · How Reflow works</a:t>
            </a:r>
            <a:endParaRPr lang="en-US" sz="3000" dirty="0"/>
          </a:p>
        </p:txBody>
      </p:sp>
      <p:sp>
        <p:nvSpPr>
          <p:cNvPr id="3" name="Text 1"/>
          <p:cNvSpPr txBox="1"/>
          <p:nvPr/>
        </p:nvSpPr>
        <p:spPr>
          <a:xfrm>
            <a:off x="548640" y="310896"/>
            <a:ext cx="8229600" cy="228600"/>
          </a:xfrm>
          <a:prstGeom prst="rect">
            <a:avLst/>
          </a:prstGeom>
          <a:noFill/>
          <a:ln/>
        </p:spPr>
        <p:txBody>
          <a:bodyPr wrap="square" lIns="0" tIns="0" rIns="0" bIns="0" rtlCol="0" anchor="t"/>
          <a:lstStyle/>
          <a:p>
            <a:pPr marL="0" indent="0">
              <a:buNone/>
            </a:pPr>
            <a:r>
              <a:rPr lang="en-US" sz="1050" kern="0" spc="200" dirty="0">
                <a:solidFill>
                  <a:srgbClr val="B4642F"/>
                </a:solidFill>
                <a:latin typeface="Consolas" pitchFamily="34" charset="0"/>
                <a:ea typeface="Consolas" pitchFamily="34" charset="-122"/>
                <a:cs typeface="Consolas" pitchFamily="34" charset="-120"/>
              </a:rPr>
              <a:t>TECHNICAL APPENDIX</a:t>
            </a:r>
            <a:endParaRPr lang="en-US" sz="1050" dirty="0"/>
          </a:p>
        </p:txBody>
      </p:sp>
      <p:sp>
        <p:nvSpPr>
          <p:cNvPr id="5" name="Shape 2"/>
          <p:cNvSpPr/>
          <p:nvPr/>
        </p:nvSpPr>
        <p:spPr>
          <a:xfrm>
            <a:off x="548640" y="1325880"/>
            <a:ext cx="3611880" cy="1783080"/>
          </a:xfrm>
          <a:prstGeom prst="roundRect">
            <a:avLst>
              <a:gd name="adj" fmla="val 3590"/>
            </a:avLst>
          </a:prstGeom>
          <a:solidFill>
            <a:srgbClr val="FBF9F4"/>
          </a:solidFill>
          <a:ln w="9525">
            <a:solidFill>
              <a:srgbClr val="DDD5C3"/>
            </a:solidFill>
            <a:prstDash val="solid"/>
          </a:ln>
        </p:spPr>
      </p:sp>
      <p:sp>
        <p:nvSpPr>
          <p:cNvPr id="6" name="Text 3"/>
          <p:cNvSpPr txBox="1"/>
          <p:nvPr/>
        </p:nvSpPr>
        <p:spPr>
          <a:xfrm>
            <a:off x="713232" y="1417320"/>
            <a:ext cx="2743200" cy="182880"/>
          </a:xfrm>
          <a:prstGeom prst="rect">
            <a:avLst/>
          </a:prstGeom>
          <a:noFill/>
          <a:ln/>
        </p:spPr>
        <p:txBody>
          <a:bodyPr wrap="square" lIns="0" tIns="0" rIns="0" bIns="0" rtlCol="0" anchor="t"/>
          <a:lstStyle/>
          <a:p>
            <a:pPr marL="0" indent="0">
              <a:buNone/>
            </a:pPr>
            <a:r>
              <a:rPr lang="en-US" sz="900" kern="0" spc="150" dirty="0">
                <a:solidFill>
                  <a:srgbClr val="B4642F"/>
                </a:solidFill>
                <a:latin typeface="Consolas" pitchFamily="34" charset="0"/>
                <a:ea typeface="Consolas" pitchFamily="34" charset="-122"/>
                <a:cs typeface="Consolas" pitchFamily="34" charset="-120"/>
              </a:rPr>
              <a:t>SEARCH</a:t>
            </a:r>
            <a:endParaRPr lang="en-US" sz="900" dirty="0"/>
          </a:p>
        </p:txBody>
      </p:sp>
      <p:sp>
        <p:nvSpPr>
          <p:cNvPr id="7" name="Text 4"/>
          <p:cNvSpPr txBox="1"/>
          <p:nvPr/>
        </p:nvSpPr>
        <p:spPr>
          <a:xfrm>
            <a:off x="713232" y="1645920"/>
            <a:ext cx="3310128" cy="1417320"/>
          </a:xfrm>
          <a:prstGeom prst="rect">
            <a:avLst/>
          </a:prstGeom>
          <a:noFill/>
          <a:ln/>
        </p:spPr>
        <p:txBody>
          <a:bodyPr wrap="square" lIns="0" tIns="0" rIns="0" bIns="0" rtlCol="0" anchor="t"/>
          <a:lstStyle/>
          <a:p>
            <a:pPr marL="0" indent="0">
              <a:buNone/>
            </a:pPr>
            <a:r>
              <a:rPr lang="en-US" sz="950" dirty="0">
                <a:solidFill>
                  <a:srgbClr val="3A4A66"/>
                </a:solidFill>
                <a:latin typeface="Segoe UI" pitchFamily="34" charset="0"/>
                <a:ea typeface="Segoe UI" pitchFamily="34" charset="-122"/>
                <a:cs typeface="Segoe UI" pitchFamily="34" charset="-120"/>
              </a:rPr>
              <a:t>Constraint-aware local search with seeded perturbation. It captures every appointment not yet started, tries moving it to another resource or position, keeps only legal changes and the better plan. Three runs, three objectives. A heuristic: no guarantee of a global optimum, and it may find no improvement.</a:t>
            </a:r>
            <a:endParaRPr lang="en-US" sz="950" dirty="0"/>
          </a:p>
        </p:txBody>
      </p:sp>
      <p:sp>
        <p:nvSpPr>
          <p:cNvPr id="8" name="Shape 5"/>
          <p:cNvSpPr/>
          <p:nvPr/>
        </p:nvSpPr>
        <p:spPr>
          <a:xfrm>
            <a:off x="4297680" y="1325880"/>
            <a:ext cx="3611880" cy="1783080"/>
          </a:xfrm>
          <a:prstGeom prst="roundRect">
            <a:avLst>
              <a:gd name="adj" fmla="val 3590"/>
            </a:avLst>
          </a:prstGeom>
          <a:solidFill>
            <a:srgbClr val="FBF9F4"/>
          </a:solidFill>
          <a:ln w="9525">
            <a:solidFill>
              <a:srgbClr val="DDD5C3"/>
            </a:solidFill>
            <a:prstDash val="solid"/>
          </a:ln>
        </p:spPr>
      </p:sp>
      <p:sp>
        <p:nvSpPr>
          <p:cNvPr id="9" name="Text 6"/>
          <p:cNvSpPr txBox="1"/>
          <p:nvPr/>
        </p:nvSpPr>
        <p:spPr>
          <a:xfrm>
            <a:off x="4462272" y="1417320"/>
            <a:ext cx="2743200" cy="182880"/>
          </a:xfrm>
          <a:prstGeom prst="rect">
            <a:avLst/>
          </a:prstGeom>
          <a:noFill/>
          <a:ln/>
        </p:spPr>
        <p:txBody>
          <a:bodyPr wrap="square" lIns="0" tIns="0" rIns="0" bIns="0" rtlCol="0" anchor="t"/>
          <a:lstStyle/>
          <a:p>
            <a:pPr marL="0" indent="0">
              <a:buNone/>
            </a:pPr>
            <a:r>
              <a:rPr lang="en-US" sz="900" kern="0" spc="150" dirty="0">
                <a:solidFill>
                  <a:srgbClr val="B4642F"/>
                </a:solidFill>
                <a:latin typeface="Consolas" pitchFamily="34" charset="0"/>
                <a:ea typeface="Consolas" pitchFamily="34" charset="-122"/>
                <a:cs typeface="Consolas" pitchFamily="34" charset="-120"/>
              </a:rPr>
              <a:t>CONSTRAINTS</a:t>
            </a:r>
            <a:endParaRPr lang="en-US" sz="900" dirty="0"/>
          </a:p>
        </p:txBody>
      </p:sp>
      <p:sp>
        <p:nvSpPr>
          <p:cNvPr id="10" name="Text 7"/>
          <p:cNvSpPr txBox="1"/>
          <p:nvPr/>
        </p:nvSpPr>
        <p:spPr>
          <a:xfrm>
            <a:off x="4462272" y="1645920"/>
            <a:ext cx="3310128" cy="1417320"/>
          </a:xfrm>
          <a:prstGeom prst="rect">
            <a:avLst/>
          </a:prstGeom>
          <a:noFill/>
          <a:ln/>
        </p:spPr>
        <p:txBody>
          <a:bodyPr wrap="square" lIns="0" tIns="0" rIns="0" bIns="0" rtlCol="0" anchor="t"/>
          <a:lstStyle/>
          <a:p>
            <a:pPr marL="0" indent="0">
              <a:buNone/>
            </a:pPr>
            <a:r>
              <a:rPr lang="en-US" sz="950" dirty="0">
                <a:solidFill>
                  <a:srgbClr val="3A4A66"/>
                </a:solidFill>
                <a:latin typeface="Segoe UI" pitchFamily="34" charset="0"/>
                <a:ea typeface="Segoe UI" pitchFamily="34" charset="-122"/>
                <a:cs typeface="Segoe UI" pitchFamily="34" charset="-120"/>
              </a:rPr>
              <a:t>Hard rules: one appointment per resource; journey order and transfers; right resource type; not before ready or now; nothing on an unavailable resource; protected slots no worse; starts within 5 min kept. Limits by design: no one waits more than 30 min longer; overtime not increased.</a:t>
            </a:r>
            <a:endParaRPr lang="en-US" sz="950" dirty="0"/>
          </a:p>
        </p:txBody>
      </p:sp>
      <p:sp>
        <p:nvSpPr>
          <p:cNvPr id="11" name="Shape 8"/>
          <p:cNvSpPr/>
          <p:nvPr/>
        </p:nvSpPr>
        <p:spPr>
          <a:xfrm>
            <a:off x="8046720" y="1325880"/>
            <a:ext cx="3611880" cy="1783080"/>
          </a:xfrm>
          <a:prstGeom prst="roundRect">
            <a:avLst>
              <a:gd name="adj" fmla="val 3590"/>
            </a:avLst>
          </a:prstGeom>
          <a:solidFill>
            <a:srgbClr val="FBF9F4"/>
          </a:solidFill>
          <a:ln w="9525">
            <a:solidFill>
              <a:srgbClr val="DDD5C3"/>
            </a:solidFill>
            <a:prstDash val="solid"/>
          </a:ln>
        </p:spPr>
      </p:sp>
      <p:sp>
        <p:nvSpPr>
          <p:cNvPr id="12" name="Text 9"/>
          <p:cNvSpPr txBox="1"/>
          <p:nvPr/>
        </p:nvSpPr>
        <p:spPr>
          <a:xfrm>
            <a:off x="8211312" y="1417320"/>
            <a:ext cx="2743200" cy="182880"/>
          </a:xfrm>
          <a:prstGeom prst="rect">
            <a:avLst/>
          </a:prstGeom>
          <a:noFill/>
          <a:ln/>
        </p:spPr>
        <p:txBody>
          <a:bodyPr wrap="square" lIns="0" tIns="0" rIns="0" bIns="0" rtlCol="0" anchor="t"/>
          <a:lstStyle/>
          <a:p>
            <a:pPr marL="0" indent="0">
              <a:buNone/>
            </a:pPr>
            <a:r>
              <a:rPr lang="en-US" sz="900" kern="0" spc="150" dirty="0">
                <a:solidFill>
                  <a:srgbClr val="B4642F"/>
                </a:solidFill>
                <a:latin typeface="Consolas" pitchFamily="34" charset="0"/>
                <a:ea typeface="Consolas" pitchFamily="34" charset="-122"/>
                <a:cs typeface="Consolas" pitchFamily="34" charset="-120"/>
              </a:rPr>
              <a:t>OBJECTIVES</a:t>
            </a:r>
            <a:endParaRPr lang="en-US" sz="900" dirty="0"/>
          </a:p>
        </p:txBody>
      </p:sp>
      <p:sp>
        <p:nvSpPr>
          <p:cNvPr id="13" name="Text 10"/>
          <p:cNvSpPr txBox="1"/>
          <p:nvPr/>
        </p:nvSpPr>
        <p:spPr>
          <a:xfrm>
            <a:off x="8211312" y="1645920"/>
            <a:ext cx="3310128" cy="1417320"/>
          </a:xfrm>
          <a:prstGeom prst="rect">
            <a:avLst/>
          </a:prstGeom>
          <a:noFill/>
          <a:ln/>
        </p:spPr>
        <p:txBody>
          <a:bodyPr wrap="square" lIns="0" tIns="0" rIns="0" bIns="0" rtlCol="0" anchor="t"/>
          <a:lstStyle/>
          <a:p>
            <a:pPr marL="0" indent="0">
              <a:buNone/>
            </a:pPr>
            <a:r>
              <a:rPr lang="en-US" sz="950" dirty="0">
                <a:solidFill>
                  <a:srgbClr val="3A4A66"/>
                </a:solidFill>
                <a:latin typeface="Segoe UI" pitchFamily="34" charset="0"/>
                <a:ea typeface="Segoe UI" pitchFamily="34" charset="-122"/>
                <a:cs typeface="Segoe UI" pitchFamily="34" charset="-120"/>
              </a:rPr>
              <a:t>Fewest waiting minutes: −80 planned, 42 changes (recommended). Protect priority and the longest waits: −40, 33 changes. Fewest changes: −11, 11 changes. Different objectives give different trade-offs, which is why a person chooses.</a:t>
            </a:r>
            <a:endParaRPr lang="en-US" sz="950" dirty="0"/>
          </a:p>
        </p:txBody>
      </p:sp>
      <p:sp>
        <p:nvSpPr>
          <p:cNvPr id="14" name="Text 11"/>
          <p:cNvSpPr txBox="1"/>
          <p:nvPr/>
        </p:nvSpPr>
        <p:spPr>
          <a:xfrm>
            <a:off x="548640" y="3291840"/>
            <a:ext cx="11064240" cy="182880"/>
          </a:xfrm>
          <a:prstGeom prst="rect">
            <a:avLst/>
          </a:prstGeom>
          <a:noFill/>
          <a:ln/>
        </p:spPr>
        <p:txBody>
          <a:bodyPr wrap="square" lIns="0" tIns="0" rIns="0" bIns="0" rtlCol="0" anchor="t"/>
          <a:lstStyle/>
          <a:p>
            <a:pPr marL="0" indent="0">
              <a:buNone/>
            </a:pPr>
            <a:r>
              <a:rPr lang="en-US" sz="800" kern="0" spc="80" dirty="0">
                <a:solidFill>
                  <a:srgbClr val="B4642F"/>
                </a:solidFill>
                <a:latin typeface="Consolas" pitchFamily="34" charset="0"/>
                <a:ea typeface="Consolas" pitchFamily="34" charset="-122"/>
                <a:cs typeface="Consolas" pitchFamily="34" charset="-120"/>
              </a:rPr>
              <a:t>SEVEN REAL MOVES FROM THE PROPOSAL (ACTION DESK) · CHIP = APPOINTMENT START TIME · DASHED = PROPOSED POSITION</a:t>
            </a:r>
            <a:endParaRPr lang="en-US" sz="800" dirty="0"/>
          </a:p>
        </p:txBody>
      </p:sp>
      <p:sp>
        <p:nvSpPr>
          <p:cNvPr id="15" name="Shape 12"/>
          <p:cNvSpPr/>
          <p:nvPr/>
        </p:nvSpPr>
        <p:spPr>
          <a:xfrm>
            <a:off x="548640" y="3566160"/>
            <a:ext cx="11091672" cy="658368"/>
          </a:xfrm>
          <a:prstGeom prst="roundRect">
            <a:avLst>
              <a:gd name="adj" fmla="val 4167"/>
            </a:avLst>
          </a:prstGeom>
          <a:solidFill>
            <a:srgbClr val="FBF9F4"/>
          </a:solidFill>
          <a:ln w="9525">
            <a:solidFill>
              <a:srgbClr val="DDD5C3"/>
            </a:solidFill>
            <a:prstDash val="solid"/>
          </a:ln>
        </p:spPr>
      </p:sp>
      <p:sp>
        <p:nvSpPr>
          <p:cNvPr id="16" name="Text 13"/>
          <p:cNvSpPr txBox="1"/>
          <p:nvPr/>
        </p:nvSpPr>
        <p:spPr>
          <a:xfrm>
            <a:off x="658368" y="3675888"/>
            <a:ext cx="822960" cy="228600"/>
          </a:xfrm>
          <a:prstGeom prst="rect">
            <a:avLst/>
          </a:prstGeom>
          <a:noFill/>
          <a:ln/>
        </p:spPr>
        <p:txBody>
          <a:bodyPr wrap="square" lIns="0" tIns="0" rIns="0" bIns="0" rtlCol="0" anchor="t"/>
          <a:lstStyle/>
          <a:p>
            <a:pPr marL="0" indent="0">
              <a:buNone/>
            </a:pPr>
            <a:r>
              <a:rPr lang="en-US" sz="1000" b="1" dirty="0">
                <a:solidFill>
                  <a:srgbClr val="15233B"/>
                </a:solidFill>
                <a:latin typeface="Consolas" pitchFamily="34" charset="0"/>
                <a:ea typeface="Consolas" pitchFamily="34" charset="-122"/>
                <a:cs typeface="Consolas" pitchFamily="34" charset="-120"/>
              </a:rPr>
              <a:t>GP-1</a:t>
            </a:r>
            <a:endParaRPr lang="en-US" sz="1000" dirty="0"/>
          </a:p>
        </p:txBody>
      </p:sp>
      <p:sp>
        <p:nvSpPr>
          <p:cNvPr id="17" name="Text 14"/>
          <p:cNvSpPr txBox="1"/>
          <p:nvPr/>
        </p:nvSpPr>
        <p:spPr>
          <a:xfrm>
            <a:off x="658368" y="3931920"/>
            <a:ext cx="914400" cy="182880"/>
          </a:xfrm>
          <a:prstGeom prst="rect">
            <a:avLst/>
          </a:prstGeom>
          <a:noFill/>
          <a:ln/>
        </p:spPr>
        <p:txBody>
          <a:bodyPr wrap="square" lIns="0" tIns="0" rIns="0" bIns="0" rtlCol="0" anchor="t"/>
          <a:lstStyle/>
          <a:p>
            <a:pPr marL="0" indent="0">
              <a:buNone/>
            </a:pPr>
            <a:r>
              <a:rPr lang="en-US" sz="800" dirty="0">
                <a:solidFill>
                  <a:srgbClr val="7B7566"/>
                </a:solidFill>
                <a:latin typeface="Segoe UI" pitchFamily="34" charset="0"/>
                <a:ea typeface="Segoe UI" pitchFamily="34" charset="-122"/>
                <a:cs typeface="Segoe UI" pitchFamily="34" charset="-120"/>
              </a:rPr>
              <a:t>Station 1</a:t>
            </a:r>
            <a:endParaRPr lang="en-US" sz="800" dirty="0"/>
          </a:p>
        </p:txBody>
      </p:sp>
      <p:sp>
        <p:nvSpPr>
          <p:cNvPr id="18" name="Shape 15"/>
          <p:cNvSpPr/>
          <p:nvPr/>
        </p:nvSpPr>
        <p:spPr>
          <a:xfrm>
            <a:off x="548640" y="4270248"/>
            <a:ext cx="11091672" cy="658368"/>
          </a:xfrm>
          <a:prstGeom prst="roundRect">
            <a:avLst>
              <a:gd name="adj" fmla="val 4167"/>
            </a:avLst>
          </a:prstGeom>
          <a:solidFill>
            <a:srgbClr val="F2DFD0"/>
          </a:solidFill>
          <a:ln w="9525">
            <a:solidFill>
              <a:srgbClr val="DDD5C3"/>
            </a:solidFill>
            <a:prstDash val="solid"/>
          </a:ln>
        </p:spPr>
      </p:sp>
      <p:sp>
        <p:nvSpPr>
          <p:cNvPr id="19" name="Text 16"/>
          <p:cNvSpPr txBox="1"/>
          <p:nvPr/>
        </p:nvSpPr>
        <p:spPr>
          <a:xfrm>
            <a:off x="658368" y="4379976"/>
            <a:ext cx="822960" cy="228600"/>
          </a:xfrm>
          <a:prstGeom prst="rect">
            <a:avLst/>
          </a:prstGeom>
          <a:noFill/>
          <a:ln/>
        </p:spPr>
        <p:txBody>
          <a:bodyPr wrap="square" lIns="0" tIns="0" rIns="0" bIns="0" rtlCol="0" anchor="t"/>
          <a:lstStyle/>
          <a:p>
            <a:pPr marL="0" indent="0">
              <a:buNone/>
            </a:pPr>
            <a:r>
              <a:rPr lang="en-US" sz="1000" b="1" dirty="0">
                <a:solidFill>
                  <a:srgbClr val="15233B"/>
                </a:solidFill>
                <a:latin typeface="Consolas" pitchFamily="34" charset="0"/>
                <a:ea typeface="Consolas" pitchFamily="34" charset="-122"/>
                <a:cs typeface="Consolas" pitchFamily="34" charset="-120"/>
              </a:rPr>
              <a:t>GP-2</a:t>
            </a:r>
            <a:endParaRPr lang="en-US" sz="1000" dirty="0"/>
          </a:p>
        </p:txBody>
      </p:sp>
      <p:sp>
        <p:nvSpPr>
          <p:cNvPr id="20" name="Text 17"/>
          <p:cNvSpPr txBox="1"/>
          <p:nvPr/>
        </p:nvSpPr>
        <p:spPr>
          <a:xfrm>
            <a:off x="658368" y="4636008"/>
            <a:ext cx="914400" cy="182880"/>
          </a:xfrm>
          <a:prstGeom prst="rect">
            <a:avLst/>
          </a:prstGeom>
          <a:noFill/>
          <a:ln/>
        </p:spPr>
        <p:txBody>
          <a:bodyPr wrap="square" lIns="0" tIns="0" rIns="0" bIns="0" rtlCol="0" anchor="t"/>
          <a:lstStyle/>
          <a:p>
            <a:pPr marL="0" indent="0">
              <a:buNone/>
            </a:pPr>
            <a:r>
              <a:rPr lang="en-US" sz="800" dirty="0">
                <a:solidFill>
                  <a:srgbClr val="B4642F"/>
                </a:solidFill>
                <a:latin typeface="Segoe UI" pitchFamily="34" charset="0"/>
                <a:ea typeface="Segoe UI" pitchFamily="34" charset="-122"/>
                <a:cs typeface="Segoe UI" pitchFamily="34" charset="-120"/>
              </a:rPr>
              <a:t>Clinician B out</a:t>
            </a:r>
            <a:endParaRPr lang="en-US" sz="800" dirty="0"/>
          </a:p>
        </p:txBody>
      </p:sp>
      <p:sp>
        <p:nvSpPr>
          <p:cNvPr id="21" name="Shape 18"/>
          <p:cNvSpPr/>
          <p:nvPr/>
        </p:nvSpPr>
        <p:spPr>
          <a:xfrm>
            <a:off x="548640" y="4974336"/>
            <a:ext cx="11091672" cy="658368"/>
          </a:xfrm>
          <a:prstGeom prst="roundRect">
            <a:avLst>
              <a:gd name="adj" fmla="val 4167"/>
            </a:avLst>
          </a:prstGeom>
          <a:solidFill>
            <a:srgbClr val="FBF9F4"/>
          </a:solidFill>
          <a:ln w="9525">
            <a:solidFill>
              <a:srgbClr val="DDD5C3"/>
            </a:solidFill>
            <a:prstDash val="solid"/>
          </a:ln>
        </p:spPr>
      </p:sp>
      <p:sp>
        <p:nvSpPr>
          <p:cNvPr id="22" name="Text 19"/>
          <p:cNvSpPr txBox="1"/>
          <p:nvPr/>
        </p:nvSpPr>
        <p:spPr>
          <a:xfrm>
            <a:off x="658368" y="5084064"/>
            <a:ext cx="822960" cy="228600"/>
          </a:xfrm>
          <a:prstGeom prst="rect">
            <a:avLst/>
          </a:prstGeom>
          <a:noFill/>
          <a:ln/>
        </p:spPr>
        <p:txBody>
          <a:bodyPr wrap="square" lIns="0" tIns="0" rIns="0" bIns="0" rtlCol="0" anchor="t"/>
          <a:lstStyle/>
          <a:p>
            <a:pPr marL="0" indent="0">
              <a:buNone/>
            </a:pPr>
            <a:r>
              <a:rPr lang="en-US" sz="1000" b="1" dirty="0">
                <a:solidFill>
                  <a:srgbClr val="15233B"/>
                </a:solidFill>
                <a:latin typeface="Consolas" pitchFamily="34" charset="0"/>
                <a:ea typeface="Consolas" pitchFamily="34" charset="-122"/>
                <a:cs typeface="Consolas" pitchFamily="34" charset="-120"/>
              </a:rPr>
              <a:t>GP-3</a:t>
            </a:r>
            <a:endParaRPr lang="en-US" sz="1000" dirty="0"/>
          </a:p>
        </p:txBody>
      </p:sp>
      <p:sp>
        <p:nvSpPr>
          <p:cNvPr id="23" name="Text 20"/>
          <p:cNvSpPr txBox="1"/>
          <p:nvPr/>
        </p:nvSpPr>
        <p:spPr>
          <a:xfrm>
            <a:off x="658368" y="5340096"/>
            <a:ext cx="914400" cy="182880"/>
          </a:xfrm>
          <a:prstGeom prst="rect">
            <a:avLst/>
          </a:prstGeom>
          <a:noFill/>
          <a:ln/>
        </p:spPr>
        <p:txBody>
          <a:bodyPr wrap="square" lIns="0" tIns="0" rIns="0" bIns="0" rtlCol="0" anchor="t"/>
          <a:lstStyle/>
          <a:p>
            <a:pPr marL="0" indent="0">
              <a:buNone/>
            </a:pPr>
            <a:r>
              <a:rPr lang="en-US" sz="800" dirty="0">
                <a:solidFill>
                  <a:srgbClr val="7B7566"/>
                </a:solidFill>
                <a:latin typeface="Segoe UI" pitchFamily="34" charset="0"/>
                <a:ea typeface="Segoe UI" pitchFamily="34" charset="-122"/>
                <a:cs typeface="Segoe UI" pitchFamily="34" charset="-120"/>
              </a:rPr>
              <a:t>Station 3</a:t>
            </a:r>
            <a:endParaRPr lang="en-US" sz="800" dirty="0"/>
          </a:p>
        </p:txBody>
      </p:sp>
      <p:sp>
        <p:nvSpPr>
          <p:cNvPr id="24" name="Shape 21"/>
          <p:cNvSpPr/>
          <p:nvPr/>
        </p:nvSpPr>
        <p:spPr>
          <a:xfrm>
            <a:off x="1600200" y="4315968"/>
            <a:ext cx="6869927" cy="566928"/>
          </a:xfrm>
          <a:prstGeom prst="roundRect">
            <a:avLst>
              <a:gd name="adj" fmla="val 4839"/>
            </a:avLst>
          </a:prstGeom>
          <a:solidFill>
            <a:srgbClr val="B4642F">
              <a:alpha val="30000"/>
            </a:srgbClr>
          </a:solidFill>
          <a:ln w="12700">
            <a:solidFill>
              <a:srgbClr val="B4642F"/>
            </a:solidFill>
            <a:prstDash val="dash"/>
          </a:ln>
        </p:spPr>
      </p:sp>
      <p:sp>
        <p:nvSpPr>
          <p:cNvPr id="25" name="Text 22"/>
          <p:cNvSpPr txBox="1"/>
          <p:nvPr/>
        </p:nvSpPr>
        <p:spPr>
          <a:xfrm>
            <a:off x="1691640" y="4507992"/>
            <a:ext cx="2011680" cy="182880"/>
          </a:xfrm>
          <a:prstGeom prst="rect">
            <a:avLst/>
          </a:prstGeom>
          <a:noFill/>
          <a:ln/>
        </p:spPr>
        <p:txBody>
          <a:bodyPr wrap="square" lIns="0" tIns="0" rIns="0" bIns="0" rtlCol="0" anchor="t"/>
          <a:lstStyle/>
          <a:p>
            <a:pPr marL="0" indent="0">
              <a:buNone/>
            </a:pPr>
            <a:r>
              <a:rPr lang="en-US" sz="900" b="1" dirty="0">
                <a:solidFill>
                  <a:srgbClr val="B4642F"/>
                </a:solidFill>
                <a:latin typeface="Consolas" pitchFamily="34" charset="0"/>
                <a:ea typeface="Consolas" pitchFamily="34" charset="-122"/>
                <a:cs typeface="Consolas" pitchFamily="34" charset="-120"/>
              </a:rPr>
              <a:t>OUTAGE 10:30–13:30</a:t>
            </a:r>
            <a:endParaRPr lang="en-US" sz="900" dirty="0"/>
          </a:p>
        </p:txBody>
      </p:sp>
      <p:sp>
        <p:nvSpPr>
          <p:cNvPr id="26" name="Shape 23"/>
          <p:cNvSpPr/>
          <p:nvPr/>
        </p:nvSpPr>
        <p:spPr>
          <a:xfrm>
            <a:off x="2029570" y="3566160"/>
            <a:ext cx="0" cy="2066544"/>
          </a:xfrm>
          <a:prstGeom prst="line">
            <a:avLst/>
          </a:prstGeom>
          <a:noFill/>
          <a:ln w="6350">
            <a:solidFill>
              <a:srgbClr val="CBC2AB"/>
            </a:solidFill>
            <a:prstDash val="dash"/>
          </a:ln>
        </p:spPr>
      </p:sp>
      <p:sp>
        <p:nvSpPr>
          <p:cNvPr id="27" name="Text 24"/>
          <p:cNvSpPr txBox="1"/>
          <p:nvPr/>
        </p:nvSpPr>
        <p:spPr>
          <a:xfrm>
            <a:off x="1755250" y="5650992"/>
            <a:ext cx="548640" cy="146304"/>
          </a:xfrm>
          <a:prstGeom prst="rect">
            <a:avLst/>
          </a:prstGeom>
          <a:noFill/>
          <a:ln/>
        </p:spPr>
        <p:txBody>
          <a:bodyPr wrap="square" lIns="0" tIns="0" rIns="0" bIns="0" rtlCol="0" anchor="t"/>
          <a:lstStyle/>
          <a:p>
            <a:pPr marL="0" indent="0" algn="ctr">
              <a:buNone/>
            </a:pPr>
            <a:r>
              <a:rPr lang="en-US" sz="800" dirty="0">
                <a:solidFill>
                  <a:srgbClr val="7B7566"/>
                </a:solidFill>
                <a:latin typeface="Consolas" pitchFamily="34" charset="0"/>
                <a:ea typeface="Consolas" pitchFamily="34" charset="-122"/>
                <a:cs typeface="Consolas" pitchFamily="34" charset="-120"/>
              </a:rPr>
              <a:t>11:00</a:t>
            </a:r>
            <a:endParaRPr lang="en-US" sz="800" dirty="0"/>
          </a:p>
        </p:txBody>
      </p:sp>
      <p:sp>
        <p:nvSpPr>
          <p:cNvPr id="28" name="Shape 25"/>
          <p:cNvSpPr/>
          <p:nvPr/>
        </p:nvSpPr>
        <p:spPr>
          <a:xfrm>
            <a:off x="4605793" y="3566160"/>
            <a:ext cx="0" cy="2066544"/>
          </a:xfrm>
          <a:prstGeom prst="line">
            <a:avLst/>
          </a:prstGeom>
          <a:noFill/>
          <a:ln w="6350">
            <a:solidFill>
              <a:srgbClr val="CBC2AB"/>
            </a:solidFill>
            <a:prstDash val="dash"/>
          </a:ln>
        </p:spPr>
      </p:sp>
      <p:sp>
        <p:nvSpPr>
          <p:cNvPr id="29" name="Text 26"/>
          <p:cNvSpPr txBox="1"/>
          <p:nvPr/>
        </p:nvSpPr>
        <p:spPr>
          <a:xfrm>
            <a:off x="4331473" y="5650992"/>
            <a:ext cx="548640" cy="146304"/>
          </a:xfrm>
          <a:prstGeom prst="rect">
            <a:avLst/>
          </a:prstGeom>
          <a:noFill/>
          <a:ln/>
        </p:spPr>
        <p:txBody>
          <a:bodyPr wrap="square" lIns="0" tIns="0" rIns="0" bIns="0" rtlCol="0" anchor="t"/>
          <a:lstStyle/>
          <a:p>
            <a:pPr marL="0" indent="0" algn="ctr">
              <a:buNone/>
            </a:pPr>
            <a:r>
              <a:rPr lang="en-US" sz="800" dirty="0">
                <a:solidFill>
                  <a:srgbClr val="7B7566"/>
                </a:solidFill>
                <a:latin typeface="Consolas" pitchFamily="34" charset="0"/>
                <a:ea typeface="Consolas" pitchFamily="34" charset="-122"/>
                <a:cs typeface="Consolas" pitchFamily="34" charset="-120"/>
              </a:rPr>
              <a:t>12:00</a:t>
            </a:r>
            <a:endParaRPr lang="en-US" sz="800" dirty="0"/>
          </a:p>
        </p:txBody>
      </p:sp>
      <p:sp>
        <p:nvSpPr>
          <p:cNvPr id="30" name="Shape 27"/>
          <p:cNvSpPr/>
          <p:nvPr/>
        </p:nvSpPr>
        <p:spPr>
          <a:xfrm>
            <a:off x="7182016" y="3566160"/>
            <a:ext cx="0" cy="2066544"/>
          </a:xfrm>
          <a:prstGeom prst="line">
            <a:avLst/>
          </a:prstGeom>
          <a:noFill/>
          <a:ln w="6350">
            <a:solidFill>
              <a:srgbClr val="CBC2AB"/>
            </a:solidFill>
            <a:prstDash val="dash"/>
          </a:ln>
        </p:spPr>
      </p:sp>
      <p:sp>
        <p:nvSpPr>
          <p:cNvPr id="31" name="Text 28"/>
          <p:cNvSpPr txBox="1"/>
          <p:nvPr/>
        </p:nvSpPr>
        <p:spPr>
          <a:xfrm>
            <a:off x="6907696" y="5650992"/>
            <a:ext cx="548640" cy="146304"/>
          </a:xfrm>
          <a:prstGeom prst="rect">
            <a:avLst/>
          </a:prstGeom>
          <a:noFill/>
          <a:ln/>
        </p:spPr>
        <p:txBody>
          <a:bodyPr wrap="square" lIns="0" tIns="0" rIns="0" bIns="0" rtlCol="0" anchor="t"/>
          <a:lstStyle/>
          <a:p>
            <a:pPr marL="0" indent="0" algn="ctr">
              <a:buNone/>
            </a:pPr>
            <a:r>
              <a:rPr lang="en-US" sz="800" dirty="0">
                <a:solidFill>
                  <a:srgbClr val="7B7566"/>
                </a:solidFill>
                <a:latin typeface="Consolas" pitchFamily="34" charset="0"/>
                <a:ea typeface="Consolas" pitchFamily="34" charset="-122"/>
                <a:cs typeface="Consolas" pitchFamily="34" charset="-120"/>
              </a:rPr>
              <a:t>13:00</a:t>
            </a:r>
            <a:endParaRPr lang="en-US" sz="800" dirty="0"/>
          </a:p>
        </p:txBody>
      </p:sp>
      <p:sp>
        <p:nvSpPr>
          <p:cNvPr id="32" name="Shape 29"/>
          <p:cNvSpPr/>
          <p:nvPr/>
        </p:nvSpPr>
        <p:spPr>
          <a:xfrm>
            <a:off x="9758238" y="3566160"/>
            <a:ext cx="0" cy="2066544"/>
          </a:xfrm>
          <a:prstGeom prst="line">
            <a:avLst/>
          </a:prstGeom>
          <a:noFill/>
          <a:ln w="6350">
            <a:solidFill>
              <a:srgbClr val="CBC2AB"/>
            </a:solidFill>
            <a:prstDash val="dash"/>
          </a:ln>
        </p:spPr>
      </p:sp>
      <p:sp>
        <p:nvSpPr>
          <p:cNvPr id="33" name="Text 30"/>
          <p:cNvSpPr txBox="1"/>
          <p:nvPr/>
        </p:nvSpPr>
        <p:spPr>
          <a:xfrm>
            <a:off x="9483918" y="5650992"/>
            <a:ext cx="548640" cy="146304"/>
          </a:xfrm>
          <a:prstGeom prst="rect">
            <a:avLst/>
          </a:prstGeom>
          <a:noFill/>
          <a:ln/>
        </p:spPr>
        <p:txBody>
          <a:bodyPr wrap="square" lIns="0" tIns="0" rIns="0" bIns="0" rtlCol="0" anchor="t"/>
          <a:lstStyle/>
          <a:p>
            <a:pPr marL="0" indent="0" algn="ctr">
              <a:buNone/>
            </a:pPr>
            <a:r>
              <a:rPr lang="en-US" sz="800" dirty="0">
                <a:solidFill>
                  <a:srgbClr val="7B7566"/>
                </a:solidFill>
                <a:latin typeface="Consolas" pitchFamily="34" charset="0"/>
                <a:ea typeface="Consolas" pitchFamily="34" charset="-122"/>
                <a:cs typeface="Consolas" pitchFamily="34" charset="-120"/>
              </a:rPr>
              <a:t>14:00</a:t>
            </a:r>
            <a:endParaRPr lang="en-US" sz="800" dirty="0"/>
          </a:p>
        </p:txBody>
      </p:sp>
      <p:sp>
        <p:nvSpPr>
          <p:cNvPr id="34" name="SB_target0"/>
          <p:cNvSpPr/>
          <p:nvPr/>
        </p:nvSpPr>
        <p:spPr>
          <a:xfrm>
            <a:off x="1617295" y="3630168"/>
            <a:ext cx="566928" cy="256032"/>
          </a:xfrm>
          <a:prstGeom prst="roundRect">
            <a:avLst>
              <a:gd name="adj" fmla="val 14286"/>
            </a:avLst>
          </a:prstGeom>
          <a:ln w="15875">
            <a:solidFill>
              <a:srgbClr val="1F7B78"/>
            </a:solidFill>
            <a:prstDash val="dash"/>
          </a:ln>
        </p:spPr>
      </p:sp>
      <p:grpSp>
        <p:nvGrpSpPr>
          <p:cNvPr id="56" name="SB_group0">
            <a:extLst>
              <a:ext uri="{FF2B5EF4-FFF2-40B4-BE49-F238E27FC236}">
                <a16:creationId xmlns:a16="http://schemas.microsoft.com/office/drawing/2014/main" id="{48939A95-5FA2-A96D-775B-28F2004BD0C9}"/>
              </a:ext>
            </a:extLst>
          </p:cNvPr>
          <p:cNvGrpSpPr/>
          <p:nvPr/>
        </p:nvGrpSpPr>
        <p:grpSpPr>
          <a:xfrm>
            <a:off x="2089603" y="3630168"/>
            <a:ext cx="566928" cy="256032"/>
            <a:chOff x="2089603" y="3630168"/>
            <a:chExt cx="566928" cy="256032"/>
          </a:xfrm>
        </p:grpSpPr>
        <p:sp>
          <p:nvSpPr>
            <p:cNvPr id="35" name="SB_chip0"/>
            <p:cNvSpPr/>
            <p:nvPr/>
          </p:nvSpPr>
          <p:spPr>
            <a:xfrm>
              <a:off x="2089603" y="3630168"/>
              <a:ext cx="566928" cy="256032"/>
            </a:xfrm>
            <a:prstGeom prst="roundRect">
              <a:avLst>
                <a:gd name="adj" fmla="val 14286"/>
              </a:avLst>
            </a:prstGeom>
            <a:solidFill>
              <a:srgbClr val="1B2D4D"/>
            </a:solidFill>
            <a:ln w="12700">
              <a:solidFill>
                <a:srgbClr val="1B2D4D"/>
              </a:solidFill>
              <a:prstDash val="solid"/>
            </a:ln>
          </p:spPr>
        </p:sp>
        <p:sp>
          <p:nvSpPr>
            <p:cNvPr id="36" name="SB_chiptext0"/>
            <p:cNvSpPr txBox="1"/>
            <p:nvPr/>
          </p:nvSpPr>
          <p:spPr>
            <a:xfrm>
              <a:off x="2089603" y="3630168"/>
              <a:ext cx="56692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onsolas" pitchFamily="34" charset="0"/>
                  <a:ea typeface="Consolas" pitchFamily="34" charset="-122"/>
                  <a:cs typeface="Consolas" pitchFamily="34" charset="-120"/>
                </a:rPr>
                <a:t>J-011</a:t>
              </a:r>
              <a:endParaRPr lang="en-US" sz="900" dirty="0"/>
            </a:p>
          </p:txBody>
        </p:sp>
      </p:grpSp>
      <p:sp>
        <p:nvSpPr>
          <p:cNvPr id="37" name="SB_target1"/>
          <p:cNvSpPr/>
          <p:nvPr/>
        </p:nvSpPr>
        <p:spPr>
          <a:xfrm>
            <a:off x="4193518" y="5038344"/>
            <a:ext cx="566928" cy="256032"/>
          </a:xfrm>
          <a:prstGeom prst="roundRect">
            <a:avLst>
              <a:gd name="adj" fmla="val 14286"/>
            </a:avLst>
          </a:prstGeom>
          <a:ln w="15875">
            <a:solidFill>
              <a:srgbClr val="1F7B78"/>
            </a:solidFill>
            <a:prstDash val="dash"/>
          </a:ln>
        </p:spPr>
      </p:sp>
      <p:grpSp>
        <p:nvGrpSpPr>
          <p:cNvPr id="57" name="SB_group1">
            <a:extLst>
              <a:ext uri="{FF2B5EF4-FFF2-40B4-BE49-F238E27FC236}">
                <a16:creationId xmlns:a16="http://schemas.microsoft.com/office/drawing/2014/main" id="{C5A4A982-C84B-D411-808A-AB1DD1BBB2C6}"/>
              </a:ext>
            </a:extLst>
          </p:cNvPr>
          <p:cNvGrpSpPr/>
          <p:nvPr/>
        </p:nvGrpSpPr>
        <p:grpSpPr>
          <a:xfrm>
            <a:off x="5095196" y="5038344"/>
            <a:ext cx="566928" cy="256032"/>
            <a:chOff x="5095196" y="5038344"/>
            <a:chExt cx="566928" cy="256032"/>
          </a:xfrm>
        </p:grpSpPr>
        <p:sp>
          <p:nvSpPr>
            <p:cNvPr id="38" name="SB_chip1"/>
            <p:cNvSpPr/>
            <p:nvPr/>
          </p:nvSpPr>
          <p:spPr>
            <a:xfrm>
              <a:off x="5095196" y="5038344"/>
              <a:ext cx="566928" cy="256032"/>
            </a:xfrm>
            <a:prstGeom prst="roundRect">
              <a:avLst>
                <a:gd name="adj" fmla="val 14286"/>
              </a:avLst>
            </a:prstGeom>
            <a:solidFill>
              <a:srgbClr val="1B2D4D"/>
            </a:solidFill>
            <a:ln w="12700">
              <a:solidFill>
                <a:srgbClr val="1B2D4D"/>
              </a:solidFill>
              <a:prstDash val="solid"/>
            </a:ln>
          </p:spPr>
        </p:sp>
        <p:sp>
          <p:nvSpPr>
            <p:cNvPr id="39" name="SB_chiptext1"/>
            <p:cNvSpPr txBox="1"/>
            <p:nvPr/>
          </p:nvSpPr>
          <p:spPr>
            <a:xfrm>
              <a:off x="5095196" y="5038344"/>
              <a:ext cx="56692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onsolas" pitchFamily="34" charset="0"/>
                  <a:ea typeface="Consolas" pitchFamily="34" charset="-122"/>
                  <a:cs typeface="Consolas" pitchFamily="34" charset="-120"/>
                </a:rPr>
                <a:t>J-036</a:t>
              </a:r>
              <a:endParaRPr lang="en-US" sz="900" dirty="0"/>
            </a:p>
          </p:txBody>
        </p:sp>
      </p:grpSp>
      <p:sp>
        <p:nvSpPr>
          <p:cNvPr id="40" name="SB_target2"/>
          <p:cNvSpPr/>
          <p:nvPr/>
        </p:nvSpPr>
        <p:spPr>
          <a:xfrm>
            <a:off x="4622888" y="5340096"/>
            <a:ext cx="566928" cy="256032"/>
          </a:xfrm>
          <a:prstGeom prst="roundRect">
            <a:avLst>
              <a:gd name="adj" fmla="val 14286"/>
            </a:avLst>
          </a:prstGeom>
          <a:ln w="15875">
            <a:solidFill>
              <a:srgbClr val="1F7B78"/>
            </a:solidFill>
            <a:prstDash val="dash"/>
          </a:ln>
        </p:spPr>
      </p:sp>
      <p:grpSp>
        <p:nvGrpSpPr>
          <p:cNvPr id="58" name="SB_group2">
            <a:extLst>
              <a:ext uri="{FF2B5EF4-FFF2-40B4-BE49-F238E27FC236}">
                <a16:creationId xmlns:a16="http://schemas.microsoft.com/office/drawing/2014/main" id="{9A3E9FB2-4A0A-6FAD-201C-B95BDE463ECE}"/>
              </a:ext>
            </a:extLst>
          </p:cNvPr>
          <p:cNvGrpSpPr/>
          <p:nvPr/>
        </p:nvGrpSpPr>
        <p:grpSpPr>
          <a:xfrm>
            <a:off x="5524566" y="5340096"/>
            <a:ext cx="566928" cy="256032"/>
            <a:chOff x="5524566" y="5340096"/>
            <a:chExt cx="566928" cy="256032"/>
          </a:xfrm>
        </p:grpSpPr>
        <p:sp>
          <p:nvSpPr>
            <p:cNvPr id="41" name="SB_chip2"/>
            <p:cNvSpPr/>
            <p:nvPr/>
          </p:nvSpPr>
          <p:spPr>
            <a:xfrm>
              <a:off x="5524566" y="5340096"/>
              <a:ext cx="566928" cy="256032"/>
            </a:xfrm>
            <a:prstGeom prst="roundRect">
              <a:avLst>
                <a:gd name="adj" fmla="val 14286"/>
              </a:avLst>
            </a:prstGeom>
            <a:solidFill>
              <a:srgbClr val="1B2D4D"/>
            </a:solidFill>
            <a:ln w="12700">
              <a:solidFill>
                <a:srgbClr val="1B2D4D"/>
              </a:solidFill>
              <a:prstDash val="solid"/>
            </a:ln>
          </p:spPr>
        </p:sp>
        <p:sp>
          <p:nvSpPr>
            <p:cNvPr id="42" name="SB_chiptext2"/>
            <p:cNvSpPr txBox="1"/>
            <p:nvPr/>
          </p:nvSpPr>
          <p:spPr>
            <a:xfrm>
              <a:off x="5524566" y="5340096"/>
              <a:ext cx="56692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onsolas" pitchFamily="34" charset="0"/>
                  <a:ea typeface="Consolas" pitchFamily="34" charset="-122"/>
                  <a:cs typeface="Consolas" pitchFamily="34" charset="-120"/>
                </a:rPr>
                <a:t>J-038</a:t>
              </a:r>
              <a:endParaRPr lang="en-US" sz="900" dirty="0"/>
            </a:p>
          </p:txBody>
        </p:sp>
      </p:grpSp>
      <p:sp>
        <p:nvSpPr>
          <p:cNvPr id="43" name="SB_target3"/>
          <p:cNvSpPr/>
          <p:nvPr/>
        </p:nvSpPr>
        <p:spPr>
          <a:xfrm>
            <a:off x="7843167" y="3630168"/>
            <a:ext cx="566928" cy="256032"/>
          </a:xfrm>
          <a:prstGeom prst="roundRect">
            <a:avLst>
              <a:gd name="adj" fmla="val 14286"/>
            </a:avLst>
          </a:prstGeom>
          <a:ln w="15875">
            <a:solidFill>
              <a:srgbClr val="1F7B78"/>
            </a:solidFill>
            <a:prstDash val="dash"/>
          </a:ln>
        </p:spPr>
      </p:sp>
      <p:grpSp>
        <p:nvGrpSpPr>
          <p:cNvPr id="59" name="SB_group3">
            <a:extLst>
              <a:ext uri="{FF2B5EF4-FFF2-40B4-BE49-F238E27FC236}">
                <a16:creationId xmlns:a16="http://schemas.microsoft.com/office/drawing/2014/main" id="{398BE4F4-FE9B-BE76-4C0F-C62A30A21ED1}"/>
              </a:ext>
            </a:extLst>
          </p:cNvPr>
          <p:cNvGrpSpPr/>
          <p:nvPr/>
        </p:nvGrpSpPr>
        <p:grpSpPr>
          <a:xfrm>
            <a:off x="8315474" y="3630168"/>
            <a:ext cx="566928" cy="256032"/>
            <a:chOff x="8315474" y="3630168"/>
            <a:chExt cx="566928" cy="256032"/>
          </a:xfrm>
        </p:grpSpPr>
        <p:sp>
          <p:nvSpPr>
            <p:cNvPr id="44" name="SB_chip3"/>
            <p:cNvSpPr/>
            <p:nvPr/>
          </p:nvSpPr>
          <p:spPr>
            <a:xfrm>
              <a:off x="8315474" y="3630168"/>
              <a:ext cx="566928" cy="256032"/>
            </a:xfrm>
            <a:prstGeom prst="roundRect">
              <a:avLst>
                <a:gd name="adj" fmla="val 14286"/>
              </a:avLst>
            </a:prstGeom>
            <a:solidFill>
              <a:srgbClr val="1B2D4D"/>
            </a:solidFill>
            <a:ln w="12700">
              <a:solidFill>
                <a:srgbClr val="1B2D4D"/>
              </a:solidFill>
              <a:prstDash val="solid"/>
            </a:ln>
          </p:spPr>
        </p:sp>
        <p:sp>
          <p:nvSpPr>
            <p:cNvPr id="45" name="SB_chiptext3"/>
            <p:cNvSpPr txBox="1"/>
            <p:nvPr/>
          </p:nvSpPr>
          <p:spPr>
            <a:xfrm>
              <a:off x="8315474" y="3630168"/>
              <a:ext cx="56692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onsolas" pitchFamily="34" charset="0"/>
                  <a:ea typeface="Consolas" pitchFamily="34" charset="-122"/>
                  <a:cs typeface="Consolas" pitchFamily="34" charset="-120"/>
                </a:rPr>
                <a:t>J-039</a:t>
              </a:r>
              <a:endParaRPr lang="en-US" sz="900" dirty="0"/>
            </a:p>
          </p:txBody>
        </p:sp>
      </p:grpSp>
      <p:sp>
        <p:nvSpPr>
          <p:cNvPr id="46" name="SB_target4"/>
          <p:cNvSpPr/>
          <p:nvPr/>
        </p:nvSpPr>
        <p:spPr>
          <a:xfrm>
            <a:off x="9388900" y="3931920"/>
            <a:ext cx="566928" cy="256032"/>
          </a:xfrm>
          <a:prstGeom prst="roundRect">
            <a:avLst>
              <a:gd name="adj" fmla="val 14286"/>
            </a:avLst>
          </a:prstGeom>
          <a:ln w="15875">
            <a:solidFill>
              <a:srgbClr val="1F7B78"/>
            </a:solidFill>
            <a:prstDash val="dash"/>
          </a:ln>
        </p:spPr>
      </p:sp>
      <p:grpSp>
        <p:nvGrpSpPr>
          <p:cNvPr id="60" name="SB_group4">
            <a:extLst>
              <a:ext uri="{FF2B5EF4-FFF2-40B4-BE49-F238E27FC236}">
                <a16:creationId xmlns:a16="http://schemas.microsoft.com/office/drawing/2014/main" id="{3D714021-7899-F506-4C61-6175C8D2C444}"/>
              </a:ext>
            </a:extLst>
          </p:cNvPr>
          <p:cNvGrpSpPr/>
          <p:nvPr/>
        </p:nvGrpSpPr>
        <p:grpSpPr>
          <a:xfrm>
            <a:off x="9775334" y="5340096"/>
            <a:ext cx="566928" cy="256032"/>
            <a:chOff x="9775334" y="5340096"/>
            <a:chExt cx="566928" cy="256032"/>
          </a:xfrm>
        </p:grpSpPr>
        <p:sp>
          <p:nvSpPr>
            <p:cNvPr id="47" name="SB_chip4"/>
            <p:cNvSpPr/>
            <p:nvPr/>
          </p:nvSpPr>
          <p:spPr>
            <a:xfrm>
              <a:off x="9775334" y="5340096"/>
              <a:ext cx="566928" cy="256032"/>
            </a:xfrm>
            <a:prstGeom prst="roundRect">
              <a:avLst>
                <a:gd name="adj" fmla="val 14286"/>
              </a:avLst>
            </a:prstGeom>
            <a:solidFill>
              <a:srgbClr val="1B2D4D"/>
            </a:solidFill>
            <a:ln w="12700">
              <a:solidFill>
                <a:srgbClr val="1B2D4D"/>
              </a:solidFill>
              <a:prstDash val="solid"/>
            </a:ln>
          </p:spPr>
        </p:sp>
        <p:sp>
          <p:nvSpPr>
            <p:cNvPr id="48" name="SB_chiptext4"/>
            <p:cNvSpPr txBox="1"/>
            <p:nvPr/>
          </p:nvSpPr>
          <p:spPr>
            <a:xfrm>
              <a:off x="9775334" y="5340096"/>
              <a:ext cx="56692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onsolas" pitchFamily="34" charset="0"/>
                  <a:ea typeface="Consolas" pitchFamily="34" charset="-122"/>
                  <a:cs typeface="Consolas" pitchFamily="34" charset="-120"/>
                </a:rPr>
                <a:t>J-043</a:t>
              </a:r>
              <a:endParaRPr lang="en-US" sz="900" dirty="0"/>
            </a:p>
          </p:txBody>
        </p:sp>
      </p:grpSp>
      <p:sp>
        <p:nvSpPr>
          <p:cNvPr id="49" name="SB_target5"/>
          <p:cNvSpPr/>
          <p:nvPr/>
        </p:nvSpPr>
        <p:spPr>
          <a:xfrm>
            <a:off x="10462326" y="5038344"/>
            <a:ext cx="566928" cy="256032"/>
          </a:xfrm>
          <a:prstGeom prst="roundRect">
            <a:avLst>
              <a:gd name="adj" fmla="val 14286"/>
            </a:avLst>
          </a:prstGeom>
          <a:ln w="15875">
            <a:solidFill>
              <a:srgbClr val="1F7B78"/>
            </a:solidFill>
            <a:prstDash val="dash"/>
          </a:ln>
        </p:spPr>
      </p:sp>
      <p:grpSp>
        <p:nvGrpSpPr>
          <p:cNvPr id="61" name="SB_group5">
            <a:extLst>
              <a:ext uri="{FF2B5EF4-FFF2-40B4-BE49-F238E27FC236}">
                <a16:creationId xmlns:a16="http://schemas.microsoft.com/office/drawing/2014/main" id="{E6CC65C4-31AB-AE79-D2C4-DDD1037B3C33}"/>
              </a:ext>
            </a:extLst>
          </p:cNvPr>
          <p:cNvGrpSpPr/>
          <p:nvPr/>
        </p:nvGrpSpPr>
        <p:grpSpPr>
          <a:xfrm>
            <a:off x="10719949" y="3630168"/>
            <a:ext cx="566928" cy="256032"/>
            <a:chOff x="10719949" y="3630168"/>
            <a:chExt cx="566928" cy="256032"/>
          </a:xfrm>
        </p:grpSpPr>
        <p:sp>
          <p:nvSpPr>
            <p:cNvPr id="50" name="SB_chip5"/>
            <p:cNvSpPr/>
            <p:nvPr/>
          </p:nvSpPr>
          <p:spPr>
            <a:xfrm>
              <a:off x="10719949" y="3630168"/>
              <a:ext cx="566928" cy="256032"/>
            </a:xfrm>
            <a:prstGeom prst="roundRect">
              <a:avLst>
                <a:gd name="adj" fmla="val 14286"/>
              </a:avLst>
            </a:prstGeom>
            <a:solidFill>
              <a:srgbClr val="1B2D4D"/>
            </a:solidFill>
            <a:ln w="12700">
              <a:solidFill>
                <a:srgbClr val="1B2D4D"/>
              </a:solidFill>
              <a:prstDash val="solid"/>
            </a:ln>
          </p:spPr>
        </p:sp>
        <p:sp>
          <p:nvSpPr>
            <p:cNvPr id="51" name="SB_chiptext5"/>
            <p:cNvSpPr txBox="1"/>
            <p:nvPr/>
          </p:nvSpPr>
          <p:spPr>
            <a:xfrm>
              <a:off x="10719949" y="3630168"/>
              <a:ext cx="56692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onsolas" pitchFamily="34" charset="0"/>
                  <a:ea typeface="Consolas" pitchFamily="34" charset="-122"/>
                  <a:cs typeface="Consolas" pitchFamily="34" charset="-120"/>
                </a:rPr>
                <a:t>J-050</a:t>
              </a:r>
              <a:endParaRPr lang="en-US" sz="900" dirty="0"/>
            </a:p>
          </p:txBody>
        </p:sp>
      </p:grpSp>
      <p:sp>
        <p:nvSpPr>
          <p:cNvPr id="52" name="SB_target6"/>
          <p:cNvSpPr/>
          <p:nvPr/>
        </p:nvSpPr>
        <p:spPr>
          <a:xfrm>
            <a:off x="10719949" y="5340096"/>
            <a:ext cx="566928" cy="256032"/>
          </a:xfrm>
          <a:prstGeom prst="roundRect">
            <a:avLst>
              <a:gd name="adj" fmla="val 14286"/>
            </a:avLst>
          </a:prstGeom>
          <a:ln w="15875">
            <a:solidFill>
              <a:srgbClr val="1F7B78"/>
            </a:solidFill>
            <a:prstDash val="dash"/>
          </a:ln>
        </p:spPr>
      </p:sp>
      <p:grpSp>
        <p:nvGrpSpPr>
          <p:cNvPr id="62" name="SB_group6">
            <a:extLst>
              <a:ext uri="{FF2B5EF4-FFF2-40B4-BE49-F238E27FC236}">
                <a16:creationId xmlns:a16="http://schemas.microsoft.com/office/drawing/2014/main" id="{4BFE9363-457E-4BDA-DDE6-2686B5F0E89F}"/>
              </a:ext>
            </a:extLst>
          </p:cNvPr>
          <p:cNvGrpSpPr/>
          <p:nvPr/>
        </p:nvGrpSpPr>
        <p:grpSpPr>
          <a:xfrm>
            <a:off x="10977571" y="3931920"/>
            <a:ext cx="566928" cy="256032"/>
            <a:chOff x="10977571" y="3931920"/>
            <a:chExt cx="566928" cy="256032"/>
          </a:xfrm>
        </p:grpSpPr>
        <p:sp>
          <p:nvSpPr>
            <p:cNvPr id="53" name="SB_chip6"/>
            <p:cNvSpPr/>
            <p:nvPr/>
          </p:nvSpPr>
          <p:spPr>
            <a:xfrm>
              <a:off x="10977571" y="3931920"/>
              <a:ext cx="566928" cy="256032"/>
            </a:xfrm>
            <a:prstGeom prst="roundRect">
              <a:avLst>
                <a:gd name="adj" fmla="val 14286"/>
              </a:avLst>
            </a:prstGeom>
            <a:solidFill>
              <a:srgbClr val="1B2D4D"/>
            </a:solidFill>
            <a:ln w="12700">
              <a:solidFill>
                <a:srgbClr val="1B2D4D"/>
              </a:solidFill>
              <a:prstDash val="solid"/>
            </a:ln>
          </p:spPr>
        </p:sp>
        <p:sp>
          <p:nvSpPr>
            <p:cNvPr id="54" name="SB_chiptext6"/>
            <p:cNvSpPr txBox="1"/>
            <p:nvPr/>
          </p:nvSpPr>
          <p:spPr>
            <a:xfrm>
              <a:off x="10977571" y="3931920"/>
              <a:ext cx="56692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onsolas" pitchFamily="34" charset="0"/>
                  <a:ea typeface="Consolas" pitchFamily="34" charset="-122"/>
                  <a:cs typeface="Consolas" pitchFamily="34" charset="-120"/>
                </a:rPr>
                <a:t>J-056</a:t>
              </a:r>
              <a:endParaRPr lang="en-US" sz="900" dirty="0"/>
            </a:p>
          </p:txBody>
        </p:sp>
      </p:grpSp>
      <p:sp>
        <p:nvSpPr>
          <p:cNvPr id="55" name="Text 52"/>
          <p:cNvSpPr txBox="1"/>
          <p:nvPr/>
        </p:nvSpPr>
        <p:spPr>
          <a:xfrm>
            <a:off x="548640" y="6217920"/>
            <a:ext cx="11064240" cy="256032"/>
          </a:xfrm>
          <a:prstGeom prst="rect">
            <a:avLst/>
          </a:prstGeom>
          <a:noFill/>
          <a:ln/>
        </p:spPr>
        <p:txBody>
          <a:bodyPr wrap="square" lIns="0" tIns="0" rIns="0" bIns="0" rtlCol="0" anchor="t"/>
          <a:lstStyle/>
          <a:p>
            <a:pPr marL="0" indent="0">
              <a:buNone/>
            </a:pPr>
            <a:r>
              <a:rPr lang="en-US" sz="850" dirty="0">
                <a:solidFill>
                  <a:srgbClr val="7B7566"/>
                </a:solidFill>
                <a:latin typeface="Segoe UI" pitchFamily="34" charset="0"/>
                <a:ea typeface="Segoe UI" pitchFamily="34" charset="-122"/>
                <a:cs typeface="Segoe UI" pitchFamily="34" charset="-120"/>
              </a:rPr>
              <a:t>Source: SAYR Action Desk, "What would change", 10:50 proposal, seed 7. Chips mark start times only (durations not drawn). J-043, J-050, J-056 change station.</a:t>
            </a:r>
            <a:endParaRPr lang="en-US" sz="850" dirty="0"/>
          </a:p>
        </p:txBody>
      </p:sp>
      <p:sp>
        <p:nvSpPr>
          <p:cNvPr id="4" name="Slide Number Placeholder 0"/>
          <p:cNvSpPr>
            <a:spLocks noGrp="1"/>
          </p:cNvSpPr>
          <p:nvPr>
            <p:ph type="sldNum" sz="quarter" idx="4294967295"/>
          </p:nvPr>
        </p:nvSpPr>
        <p:spPr>
          <a:xfrm>
            <a:off x="11064240" y="6492240"/>
            <a:ext cx="576072"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B7566"/>
                </a:solidFill>
                <a:latin typeface="Consolas"/>
                <a:ea typeface="Consolas"/>
                <a:cs typeface="Consolas"/>
              </a:defRPr>
            </a:lvl1pPr>
          </a:lstStyle>
          <a:p>
            <a:pPr algn="r"/>
            <a:fld id="{F7021451-1387-4CA6-816F-3879F97B5CBC}" type="slidenum">
              <a:rPr lang="en-US" b="0"/>
              <a:t>14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nodeType="afterEffect">
                                  <p:stCondLst>
                                    <p:cond delay="400"/>
                                  </p:stCondLst>
                                  <p:childTnLst>
                                    <p:set>
                                      <p:cBhvr>
                                        <p:cTn id="6" dur="1" fill="hold">
                                          <p:stCondLst>
                                            <p:cond delay="0"/>
                                          </p:stCondLst>
                                        </p:cTn>
                                        <p:tgtEl>
                                          <p:spTgt spid="56"/>
                                        </p:tgtEl>
                                        <p:attrNameLst>
                                          <p:attrName>style.visibility</p:attrName>
                                        </p:attrNameLst>
                                      </p:cBhvr>
                                      <p:to>
                                        <p:strVal val="visible"/>
                                      </p:to>
                                    </p:set>
                                    <p:animMotion origin="layout" path="M 0 0 L -0.0387391805648804 0 E" pathEditMode="relative">
                                      <p:cBhvr from="" to="">
                                        <p:cTn id="7" dur="1400" fill="hold">
                                          <p:stCondLst>
                                            <p:cond delay="0"/>
                                          </p:stCondLst>
                                        </p:cTn>
                                        <p:tgtEl>
                                          <p:spTgt spid="56"/>
                                        </p:tgtEl>
                                        <p:attrNameLst>
                                          <p:attrName>ppt_x</p:attrName>
                                          <p:attrName>ppt_y</p:attrName>
                                        </p:attrNameLst>
                                      </p:cBhvr>
                                    </p:animMotion>
                                  </p:childTnLst>
                                </p:cTn>
                              </p:par>
                            </p:childTnLst>
                          </p:cTn>
                        </p:par>
                        <p:par>
                          <p:cTn id="8" fill="hold">
                            <p:stCondLst>
                              <p:cond delay="1800"/>
                            </p:stCondLst>
                            <p:childTnLst>
                              <p:par>
                                <p:cTn id="9" presetID="0" presetClass="entr" presetSubtype="0" fill="hold" nodeType="afterEffect">
                                  <p:stCondLst>
                                    <p:cond delay="400"/>
                                  </p:stCondLst>
                                  <p:childTnLst>
                                    <p:set>
                                      <p:cBhvr>
                                        <p:cTn id="10" dur="1" fill="hold">
                                          <p:stCondLst>
                                            <p:cond delay="0"/>
                                          </p:stCondLst>
                                        </p:cTn>
                                        <p:tgtEl>
                                          <p:spTgt spid="57"/>
                                        </p:tgtEl>
                                        <p:attrNameLst>
                                          <p:attrName>style.visibility</p:attrName>
                                        </p:attrNameLst>
                                      </p:cBhvr>
                                      <p:to>
                                        <p:strVal val="visible"/>
                                      </p:to>
                                    </p:set>
                                    <p:animMotion origin="layout" path="M 0 0 L -0.0739565213521322 0 E" pathEditMode="relative">
                                      <p:cBhvr from="" to="">
                                        <p:cTn id="11" dur="1400" fill="hold">
                                          <p:stCondLst>
                                            <p:cond delay="0"/>
                                          </p:stCondLst>
                                        </p:cTn>
                                        <p:tgtEl>
                                          <p:spTgt spid="57"/>
                                        </p:tgtEl>
                                        <p:attrNameLst>
                                          <p:attrName>ppt_x</p:attrName>
                                          <p:attrName>ppt_y</p:attrName>
                                        </p:attrNameLst>
                                      </p:cBhvr>
                                    </p:animMotion>
                                  </p:childTnLst>
                                </p:cTn>
                              </p:par>
                            </p:childTnLst>
                          </p:cTn>
                        </p:par>
                        <p:par>
                          <p:cTn id="12" fill="hold">
                            <p:stCondLst>
                              <p:cond delay="3600"/>
                            </p:stCondLst>
                            <p:childTnLst>
                              <p:par>
                                <p:cTn id="13" presetID="0" presetClass="entr" presetSubtype="0" fill="hold" nodeType="afterEffect">
                                  <p:stCondLst>
                                    <p:cond delay="400"/>
                                  </p:stCondLst>
                                  <p:childTnLst>
                                    <p:set>
                                      <p:cBhvr>
                                        <p:cTn id="14" dur="1" fill="hold">
                                          <p:stCondLst>
                                            <p:cond delay="0"/>
                                          </p:stCondLst>
                                        </p:cTn>
                                        <p:tgtEl>
                                          <p:spTgt spid="58"/>
                                        </p:tgtEl>
                                        <p:attrNameLst>
                                          <p:attrName>style.visibility</p:attrName>
                                        </p:attrNameLst>
                                      </p:cBhvr>
                                      <p:to>
                                        <p:strVal val="visible"/>
                                      </p:to>
                                    </p:set>
                                    <p:animMotion origin="layout" path="M 0 0 L -0.0739565213521322 0 E" pathEditMode="relative">
                                      <p:cBhvr from="" to="">
                                        <p:cTn id="15" dur="1400" fill="hold">
                                          <p:stCondLst>
                                            <p:cond delay="0"/>
                                          </p:stCondLst>
                                        </p:cTn>
                                        <p:tgtEl>
                                          <p:spTgt spid="58"/>
                                        </p:tgtEl>
                                        <p:attrNameLst>
                                          <p:attrName>ppt_x</p:attrName>
                                          <p:attrName>ppt_y</p:attrName>
                                        </p:attrNameLst>
                                      </p:cBhvr>
                                    </p:animMotion>
                                  </p:childTnLst>
                                </p:cTn>
                              </p:par>
                            </p:childTnLst>
                          </p:cTn>
                        </p:par>
                        <p:par>
                          <p:cTn id="16" fill="hold">
                            <p:stCondLst>
                              <p:cond delay="5400"/>
                            </p:stCondLst>
                            <p:childTnLst>
                              <p:par>
                                <p:cTn id="17" presetID="0" presetClass="entr" presetSubtype="0" fill="hold" nodeType="afterEffect">
                                  <p:stCondLst>
                                    <p:cond delay="400"/>
                                  </p:stCondLst>
                                  <p:childTnLst>
                                    <p:set>
                                      <p:cBhvr>
                                        <p:cTn id="18" dur="1" fill="hold">
                                          <p:stCondLst>
                                            <p:cond delay="0"/>
                                          </p:stCondLst>
                                        </p:cTn>
                                        <p:tgtEl>
                                          <p:spTgt spid="59"/>
                                        </p:tgtEl>
                                        <p:attrNameLst>
                                          <p:attrName>style.visibility</p:attrName>
                                        </p:attrNameLst>
                                      </p:cBhvr>
                                      <p:to>
                                        <p:strVal val="visible"/>
                                      </p:to>
                                    </p:set>
                                    <p:animMotion origin="layout" path="M 0 0 L -0.0387390772501628 0 E" pathEditMode="relative">
                                      <p:cBhvr from="" to="">
                                        <p:cTn id="19" dur="1400" fill="hold">
                                          <p:stCondLst>
                                            <p:cond delay="0"/>
                                          </p:stCondLst>
                                        </p:cTn>
                                        <p:tgtEl>
                                          <p:spTgt spid="59"/>
                                        </p:tgtEl>
                                        <p:attrNameLst>
                                          <p:attrName>ppt_x</p:attrName>
                                          <p:attrName>ppt_y</p:attrName>
                                        </p:attrNameLst>
                                      </p:cBhvr>
                                    </p:animMotion>
                                  </p:childTnLst>
                                </p:cTn>
                              </p:par>
                            </p:childTnLst>
                          </p:cTn>
                        </p:par>
                        <p:par>
                          <p:cTn id="20" fill="hold">
                            <p:stCondLst>
                              <p:cond delay="7200"/>
                            </p:stCondLst>
                            <p:childTnLst>
                              <p:par>
                                <p:cTn id="21" presetID="0" presetClass="entr" presetSubtype="0" fill="hold" nodeType="afterEffect">
                                  <p:stCondLst>
                                    <p:cond delay="400"/>
                                  </p:stCondLst>
                                  <p:childTnLst>
                                    <p:set>
                                      <p:cBhvr>
                                        <p:cTn id="22" dur="1" fill="hold">
                                          <p:stCondLst>
                                            <p:cond delay="0"/>
                                          </p:stCondLst>
                                        </p:cTn>
                                        <p:tgtEl>
                                          <p:spTgt spid="60"/>
                                        </p:tgtEl>
                                        <p:attrNameLst>
                                          <p:attrName>style.visibility</p:attrName>
                                        </p:attrNameLst>
                                      </p:cBhvr>
                                      <p:to>
                                        <p:strVal val="visible"/>
                                      </p:to>
                                    </p:set>
                                    <p:animMotion origin="layout" path="M 0 0 L -0.0316957473754883 -0.205333342375579 E" pathEditMode="relative">
                                      <p:cBhvr from="" to="">
                                        <p:cTn id="23" dur="1400" fill="hold">
                                          <p:stCondLst>
                                            <p:cond delay="0"/>
                                          </p:stCondLst>
                                        </p:cTn>
                                        <p:tgtEl>
                                          <p:spTgt spid="60"/>
                                        </p:tgtEl>
                                        <p:attrNameLst>
                                          <p:attrName>ppt_x</p:attrName>
                                          <p:attrName>ppt_y</p:attrName>
                                        </p:attrNameLst>
                                      </p:cBhvr>
                                    </p:animMotion>
                                  </p:childTnLst>
                                </p:cTn>
                              </p:par>
                            </p:childTnLst>
                          </p:cTn>
                        </p:par>
                        <p:par>
                          <p:cTn id="24" fill="hold">
                            <p:stCondLst>
                              <p:cond delay="9000"/>
                            </p:stCondLst>
                            <p:childTnLst>
                              <p:par>
                                <p:cTn id="25" presetID="0" presetClass="entr" presetSubtype="0" fill="hold" nodeType="afterEffect">
                                  <p:stCondLst>
                                    <p:cond delay="400"/>
                                  </p:stCondLst>
                                  <p:childTnLst>
                                    <p:set>
                                      <p:cBhvr>
                                        <p:cTn id="26" dur="1" fill="hold">
                                          <p:stCondLst>
                                            <p:cond delay="0"/>
                                          </p:stCondLst>
                                        </p:cTn>
                                        <p:tgtEl>
                                          <p:spTgt spid="61"/>
                                        </p:tgtEl>
                                        <p:attrNameLst>
                                          <p:attrName>style.visibility</p:attrName>
                                        </p:attrNameLst>
                                      </p:cBhvr>
                                      <p:to>
                                        <p:strVal val="visible"/>
                                      </p:to>
                                    </p:set>
                                    <p:animMotion origin="layout" path="M 0 0 L -0.0211304982503255 0.205333342375579 E" pathEditMode="relative">
                                      <p:cBhvr from="" to="">
                                        <p:cTn id="27" dur="1400" fill="hold">
                                          <p:stCondLst>
                                            <p:cond delay="0"/>
                                          </p:stCondLst>
                                        </p:cTn>
                                        <p:tgtEl>
                                          <p:spTgt spid="61"/>
                                        </p:tgtEl>
                                        <p:attrNameLst>
                                          <p:attrName>ppt_x</p:attrName>
                                          <p:attrName>ppt_y</p:attrName>
                                        </p:attrNameLst>
                                      </p:cBhvr>
                                    </p:animMotion>
                                  </p:childTnLst>
                                </p:cTn>
                              </p:par>
                            </p:childTnLst>
                          </p:cTn>
                        </p:par>
                        <p:par>
                          <p:cTn id="28" fill="hold">
                            <p:stCondLst>
                              <p:cond delay="10800"/>
                            </p:stCondLst>
                            <p:childTnLst>
                              <p:par>
                                <p:cTn id="29" presetID="0" presetClass="entr" presetSubtype="0" fill="hold" nodeType="afterEffect">
                                  <p:stCondLst>
                                    <p:cond delay="400"/>
                                  </p:stCondLst>
                                  <p:childTnLst>
                                    <p:set>
                                      <p:cBhvr>
                                        <p:cTn id="30" dur="1" fill="hold">
                                          <p:stCondLst>
                                            <p:cond delay="0"/>
                                          </p:stCondLst>
                                        </p:cTn>
                                        <p:tgtEl>
                                          <p:spTgt spid="62"/>
                                        </p:tgtEl>
                                        <p:attrNameLst>
                                          <p:attrName>style.visibility</p:attrName>
                                        </p:attrNameLst>
                                      </p:cBhvr>
                                      <p:to>
                                        <p:strVal val="visible"/>
                                      </p:to>
                                    </p:set>
                                    <p:animMotion origin="layout" path="M 0 0 L -0.0211304346720378 0.205333342375579 E" pathEditMode="relative">
                                      <p:cBhvr from="" to="">
                                        <p:cTn id="31" dur="1400" fill="hold">
                                          <p:stCondLst>
                                            <p:cond delay="0"/>
                                          </p:stCondLst>
                                        </p:cTn>
                                        <p:tgtEl>
                                          <p:spTgt spid="6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685800"/>
          </a:xfrm>
          <a:prstGeom prst="rect">
            <a:avLst/>
          </a:prstGeom>
          <a:noFill/>
          <a:ln/>
        </p:spPr>
        <p:txBody>
          <a:bodyPr wrap="square" lIns="0" tIns="0" rIns="0" bIns="0" rtlCol="0" anchor="t"/>
          <a:lstStyle/>
          <a:p>
            <a:pPr marL="0" indent="0" algn="l">
              <a:buNone/>
            </a:pPr>
            <a:r>
              <a:rPr lang="en-US" sz="3000" dirty="0">
                <a:solidFill>
                  <a:srgbClr val="15233B"/>
                </a:solidFill>
                <a:latin typeface="Palatino Linotype" pitchFamily="34" charset="0"/>
                <a:ea typeface="Palatino Linotype" pitchFamily="34" charset="-122"/>
                <a:cs typeface="Palatino Linotype" pitchFamily="34" charset="-120"/>
              </a:rPr>
              <a:t>Appendix C · Evaluation and limitations</a:t>
            </a:r>
            <a:endParaRPr lang="en-US" sz="3000" dirty="0"/>
          </a:p>
        </p:txBody>
      </p:sp>
      <p:sp>
        <p:nvSpPr>
          <p:cNvPr id="3" name="Text 1"/>
          <p:cNvSpPr txBox="1"/>
          <p:nvPr/>
        </p:nvSpPr>
        <p:spPr>
          <a:xfrm>
            <a:off x="548640" y="310896"/>
            <a:ext cx="8229600" cy="228600"/>
          </a:xfrm>
          <a:prstGeom prst="rect">
            <a:avLst/>
          </a:prstGeom>
          <a:noFill/>
          <a:ln/>
        </p:spPr>
        <p:txBody>
          <a:bodyPr wrap="square" lIns="0" tIns="0" rIns="0" bIns="0" rtlCol="0" anchor="t"/>
          <a:lstStyle/>
          <a:p>
            <a:pPr marL="0" indent="0">
              <a:buNone/>
            </a:pPr>
            <a:r>
              <a:rPr lang="en-US" sz="1050" kern="0" spc="200" dirty="0">
                <a:solidFill>
                  <a:srgbClr val="B4642F"/>
                </a:solidFill>
                <a:latin typeface="Consolas" pitchFamily="34" charset="0"/>
                <a:ea typeface="Consolas" pitchFamily="34" charset="-122"/>
                <a:cs typeface="Consolas" pitchFamily="34" charset="-120"/>
              </a:rPr>
              <a:t>TECHNICAL APPENDIX</a:t>
            </a:r>
            <a:endParaRPr lang="en-US" sz="1050" dirty="0"/>
          </a:p>
        </p:txBody>
      </p:sp>
      <p:sp>
        <p:nvSpPr>
          <p:cNvPr id="5" name="Shape 2"/>
          <p:cNvSpPr/>
          <p:nvPr/>
        </p:nvSpPr>
        <p:spPr>
          <a:xfrm>
            <a:off x="548640" y="1325880"/>
            <a:ext cx="54864" cy="731520"/>
          </a:xfrm>
          <a:prstGeom prst="rect">
            <a:avLst/>
          </a:prstGeom>
          <a:solidFill>
            <a:srgbClr val="B4642F"/>
          </a:solidFill>
          <a:ln/>
        </p:spPr>
      </p:sp>
      <p:sp>
        <p:nvSpPr>
          <p:cNvPr id="6" name="Text 3"/>
          <p:cNvSpPr txBox="1"/>
          <p:nvPr/>
        </p:nvSpPr>
        <p:spPr>
          <a:xfrm>
            <a:off x="731520" y="1325880"/>
            <a:ext cx="1920240" cy="274320"/>
          </a:xfrm>
          <a:prstGeom prst="rect">
            <a:avLst/>
          </a:prstGeom>
          <a:noFill/>
          <a:ln/>
        </p:spPr>
        <p:txBody>
          <a:bodyPr wrap="square" lIns="0" tIns="0" rIns="0" bIns="0" rtlCol="0" anchor="t"/>
          <a:lstStyle/>
          <a:p>
            <a:pPr marL="0" indent="0">
              <a:buNone/>
            </a:pPr>
            <a:r>
              <a:rPr lang="en-US" sz="1400" b="1" dirty="0">
                <a:solidFill>
                  <a:srgbClr val="15233B"/>
                </a:solidFill>
                <a:latin typeface="Palatino Linotype" pitchFamily="34" charset="0"/>
                <a:ea typeface="Palatino Linotype" pitchFamily="34" charset="-122"/>
                <a:cs typeface="Palatino Linotype" pitchFamily="34" charset="-120"/>
              </a:rPr>
              <a:t>Waiting time</a:t>
            </a:r>
            <a:endParaRPr lang="en-US" sz="1400" dirty="0"/>
          </a:p>
        </p:txBody>
      </p:sp>
      <p:sp>
        <p:nvSpPr>
          <p:cNvPr id="7" name="Text 4"/>
          <p:cNvSpPr txBox="1"/>
          <p:nvPr/>
        </p:nvSpPr>
        <p:spPr>
          <a:xfrm>
            <a:off x="731520" y="1600200"/>
            <a:ext cx="4937760" cy="502920"/>
          </a:xfrm>
          <a:prstGeom prst="rect">
            <a:avLst/>
          </a:prstGeom>
          <a:noFill/>
          <a:ln/>
        </p:spPr>
        <p:txBody>
          <a:bodyPr wrap="square" lIns="0" tIns="0" rIns="0" bIns="0" rtlCol="0" anchor="t"/>
          <a:lstStyle/>
          <a:p>
            <a:pPr marL="0" indent="0">
              <a:buNone/>
            </a:pPr>
            <a:r>
              <a:rPr lang="en-US" sz="950" dirty="0">
                <a:solidFill>
                  <a:srgbClr val="3A4A66"/>
                </a:solidFill>
                <a:latin typeface="Segoe UI" pitchFamily="34" charset="0"/>
                <a:ea typeface="Segoe UI" pitchFamily="34" charset="-122"/>
                <a:cs typeface="Segoe UI" pitchFamily="34" charset="-120"/>
              </a:rPr>
              <a:t>Minutes between becoming ready and starting service. Transfers and service excluded. Percentages use patients who attended.</a:t>
            </a:r>
            <a:endParaRPr lang="en-US" sz="950" dirty="0"/>
          </a:p>
        </p:txBody>
      </p:sp>
      <p:sp>
        <p:nvSpPr>
          <p:cNvPr id="8" name="Shape 5"/>
          <p:cNvSpPr/>
          <p:nvPr/>
        </p:nvSpPr>
        <p:spPr>
          <a:xfrm>
            <a:off x="548640" y="2194560"/>
            <a:ext cx="54864" cy="731520"/>
          </a:xfrm>
          <a:prstGeom prst="rect">
            <a:avLst/>
          </a:prstGeom>
          <a:solidFill>
            <a:srgbClr val="B4642F"/>
          </a:solidFill>
          <a:ln/>
        </p:spPr>
      </p:sp>
      <p:sp>
        <p:nvSpPr>
          <p:cNvPr id="9" name="Text 6"/>
          <p:cNvSpPr txBox="1"/>
          <p:nvPr/>
        </p:nvSpPr>
        <p:spPr>
          <a:xfrm>
            <a:off x="731520" y="2194560"/>
            <a:ext cx="1920240" cy="274320"/>
          </a:xfrm>
          <a:prstGeom prst="rect">
            <a:avLst/>
          </a:prstGeom>
          <a:noFill/>
          <a:ln/>
        </p:spPr>
        <p:txBody>
          <a:bodyPr wrap="square" lIns="0" tIns="0" rIns="0" bIns="0" rtlCol="0" anchor="t"/>
          <a:lstStyle/>
          <a:p>
            <a:pPr marL="0" indent="0">
              <a:buNone/>
            </a:pPr>
            <a:r>
              <a:rPr lang="en-US" sz="1400" b="1" dirty="0">
                <a:solidFill>
                  <a:srgbClr val="15233B"/>
                </a:solidFill>
                <a:latin typeface="Palatino Linotype" pitchFamily="34" charset="0"/>
                <a:ea typeface="Palatino Linotype" pitchFamily="34" charset="-122"/>
                <a:cs typeface="Palatino Linotype" pitchFamily="34" charset="-120"/>
              </a:rPr>
              <a:t>90th percentile</a:t>
            </a:r>
            <a:endParaRPr lang="en-US" sz="1400" dirty="0"/>
          </a:p>
        </p:txBody>
      </p:sp>
      <p:sp>
        <p:nvSpPr>
          <p:cNvPr id="10" name="Text 7"/>
          <p:cNvSpPr txBox="1"/>
          <p:nvPr/>
        </p:nvSpPr>
        <p:spPr>
          <a:xfrm>
            <a:off x="731520" y="2468880"/>
            <a:ext cx="4937760" cy="502920"/>
          </a:xfrm>
          <a:prstGeom prst="rect">
            <a:avLst/>
          </a:prstGeom>
          <a:noFill/>
          <a:ln/>
        </p:spPr>
        <p:txBody>
          <a:bodyPr wrap="square" lIns="0" tIns="0" rIns="0" bIns="0" rtlCol="0" anchor="t"/>
          <a:lstStyle/>
          <a:p>
            <a:pPr marL="0" indent="0">
              <a:buNone/>
            </a:pPr>
            <a:r>
              <a:rPr lang="en-US" sz="950" dirty="0">
                <a:solidFill>
                  <a:srgbClr val="3A4A66"/>
                </a:solidFill>
                <a:latin typeface="Segoe UI" pitchFamily="34" charset="0"/>
                <a:ea typeface="Segoe UI" pitchFamily="34" charset="-122"/>
                <a:cs typeface="Segoe UI" pitchFamily="34" charset="-120"/>
              </a:rPr>
              <a:t>The wait that nine in ten patients stay under: it describes the worst-off tenth, so it can move differently from the mean.</a:t>
            </a:r>
            <a:endParaRPr lang="en-US" sz="950" dirty="0"/>
          </a:p>
        </p:txBody>
      </p:sp>
      <p:sp>
        <p:nvSpPr>
          <p:cNvPr id="11" name="Shape 8"/>
          <p:cNvSpPr/>
          <p:nvPr/>
        </p:nvSpPr>
        <p:spPr>
          <a:xfrm>
            <a:off x="548640" y="3063240"/>
            <a:ext cx="54864" cy="731520"/>
          </a:xfrm>
          <a:prstGeom prst="rect">
            <a:avLst/>
          </a:prstGeom>
          <a:solidFill>
            <a:srgbClr val="B4642F"/>
          </a:solidFill>
          <a:ln/>
        </p:spPr>
      </p:sp>
      <p:sp>
        <p:nvSpPr>
          <p:cNvPr id="12" name="Text 9"/>
          <p:cNvSpPr txBox="1"/>
          <p:nvPr/>
        </p:nvSpPr>
        <p:spPr>
          <a:xfrm>
            <a:off x="731520" y="3063240"/>
            <a:ext cx="1920240" cy="274320"/>
          </a:xfrm>
          <a:prstGeom prst="rect">
            <a:avLst/>
          </a:prstGeom>
          <a:noFill/>
          <a:ln/>
        </p:spPr>
        <p:txBody>
          <a:bodyPr wrap="square" lIns="0" tIns="0" rIns="0" bIns="0" rtlCol="0" anchor="t"/>
          <a:lstStyle/>
          <a:p>
            <a:pPr marL="0" indent="0">
              <a:buNone/>
            </a:pPr>
            <a:r>
              <a:rPr lang="en-US" sz="1400" b="1" dirty="0">
                <a:solidFill>
                  <a:srgbClr val="15233B"/>
                </a:solidFill>
                <a:latin typeface="Palatino Linotype" pitchFamily="34" charset="0"/>
                <a:ea typeface="Palatino Linotype" pitchFamily="34" charset="-122"/>
                <a:cs typeface="Palatino Linotype" pitchFamily="34" charset="-120"/>
              </a:rPr>
              <a:t>Utilisation</a:t>
            </a:r>
            <a:endParaRPr lang="en-US" sz="1400" dirty="0"/>
          </a:p>
        </p:txBody>
      </p:sp>
      <p:sp>
        <p:nvSpPr>
          <p:cNvPr id="13" name="Text 10"/>
          <p:cNvSpPr txBox="1"/>
          <p:nvPr/>
        </p:nvSpPr>
        <p:spPr>
          <a:xfrm>
            <a:off x="731520" y="3337560"/>
            <a:ext cx="4937760" cy="502920"/>
          </a:xfrm>
          <a:prstGeom prst="rect">
            <a:avLst/>
          </a:prstGeom>
          <a:noFill/>
          <a:ln/>
        </p:spPr>
        <p:txBody>
          <a:bodyPr wrap="square" lIns="0" tIns="0" rIns="0" bIns="0" rtlCol="0" anchor="t"/>
          <a:lstStyle/>
          <a:p>
            <a:pPr marL="0" indent="0">
              <a:buNone/>
            </a:pPr>
            <a:r>
              <a:rPr lang="en-US" sz="950" dirty="0">
                <a:solidFill>
                  <a:srgbClr val="3A4A66"/>
                </a:solidFill>
                <a:latin typeface="Segoe UI" pitchFamily="34" charset="0"/>
                <a:ea typeface="Segoe UI" pitchFamily="34" charset="-122"/>
                <a:cs typeface="Segoe UI" pitchFamily="34" charset="-120"/>
              </a:rPr>
              <a:t>Busy minutes divided by available minutes within the shift (resources that are down are not counted as available).</a:t>
            </a:r>
            <a:endParaRPr lang="en-US" sz="950" dirty="0"/>
          </a:p>
        </p:txBody>
      </p:sp>
      <p:sp>
        <p:nvSpPr>
          <p:cNvPr id="14" name="Shape 11"/>
          <p:cNvSpPr/>
          <p:nvPr/>
        </p:nvSpPr>
        <p:spPr>
          <a:xfrm>
            <a:off x="548640" y="3931920"/>
            <a:ext cx="54864" cy="731520"/>
          </a:xfrm>
          <a:prstGeom prst="rect">
            <a:avLst/>
          </a:prstGeom>
          <a:solidFill>
            <a:srgbClr val="B4642F"/>
          </a:solidFill>
          <a:ln/>
        </p:spPr>
      </p:sp>
      <p:sp>
        <p:nvSpPr>
          <p:cNvPr id="15" name="Text 12"/>
          <p:cNvSpPr txBox="1"/>
          <p:nvPr/>
        </p:nvSpPr>
        <p:spPr>
          <a:xfrm>
            <a:off x="731520" y="3931920"/>
            <a:ext cx="1920240" cy="274320"/>
          </a:xfrm>
          <a:prstGeom prst="rect">
            <a:avLst/>
          </a:prstGeom>
          <a:noFill/>
          <a:ln/>
        </p:spPr>
        <p:txBody>
          <a:bodyPr wrap="square" lIns="0" tIns="0" rIns="0" bIns="0" rtlCol="0" anchor="t"/>
          <a:lstStyle/>
          <a:p>
            <a:pPr marL="0" indent="0">
              <a:buNone/>
            </a:pPr>
            <a:r>
              <a:rPr lang="en-US" sz="1400" b="1" dirty="0">
                <a:solidFill>
                  <a:srgbClr val="15233B"/>
                </a:solidFill>
                <a:latin typeface="Palatino Linotype" pitchFamily="34" charset="0"/>
                <a:ea typeface="Palatino Linotype" pitchFamily="34" charset="-122"/>
                <a:cs typeface="Palatino Linotype" pitchFamily="34" charset="-120"/>
              </a:rPr>
              <a:t>Fairness</a:t>
            </a:r>
            <a:endParaRPr lang="en-US" sz="1400" dirty="0"/>
          </a:p>
        </p:txBody>
      </p:sp>
      <p:sp>
        <p:nvSpPr>
          <p:cNvPr id="16" name="Text 13"/>
          <p:cNvSpPr txBox="1"/>
          <p:nvPr/>
        </p:nvSpPr>
        <p:spPr>
          <a:xfrm>
            <a:off x="731520" y="4206240"/>
            <a:ext cx="4937760" cy="502920"/>
          </a:xfrm>
          <a:prstGeom prst="rect">
            <a:avLst/>
          </a:prstGeom>
          <a:noFill/>
          <a:ln/>
        </p:spPr>
        <p:txBody>
          <a:bodyPr wrap="square" lIns="0" tIns="0" rIns="0" bIns="0" rtlCol="0" anchor="t"/>
          <a:lstStyle/>
          <a:p>
            <a:pPr marL="0" indent="0">
              <a:buNone/>
            </a:pPr>
            <a:r>
              <a:rPr lang="en-US" sz="950" dirty="0">
                <a:solidFill>
                  <a:srgbClr val="3A4A66"/>
                </a:solidFill>
                <a:latin typeface="Segoe UI" pitchFamily="34" charset="0"/>
                <a:ea typeface="Segoe UI" pitchFamily="34" charset="-122"/>
                <a:cs typeface="Segoe UI" pitchFamily="34" charset="-120"/>
              </a:rPr>
              <a:t>Mean and 90th-percentile waits for scheduled vs walk-in and morning vs afternoon; priority inversions; protected-slot waits; patients made worse off by ≥ 5 min.</a:t>
            </a:r>
            <a:endParaRPr lang="en-US" sz="950" dirty="0"/>
          </a:p>
        </p:txBody>
      </p:sp>
      <p:sp>
        <p:nvSpPr>
          <p:cNvPr id="17" name="Shape 14"/>
          <p:cNvSpPr/>
          <p:nvPr/>
        </p:nvSpPr>
        <p:spPr>
          <a:xfrm>
            <a:off x="548640" y="4800600"/>
            <a:ext cx="54864" cy="731520"/>
          </a:xfrm>
          <a:prstGeom prst="rect">
            <a:avLst/>
          </a:prstGeom>
          <a:solidFill>
            <a:srgbClr val="B4642F"/>
          </a:solidFill>
          <a:ln/>
        </p:spPr>
      </p:sp>
      <p:sp>
        <p:nvSpPr>
          <p:cNvPr id="18" name="Text 15"/>
          <p:cNvSpPr txBox="1"/>
          <p:nvPr/>
        </p:nvSpPr>
        <p:spPr>
          <a:xfrm>
            <a:off x="731520" y="4800600"/>
            <a:ext cx="1920240" cy="274320"/>
          </a:xfrm>
          <a:prstGeom prst="rect">
            <a:avLst/>
          </a:prstGeom>
          <a:noFill/>
          <a:ln/>
        </p:spPr>
        <p:txBody>
          <a:bodyPr wrap="square" lIns="0" tIns="0" rIns="0" bIns="0" rtlCol="0" anchor="t"/>
          <a:lstStyle/>
          <a:p>
            <a:pPr marL="0" indent="0">
              <a:buNone/>
            </a:pPr>
            <a:r>
              <a:rPr lang="en-US" sz="1400" b="1" dirty="0">
                <a:solidFill>
                  <a:srgbClr val="15233B"/>
                </a:solidFill>
                <a:latin typeface="Palatino Linotype" pitchFamily="34" charset="0"/>
                <a:ea typeface="Palatino Linotype" pitchFamily="34" charset="-122"/>
                <a:cs typeface="Palatino Linotype" pitchFamily="34" charset="-120"/>
              </a:rPr>
              <a:t>Repeated seeds</a:t>
            </a:r>
            <a:endParaRPr lang="en-US" sz="1400" dirty="0"/>
          </a:p>
        </p:txBody>
      </p:sp>
      <p:sp>
        <p:nvSpPr>
          <p:cNvPr id="19" name="Text 16"/>
          <p:cNvSpPr txBox="1"/>
          <p:nvPr/>
        </p:nvSpPr>
        <p:spPr>
          <a:xfrm>
            <a:off x="731520" y="5074920"/>
            <a:ext cx="4937760" cy="502920"/>
          </a:xfrm>
          <a:prstGeom prst="rect">
            <a:avLst/>
          </a:prstGeom>
          <a:noFill/>
          <a:ln/>
        </p:spPr>
        <p:txBody>
          <a:bodyPr wrap="square" lIns="0" tIns="0" rIns="0" bIns="0" rtlCol="0" anchor="t"/>
          <a:lstStyle/>
          <a:p>
            <a:pPr marL="0" indent="0">
              <a:buNone/>
            </a:pPr>
            <a:r>
              <a:rPr lang="en-US" sz="950" dirty="0">
                <a:solidFill>
                  <a:srgbClr val="3A4A66"/>
                </a:solidFill>
                <a:latin typeface="Segoe UI" pitchFamily="34" charset="0"/>
                <a:ea typeface="Segoe UI" pitchFamily="34" charset="-122"/>
                <a:cs typeface="Segoe UI" pitchFamily="34" charset="-120"/>
              </a:rPr>
              <a:t>The same scenario on 8 other synthetic days, Reflow at 10:45. One run is a demonstration; the spread is the evidence.</a:t>
            </a:r>
            <a:endParaRPr lang="en-US" sz="950" dirty="0"/>
          </a:p>
        </p:txBody>
      </p:sp>
      <p:sp>
        <p:nvSpPr>
          <p:cNvPr id="20" name="Text 17"/>
          <p:cNvSpPr txBox="1"/>
          <p:nvPr/>
        </p:nvSpPr>
        <p:spPr>
          <a:xfrm>
            <a:off x="6309360" y="1325880"/>
            <a:ext cx="5303520" cy="182880"/>
          </a:xfrm>
          <a:prstGeom prst="rect">
            <a:avLst/>
          </a:prstGeom>
          <a:noFill/>
          <a:ln/>
        </p:spPr>
        <p:txBody>
          <a:bodyPr wrap="square" lIns="0" tIns="0" rIns="0" bIns="0" rtlCol="0" anchor="t"/>
          <a:lstStyle/>
          <a:p>
            <a:pPr marL="0" indent="0">
              <a:buNone/>
            </a:pPr>
            <a:r>
              <a:rPr lang="en-US" sz="850" kern="0" spc="100" dirty="0">
                <a:solidFill>
                  <a:srgbClr val="B4642F"/>
                </a:solidFill>
                <a:latin typeface="Consolas" pitchFamily="34" charset="0"/>
                <a:ea typeface="Consolas" pitchFamily="34" charset="-122"/>
                <a:cs typeface="Consolas" pitchFamily="34" charset="-120"/>
              </a:rPr>
              <a:t>FORECAST BASELINES · HELD-OUT ERROR (PATIENTS / HOUR)</a:t>
            </a:r>
            <a:endParaRPr lang="en-US" sz="850" dirty="0"/>
          </a:p>
        </p:txBody>
      </p:sp>
      <p:graphicFrame>
        <p:nvGraphicFramePr>
          <p:cNvPr id="21" name="Chart 0"/>
          <p:cNvGraphicFramePr/>
          <p:nvPr/>
        </p:nvGraphicFramePr>
        <p:xfrm>
          <a:off x="6217920" y="1508760"/>
          <a:ext cx="5440680" cy="1737360"/>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 18"/>
          <p:cNvSpPr txBox="1"/>
          <p:nvPr/>
        </p:nvSpPr>
        <p:spPr>
          <a:xfrm>
            <a:off x="6309360" y="3291840"/>
            <a:ext cx="5303520" cy="731520"/>
          </a:xfrm>
          <a:prstGeom prst="rect">
            <a:avLst/>
          </a:prstGeom>
          <a:noFill/>
          <a:ln/>
        </p:spPr>
        <p:txBody>
          <a:bodyPr wrap="square" lIns="0" tIns="0" rIns="0" bIns="0" rtlCol="0" anchor="t"/>
          <a:lstStyle/>
          <a:p>
            <a:pPr marL="0" indent="0">
              <a:buNone/>
            </a:pPr>
            <a:r>
              <a:rPr lang="en-US" sz="950" dirty="0">
                <a:solidFill>
                  <a:srgbClr val="3A4A66"/>
                </a:solidFill>
                <a:latin typeface="Segoe UI" pitchFamily="34" charset="0"/>
                <a:ea typeface="Segoe UI" pitchFamily="34" charset="-122"/>
                <a:cs typeface="Segoe UI" pitchFamily="34" charset="-120"/>
              </a:rPr>
              <a:t>Seasonal hourly profile chosen on 6 held-out synthetic days (14 train). Forecast 57 vs 60 actual. A baseline, not machine learning; the history is synthetic and generated from the simulator's own pattern.</a:t>
            </a:r>
            <a:endParaRPr lang="en-US" sz="950" dirty="0"/>
          </a:p>
        </p:txBody>
      </p:sp>
      <p:sp>
        <p:nvSpPr>
          <p:cNvPr id="23" name="Shape 19"/>
          <p:cNvSpPr/>
          <p:nvPr/>
        </p:nvSpPr>
        <p:spPr>
          <a:xfrm>
            <a:off x="6309360" y="4114800"/>
            <a:ext cx="5330952" cy="1965960"/>
          </a:xfrm>
          <a:prstGeom prst="roundRect">
            <a:avLst>
              <a:gd name="adj" fmla="val 3256"/>
            </a:avLst>
          </a:prstGeom>
          <a:solidFill>
            <a:srgbClr val="F2DFD0"/>
          </a:solidFill>
          <a:ln w="9525">
            <a:solidFill>
              <a:srgbClr val="CF8250"/>
            </a:solidFill>
            <a:prstDash val="solid"/>
          </a:ln>
        </p:spPr>
      </p:sp>
      <p:sp>
        <p:nvSpPr>
          <p:cNvPr id="24" name="Text 20"/>
          <p:cNvSpPr txBox="1"/>
          <p:nvPr/>
        </p:nvSpPr>
        <p:spPr>
          <a:xfrm>
            <a:off x="6492240" y="4206240"/>
            <a:ext cx="4937760" cy="182880"/>
          </a:xfrm>
          <a:prstGeom prst="rect">
            <a:avLst/>
          </a:prstGeom>
          <a:noFill/>
          <a:ln/>
        </p:spPr>
        <p:txBody>
          <a:bodyPr wrap="square" lIns="0" tIns="0" rIns="0" bIns="0" rtlCol="0" anchor="t"/>
          <a:lstStyle/>
          <a:p>
            <a:pPr marL="0" indent="0">
              <a:buNone/>
            </a:pPr>
            <a:r>
              <a:rPr lang="en-US" sz="850" kern="0" spc="100" dirty="0">
                <a:solidFill>
                  <a:srgbClr val="B4642F"/>
                </a:solidFill>
                <a:latin typeface="Consolas" pitchFamily="34" charset="0"/>
                <a:ea typeface="Consolas" pitchFamily="34" charset="-122"/>
                <a:cs typeface="Consolas" pitchFamily="34" charset="-120"/>
              </a:rPr>
              <a:t>LIMITS OF SIMULATED OUTCOMES</a:t>
            </a:r>
            <a:endParaRPr lang="en-US" sz="850" dirty="0"/>
          </a:p>
        </p:txBody>
      </p:sp>
      <p:sp>
        <p:nvSpPr>
          <p:cNvPr id="25" name="Text 21"/>
          <p:cNvSpPr txBox="1"/>
          <p:nvPr/>
        </p:nvSpPr>
        <p:spPr>
          <a:xfrm>
            <a:off x="6492240" y="4480560"/>
            <a:ext cx="4983480" cy="1554480"/>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15233B"/>
                </a:solidFill>
                <a:latin typeface="Segoe UI" pitchFamily="34" charset="0"/>
                <a:ea typeface="Segoe UI" pitchFamily="34" charset="-122"/>
                <a:cs typeface="Segoe UI" pitchFamily="34" charset="-120"/>
              </a:rPr>
              <a:t>All patients and data are synthetic; nothing is validated against a real clinic.</a:t>
            </a:r>
            <a:endParaRPr lang="en-US" sz="950" dirty="0"/>
          </a:p>
          <a:p>
            <a:pPr marL="342900" indent="-342900">
              <a:spcAft>
                <a:spcPts val="300"/>
              </a:spcAft>
              <a:buSzPct val="100000"/>
              <a:buChar char="•"/>
            </a:pPr>
            <a:r>
              <a:rPr lang="en-US" sz="950" dirty="0">
                <a:solidFill>
                  <a:srgbClr val="15233B"/>
                </a:solidFill>
                <a:latin typeface="Segoe UI" pitchFamily="34" charset="0"/>
                <a:ea typeface="Segoe UI" pitchFamily="34" charset="-122"/>
                <a:cs typeface="Segoe UI" pitchFamily="34" charset="-120"/>
              </a:rPr>
              <a:t>Planned and measured savings differ (−80 vs −48).</a:t>
            </a:r>
            <a:endParaRPr lang="en-US" sz="950" dirty="0"/>
          </a:p>
          <a:p>
            <a:pPr marL="342900" indent="-342900">
              <a:spcAft>
                <a:spcPts val="300"/>
              </a:spcAft>
              <a:buSzPct val="100000"/>
              <a:buChar char="•"/>
            </a:pPr>
            <a:r>
              <a:rPr lang="en-US" sz="950" dirty="0">
                <a:solidFill>
                  <a:srgbClr val="15233B"/>
                </a:solidFill>
                <a:latin typeface="Segoe UI" pitchFamily="34" charset="0"/>
                <a:ea typeface="Segoe UI" pitchFamily="34" charset="-122"/>
                <a:cs typeface="Segoe UI" pitchFamily="34" charset="-120"/>
              </a:rPr>
              <a:t>A clinician is tied to a room; no breaks, equipment, sites or clinical variation.</a:t>
            </a:r>
            <a:endParaRPr lang="en-US" sz="950" dirty="0"/>
          </a:p>
          <a:p>
            <a:pPr marL="342900" indent="-342900">
              <a:spcAft>
                <a:spcPts val="300"/>
              </a:spcAft>
              <a:buSzPct val="100000"/>
              <a:buChar char="•"/>
            </a:pPr>
            <a:r>
              <a:rPr lang="en-US" sz="950" dirty="0">
                <a:solidFill>
                  <a:srgbClr val="15233B"/>
                </a:solidFill>
                <a:latin typeface="Segoe UI" pitchFamily="34" charset="0"/>
                <a:ea typeface="Segoe UI" pitchFamily="34" charset="-122"/>
                <a:cs typeface="Segoe UI" pitchFamily="34" charset="-120"/>
              </a:rPr>
              <a:t>Improvement is not guaranteed (1 of 8 days got worse).</a:t>
            </a:r>
            <a:endParaRPr lang="en-US" sz="950" dirty="0"/>
          </a:p>
          <a:p>
            <a:pPr marL="342900" indent="-342900">
              <a:spcAft>
                <a:spcPts val="300"/>
              </a:spcAft>
              <a:buSzPct val="100000"/>
              <a:buChar char="•"/>
            </a:pPr>
            <a:r>
              <a:rPr lang="en-US" sz="950" dirty="0">
                <a:solidFill>
                  <a:srgbClr val="15233B"/>
                </a:solidFill>
                <a:latin typeface="Segoe UI" pitchFamily="34" charset="0"/>
                <a:ea typeface="Segoe UI" pitchFamily="34" charset="-122"/>
                <a:cs typeface="Segoe UI" pitchFamily="34" charset="-120"/>
              </a:rPr>
              <a:t>Fewer waiting minutes does not mean better care.</a:t>
            </a:r>
            <a:endParaRPr lang="en-US" sz="950" dirty="0"/>
          </a:p>
        </p:txBody>
      </p:sp>
      <p:sp>
        <p:nvSpPr>
          <p:cNvPr id="26" name="Text 22"/>
          <p:cNvSpPr txBox="1"/>
          <p:nvPr/>
        </p:nvSpPr>
        <p:spPr>
          <a:xfrm>
            <a:off x="548640" y="6199632"/>
            <a:ext cx="11064240" cy="256032"/>
          </a:xfrm>
          <a:prstGeom prst="rect">
            <a:avLst/>
          </a:prstGeom>
          <a:noFill/>
          <a:ln/>
        </p:spPr>
        <p:txBody>
          <a:bodyPr wrap="square" lIns="0" tIns="0" rIns="0" bIns="0" rtlCol="0" anchor="t"/>
          <a:lstStyle/>
          <a:p>
            <a:pPr marL="0" indent="0">
              <a:buNone/>
            </a:pPr>
            <a:r>
              <a:rPr lang="en-US" sz="850" dirty="0">
                <a:solidFill>
                  <a:srgbClr val="7B7566"/>
                </a:solidFill>
                <a:latin typeface="Segoe UI" pitchFamily="34" charset="0"/>
                <a:ea typeface="Segoe UI" pitchFamily="34" charset="-122"/>
                <a:cs typeface="Segoe UI" pitchFamily="34" charset="-120"/>
              </a:rPr>
              <a:t>Source: SAYR About, methods &amp; credits (Demand forecasting); Minutes Ledger definitions and methodology.</a:t>
            </a:r>
            <a:endParaRPr lang="en-US" sz="850" dirty="0"/>
          </a:p>
        </p:txBody>
      </p:sp>
      <p:sp>
        <p:nvSpPr>
          <p:cNvPr id="4" name="Slide Number Placeholder 0"/>
          <p:cNvSpPr>
            <a:spLocks noGrp="1"/>
          </p:cNvSpPr>
          <p:nvPr>
            <p:ph type="sldNum" sz="quarter" idx="4294967295"/>
          </p:nvPr>
        </p:nvSpPr>
        <p:spPr>
          <a:xfrm>
            <a:off x="11064240" y="6492240"/>
            <a:ext cx="576072"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B7566"/>
                </a:solidFill>
                <a:latin typeface="Consolas"/>
                <a:ea typeface="Consolas"/>
                <a:cs typeface="Consolas"/>
              </a:defRPr>
            </a:lvl1pPr>
          </a:lstStyle>
          <a:p>
            <a:pPr algn="r"/>
            <a:fld id="{F7021451-1387-4CA6-816F-3879F97B5CBC}" type="slidenum">
              <a:rPr lang="en-US" b="0"/>
              <a:t>15</a:t>
            </a:fld>
            <a:endParaRPr lang="en-US"/>
          </a:p>
        </p:txBody>
      </p:sp>
    </p:spTree>
  </p:cSld>
  <p:clrMapOvr>
    <a:masterClrMapping/>
  </p:clrMapOvr>
</p:sld>
</file>

<file path=ppt/theme/theme1.xml><?xml version="1.0" encoding="utf-8"?>
<a:theme xmlns:a="http://schemas.openxmlformats.org/drawingml/2006/main" name="SAYR Care in Motion">
  <a:themeElements>
    <a:clrScheme name="SAYR Care in Motion">
      <a:dk1>
        <a:srgbClr val="15233B"/>
      </a:dk1>
      <a:lt1>
        <a:srgbClr val="FFFFFF"/>
      </a:lt1>
      <a:dk2>
        <a:srgbClr val="1B2D4D"/>
      </a:dk2>
      <a:lt2>
        <a:srgbClr val="F6F2E9"/>
      </a:lt2>
      <a:accent1>
        <a:srgbClr val="1F7B78"/>
      </a:accent1>
      <a:accent2>
        <a:srgbClr val="B4642F"/>
      </a:accent2>
      <a:accent3>
        <a:srgbClr val="2A4068"/>
      </a:accent3>
      <a:accent4>
        <a:srgbClr val="3A9B97"/>
      </a:accent4>
      <a:accent5>
        <a:srgbClr val="CF8250"/>
      </a:accent5>
      <a:accent6>
        <a:srgbClr val="7B7566"/>
      </a:accent6>
      <a:hlink>
        <a:srgbClr val="1F7B78"/>
      </a:hlink>
      <a:folHlink>
        <a:srgbClr val="7B7566"/>
      </a:folHlink>
    </a:clrScheme>
    <a:fontScheme name="SAYR Care in Motion">
      <a:majorFont>
        <a:latin typeface="Palatino Linotyp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4636</Words>
  <Application>Microsoft Office PowerPoint</Application>
  <PresentationFormat>Widescreen</PresentationFormat>
  <Paragraphs>557</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Consolas</vt:lpstr>
      <vt:lpstr>Palatino Linotype</vt:lpstr>
      <vt:lpstr>Segoe UI</vt:lpstr>
      <vt:lpstr>SAYR Care in Motion</vt:lpstr>
      <vt:lpstr>PowerPoint Presentation</vt:lpstr>
      <vt:lpstr>When one delay becomes everyone's delay</vt:lpstr>
      <vt:lpstr>What if we could test operational decisions before they affect real patients?</vt:lpstr>
      <vt:lpstr>A digital twin of the clinic</vt:lpstr>
      <vt:lpstr>The disruption experiment</vt:lpstr>
      <vt:lpstr>Ripple Trace: following the consequences</vt:lpstr>
      <vt:lpstr>Reflow Studio: from disruption to decision</vt:lpstr>
      <vt:lpstr>The human remains in control</vt:lpstr>
      <vt:lpstr>Minutes Ledger: measured, not assumed</vt:lpstr>
      <vt:lpstr>Efficiency without overlooking fairness</vt:lpstr>
      <vt:lpstr>From simulation to real healthcare research</vt:lpstr>
      <vt:lpstr>PowerPoint Presentation</vt:lpstr>
      <vt:lpstr>Appendix A · How the simulation works</vt:lpstr>
      <vt:lpstr>Appendix B · How Reflow works</vt:lpstr>
      <vt:lpstr>Appendix C · Evaluation and limitations</vt:lpstr>
    </vt:vector>
  </TitlesOfParts>
  <Company>ADNOC Schools, Madinat Zayed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SAYR AI: Care in Motion</dc:title>
  <dc:subject>Al Dhafra Health Forum, Developing Healthcare Services</dc:subject>
  <dc:creator>SAYR AI team, ADNOC Schools, Madinat Zayed</dc:creator>
  <cp:lastModifiedBy>May Ahmed Hassan Kamal Mourad</cp:lastModifiedBy>
  <cp:revision>2</cp:revision>
  <dcterms:created xsi:type="dcterms:W3CDTF">2026-10-27T12:30:04Z</dcterms:created>
  <dcterms:modified xsi:type="dcterms:W3CDTF">2026-10-27T12:30:12Z</dcterms:modified>
</cp:coreProperties>
</file>